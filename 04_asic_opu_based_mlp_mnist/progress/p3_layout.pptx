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85" r:id="rId2"/>
    <p:sldId id="278" r:id="rId3"/>
    <p:sldId id="279" r:id="rId4"/>
    <p:sldId id="276" r:id="rId5"/>
    <p:sldId id="281" r:id="rId6"/>
    <p:sldId id="280" r:id="rId7"/>
    <p:sldId id="284" r:id="rId8"/>
    <p:sldId id="282" r:id="rId9"/>
    <p:sldId id="28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7B88DB-FA9D-4CDD-BEC2-8A782A149B0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C8CE26-C1B7-4CA4-8AF3-C6E173928B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9029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6E8B9A9-B003-1E49-15E9-A5224EA88A72}"/>
              </a:ext>
            </a:extLst>
          </p:cNvPr>
          <p:cNvSpPr/>
          <p:nvPr/>
        </p:nvSpPr>
        <p:spPr>
          <a:xfrm>
            <a:off x="0" y="0"/>
            <a:ext cx="12192000" cy="4761828"/>
          </a:xfrm>
          <a:prstGeom prst="rect">
            <a:avLst/>
          </a:prstGeom>
          <a:solidFill>
            <a:srgbClr val="002060"/>
          </a:solidFill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500" y="960699"/>
            <a:ext cx="11809312" cy="2933028"/>
          </a:xfrm>
          <a:prstGeom prst="rect">
            <a:avLst/>
          </a:prstGeo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1344" y="4896091"/>
            <a:ext cx="11809312" cy="1183510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B3ABFEF-B720-94DB-0548-94ACBB7B804F}"/>
              </a:ext>
            </a:extLst>
          </p:cNvPr>
          <p:cNvSpPr/>
          <p:nvPr/>
        </p:nvSpPr>
        <p:spPr>
          <a:xfrm>
            <a:off x="0" y="0"/>
            <a:ext cx="12192000" cy="4761828"/>
          </a:xfrm>
          <a:prstGeom prst="rect">
            <a:avLst/>
          </a:prstGeom>
          <a:solidFill>
            <a:srgbClr val="002060"/>
          </a:solidFill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9D756773-9611-E030-5B51-D4FEAC722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2774" y="184924"/>
            <a:ext cx="4409440" cy="440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E982B3B9-4929-D68F-4208-3FD4CC5670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69470" y="6184850"/>
            <a:ext cx="2743200" cy="571359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</a:lstStyle>
          <a:p>
            <a:fld id="{BD5AA126-40BA-49D0-8827-5761D56CFA7B}" type="datetime1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500" y="260062"/>
            <a:ext cx="5423222" cy="41127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ctr">
              <a:defRPr sz="2000" b="1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2913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D5CB1C4-A92B-4D20-312B-C804FFB6E262}"/>
              </a:ext>
            </a:extLst>
          </p:cNvPr>
          <p:cNvSpPr/>
          <p:nvPr/>
        </p:nvSpPr>
        <p:spPr>
          <a:xfrm>
            <a:off x="0" y="0"/>
            <a:ext cx="12192000" cy="1076446"/>
          </a:xfrm>
          <a:prstGeom prst="rect">
            <a:avLst/>
          </a:prstGeom>
          <a:solidFill>
            <a:srgbClr val="002060"/>
          </a:solidFill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4FB0151-1B0B-2065-45A3-3F32E8828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6240" y="2995295"/>
            <a:ext cx="3931920" cy="3740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344" y="1193078"/>
            <a:ext cx="11809312" cy="5548289"/>
          </a:xfrm>
        </p:spPr>
        <p:txBody>
          <a:bodyPr>
            <a:normAutofit/>
          </a:bodyPr>
          <a:lstStyle>
            <a:lvl1pPr marL="358775" indent="-358775">
              <a:defRPr sz="2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625475" indent="-319088">
              <a:defRPr sz="24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890588" indent="-311150"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168400" indent="-317500">
              <a:defRPr sz="18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435100" indent="-320675">
              <a:defRPr sz="18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5E6AC7C-91E8-4496-BCEC-914588B0A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651" y="46300"/>
            <a:ext cx="1051005" cy="1030146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algn="r">
              <a:defRPr sz="32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5F679DF-794E-5AA6-536A-160FDD460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46300"/>
            <a:ext cx="10758307" cy="995423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6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399C52-4AF7-4BBF-8B83-8A3AA37A7047}" type="datetime1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3072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344" y="116633"/>
            <a:ext cx="10758307" cy="648072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A915586-6A2A-46E6-B8F7-209115F20AAB}" type="datetime1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7876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0E37F7-E66F-4E3E-9DE6-51955E550192}" type="datetime1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7596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344" y="116633"/>
            <a:ext cx="10758307" cy="648072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6C066B-637E-4711-A017-1D202516B419}" type="datetime1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622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CDBE3-6D56-4D72-B1AF-93CEBAF56DDE}" type="datetime1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4116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E4D057-593C-48C1-A839-C21915D75991}" type="datetime1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2279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CD3A080-2354-4D56-9C07-302D40ADAC1E}" type="datetime1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5072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344" y="116633"/>
            <a:ext cx="10758307" cy="648072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8AE283-B754-4183-B8F1-2D163B9FF76A}" type="datetime1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8191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B24D328-F253-4EC4-9A09-EAB03EEC784B}" type="datetime1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4829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1344" y="908720"/>
            <a:ext cx="11809312" cy="5268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635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600" b="1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>
            <a:lumMod val="25000"/>
          </a:schemeClr>
        </a:buClr>
        <a:buFont typeface="Wingdings" panose="05000000000000000000" pitchFamily="2" charset="2"/>
        <a:buChar char="p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4988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25000"/>
          </a:schemeClr>
        </a:buClr>
        <a:buFont typeface="Wingdings" panose="05000000000000000000" pitchFamily="2" charset="2"/>
        <a:buChar char="n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8038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25000"/>
          </a:schemeClr>
        </a:buClr>
        <a:buFont typeface="Wingdings" panose="05000000000000000000" pitchFamily="2" charset="2"/>
        <a:buChar char="p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795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25000"/>
          </a:schemeClr>
        </a:buClr>
        <a:buFont typeface="Wingdings" panose="05000000000000000000" pitchFamily="2" charset="2"/>
        <a:buChar char="n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43025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25000"/>
          </a:schemeClr>
        </a:buClr>
        <a:buFont typeface="Wingdings" panose="05000000000000000000" pitchFamily="2" charset="2"/>
        <a:buChar char="p"/>
        <a:tabLst>
          <a:tab pos="1343025" algn="l"/>
        </a:tabLst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4731BCDD-994D-A8B1-5901-F38F9AAED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8bit</a:t>
            </a:r>
            <a:r>
              <a:rPr kumimoji="1" lang="ja-JP" altLang="en-US" dirty="0"/>
              <a:t>だとどうしても、タイミングが収束しない（</a:t>
            </a:r>
            <a:r>
              <a:rPr kumimoji="1" lang="en-US" altLang="ja-JP" dirty="0"/>
              <a:t>layout</a:t>
            </a:r>
            <a:r>
              <a:rPr kumimoji="1" lang="ja-JP" altLang="en-US"/>
              <a:t>）</a:t>
            </a:r>
            <a:endParaRPr kumimoji="1" lang="en-US" altLang="ja-JP" dirty="0"/>
          </a:p>
          <a:p>
            <a:r>
              <a:rPr kumimoji="1" lang="ja-JP" altLang="en-US" dirty="0"/>
              <a:t>ある程度、</a:t>
            </a:r>
            <a:r>
              <a:rPr kumimoji="1" lang="en-US" altLang="ja-JP" dirty="0"/>
              <a:t>RTL</a:t>
            </a:r>
            <a:r>
              <a:rPr kumimoji="1" lang="ja-JP" altLang="en-US" dirty="0"/>
              <a:t>を書き終えた。</a:t>
            </a:r>
            <a:r>
              <a:rPr lang="ja-JP" altLang="en-US" dirty="0"/>
              <a:t>次は</a:t>
            </a:r>
            <a:r>
              <a:rPr lang="en-US" altLang="ja-JP" dirty="0"/>
              <a:t>4bit</a:t>
            </a:r>
            <a:r>
              <a:rPr lang="ja-JP" altLang="en-US" dirty="0"/>
              <a:t>版の</a:t>
            </a:r>
            <a:r>
              <a:rPr lang="en-US" altLang="ja-JP" dirty="0"/>
              <a:t>MLP</a:t>
            </a:r>
            <a:r>
              <a:rPr lang="ja-JP" altLang="en-US" dirty="0"/>
              <a:t>の再実装に移る。</a:t>
            </a:r>
            <a:endParaRPr lang="en-US" altLang="ja-JP" dirty="0"/>
          </a:p>
          <a:p>
            <a:r>
              <a:rPr kumimoji="1" lang="ja-JP" altLang="en-US" dirty="0"/>
              <a:t>デバッグ信号を確認しながら</a:t>
            </a:r>
            <a:r>
              <a:rPr lang="ja-JP" altLang="en-US" dirty="0"/>
              <a:t>終了。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0D45890-5170-B369-D6FA-0BCC6D8F6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5A854394-2C53-3B5C-896C-42BC2B6CD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日報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49159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8B9997B4-6CCD-7CED-2930-38956359B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193078"/>
            <a:ext cx="11608770" cy="5548289"/>
          </a:xfrm>
        </p:spPr>
        <p:txBody>
          <a:bodyPr>
            <a:normAutofit/>
          </a:bodyPr>
          <a:lstStyle/>
          <a:p>
            <a:r>
              <a:rPr lang="en-US" altLang="ja-JP" dirty="0"/>
              <a:t>I/O</a:t>
            </a:r>
          </a:p>
          <a:p>
            <a:pPr lvl="1"/>
            <a:r>
              <a:rPr lang="en-US" altLang="ja-JP" dirty="0"/>
              <a:t>Input: MNIST image (size=28x28, grayscale)</a:t>
            </a:r>
          </a:p>
          <a:p>
            <a:pPr lvl="1"/>
            <a:r>
              <a:rPr lang="en-US" altLang="ja-JP" dirty="0"/>
              <a:t>Output: prediction (label=[0, 1, ..., 9])</a:t>
            </a:r>
          </a:p>
          <a:p>
            <a:r>
              <a:rPr lang="en-US" altLang="ja-JP" dirty="0"/>
              <a:t>Operation sequence:</a:t>
            </a:r>
          </a:p>
          <a:p>
            <a:pPr marL="763587" lvl="1" indent="-457200">
              <a:buFont typeface="+mj-lt"/>
              <a:buAutoNum type="arabicPeriod"/>
            </a:pPr>
            <a:r>
              <a:rPr lang="en-US" altLang="ja-JP" dirty="0"/>
              <a:t>Image readout</a:t>
            </a:r>
          </a:p>
          <a:p>
            <a:pPr marL="763587" lvl="1" indent="-457200">
              <a:buFont typeface="+mj-lt"/>
              <a:buAutoNum type="arabicPeriod"/>
            </a:pPr>
            <a:r>
              <a:rPr lang="en-US" altLang="ja-JP" dirty="0"/>
              <a:t>MAC operation</a:t>
            </a:r>
          </a:p>
          <a:p>
            <a:pPr marL="763587" lvl="1" indent="-457200">
              <a:buFont typeface="+mj-lt"/>
              <a:buAutoNum type="arabicPeriod"/>
            </a:pPr>
            <a:r>
              <a:rPr lang="en-US" altLang="ja-JP" dirty="0"/>
              <a:t>Bias addition</a:t>
            </a:r>
          </a:p>
          <a:p>
            <a:pPr marL="763587" lvl="1" indent="-457200">
              <a:buFont typeface="+mj-lt"/>
              <a:buAutoNum type="arabicPeriod"/>
            </a:pPr>
            <a:r>
              <a:rPr lang="en-US" altLang="ja-JP" dirty="0"/>
              <a:t>Linear quantization</a:t>
            </a:r>
          </a:p>
          <a:p>
            <a:pPr marL="763587" lvl="1" indent="-457200">
              <a:buFont typeface="+mj-lt"/>
              <a:buAutoNum type="arabicPeriod"/>
            </a:pPr>
            <a:r>
              <a:rPr lang="en-US" altLang="ja-JP" dirty="0"/>
              <a:t>Write to intermediate register</a:t>
            </a:r>
          </a:p>
          <a:p>
            <a:pPr marL="763587" lvl="1" indent="-457200">
              <a:buFont typeface="+mj-lt"/>
              <a:buAutoNum type="arabicPeriod"/>
            </a:pPr>
            <a:r>
              <a:rPr lang="en-US" altLang="ja-JP" dirty="0"/>
              <a:t>Read intermediate register (repeat from step 2)</a:t>
            </a:r>
          </a:p>
          <a:p>
            <a:pPr marL="763587" lvl="1" indent="-457200">
              <a:buFont typeface="+mj-lt"/>
              <a:buAutoNum type="arabicPeriod"/>
            </a:pPr>
            <a:r>
              <a:rPr lang="en-US" altLang="ja-JP" dirty="0"/>
              <a:t>Argmax</a:t>
            </a:r>
          </a:p>
          <a:p>
            <a:pPr marL="763587" lvl="1" indent="-457200">
              <a:buFont typeface="+mj-lt"/>
              <a:buAutoNum type="arabicPeriod"/>
            </a:pPr>
            <a:r>
              <a:rPr lang="en-US" altLang="ja-JP" dirty="0"/>
              <a:t>Output prediction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D182574-BBD5-1DA8-16C7-548F8C184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5AF0691E-789E-A1F8-04C5-845FC4BAC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MLP</a:t>
            </a:r>
            <a:endParaRPr kumimoji="1" lang="ja-JP" altLang="en-US" dirty="0"/>
          </a:p>
        </p:txBody>
      </p:sp>
      <p:pic>
        <p:nvPicPr>
          <p:cNvPr id="6" name="図 5" descr="テキス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B60EAB0-0A28-1AF1-7690-67637FD61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9785" y="1741901"/>
            <a:ext cx="910042" cy="910042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CA7F434B-327E-DEAC-171E-CD7034DF9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0733" y="3030583"/>
            <a:ext cx="3749298" cy="357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018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83D4C46-2790-093C-E830-E305E9E86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6552451E-F17A-641D-18A2-D09AF069E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MLP Structure</a:t>
            </a:r>
            <a:endParaRPr kumimoji="1" lang="ja-JP" altLang="en-US" dirty="0"/>
          </a:p>
        </p:txBody>
      </p:sp>
      <p:pic>
        <p:nvPicPr>
          <p:cNvPr id="5" name="図 4" descr="テキス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B6F6A59-2FCC-FD50-B4B3-39F3361A2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609" y="3289828"/>
            <a:ext cx="1371791" cy="1371791"/>
          </a:xfrm>
          <a:prstGeom prst="rect">
            <a:avLst/>
          </a:prstGeom>
        </p:spPr>
      </p:pic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F67D9AB3-1875-8F26-D7C2-7E05E2B12313}"/>
              </a:ext>
            </a:extLst>
          </p:cNvPr>
          <p:cNvGrpSpPr/>
          <p:nvPr/>
        </p:nvGrpSpPr>
        <p:grpSpPr>
          <a:xfrm>
            <a:off x="4267200" y="1333500"/>
            <a:ext cx="4931610" cy="4882827"/>
            <a:chOff x="2946400" y="1498600"/>
            <a:chExt cx="4931610" cy="4882827"/>
          </a:xfrm>
        </p:grpSpPr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7FD9FCF8-BB24-E533-4294-E35E4A08F822}"/>
                </a:ext>
              </a:extLst>
            </p:cNvPr>
            <p:cNvSpPr/>
            <p:nvPr/>
          </p:nvSpPr>
          <p:spPr>
            <a:xfrm>
              <a:off x="2946400" y="1498600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3C09C923-A613-C135-9699-42B938AC53C5}"/>
                </a:ext>
              </a:extLst>
            </p:cNvPr>
            <p:cNvSpPr/>
            <p:nvPr/>
          </p:nvSpPr>
          <p:spPr>
            <a:xfrm>
              <a:off x="2946400" y="2241227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8CC181A9-A8C0-BF0A-FFAA-FB18E3E89D20}"/>
                </a:ext>
              </a:extLst>
            </p:cNvPr>
            <p:cNvSpPr/>
            <p:nvPr/>
          </p:nvSpPr>
          <p:spPr>
            <a:xfrm>
              <a:off x="2946400" y="2983854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楕円 9">
              <a:extLst>
                <a:ext uri="{FF2B5EF4-FFF2-40B4-BE49-F238E27FC236}">
                  <a16:creationId xmlns:a16="http://schemas.microsoft.com/office/drawing/2014/main" id="{A49387D1-3997-18EC-FCD7-2370E5D151B2}"/>
                </a:ext>
              </a:extLst>
            </p:cNvPr>
            <p:cNvSpPr/>
            <p:nvPr/>
          </p:nvSpPr>
          <p:spPr>
            <a:xfrm>
              <a:off x="2946400" y="5118100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楕円 10">
              <a:extLst>
                <a:ext uri="{FF2B5EF4-FFF2-40B4-BE49-F238E27FC236}">
                  <a16:creationId xmlns:a16="http://schemas.microsoft.com/office/drawing/2014/main" id="{DD10270D-07B1-ED0A-4388-A18919460FF6}"/>
                </a:ext>
              </a:extLst>
            </p:cNvPr>
            <p:cNvSpPr/>
            <p:nvPr/>
          </p:nvSpPr>
          <p:spPr>
            <a:xfrm>
              <a:off x="2946400" y="5860727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21B22931-0809-5859-3F0A-E1094E512D43}"/>
                </a:ext>
              </a:extLst>
            </p:cNvPr>
            <p:cNvSpPr/>
            <p:nvPr/>
          </p:nvSpPr>
          <p:spPr>
            <a:xfrm>
              <a:off x="4521200" y="1936104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C9D01A21-556B-7F7F-53C9-E4D3EAC03185}"/>
                </a:ext>
              </a:extLst>
            </p:cNvPr>
            <p:cNvSpPr/>
            <p:nvPr/>
          </p:nvSpPr>
          <p:spPr>
            <a:xfrm>
              <a:off x="4521200" y="2678731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A26599AD-7503-7C11-EA86-A5026138493F}"/>
                </a:ext>
              </a:extLst>
            </p:cNvPr>
            <p:cNvSpPr/>
            <p:nvPr/>
          </p:nvSpPr>
          <p:spPr>
            <a:xfrm>
              <a:off x="4521200" y="5600377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52B09AB8-55F3-8AE5-0F93-4D73BE2741C5}"/>
                </a:ext>
              </a:extLst>
            </p:cNvPr>
            <p:cNvSpPr/>
            <p:nvPr/>
          </p:nvSpPr>
          <p:spPr>
            <a:xfrm>
              <a:off x="5842000" y="3012476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楕円 15">
              <a:extLst>
                <a:ext uri="{FF2B5EF4-FFF2-40B4-BE49-F238E27FC236}">
                  <a16:creationId xmlns:a16="http://schemas.microsoft.com/office/drawing/2014/main" id="{E4C754DE-8732-C955-59B1-58820C098A00}"/>
                </a:ext>
              </a:extLst>
            </p:cNvPr>
            <p:cNvSpPr/>
            <p:nvPr/>
          </p:nvSpPr>
          <p:spPr>
            <a:xfrm>
              <a:off x="5842000" y="2314527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楕円 16">
              <a:extLst>
                <a:ext uri="{FF2B5EF4-FFF2-40B4-BE49-F238E27FC236}">
                  <a16:creationId xmlns:a16="http://schemas.microsoft.com/office/drawing/2014/main" id="{9C76F9F3-E5C2-B298-FA67-88157FDD09D3}"/>
                </a:ext>
              </a:extLst>
            </p:cNvPr>
            <p:cNvSpPr/>
            <p:nvPr/>
          </p:nvSpPr>
          <p:spPr>
            <a:xfrm>
              <a:off x="5842000" y="5118100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楕円 17">
              <a:extLst>
                <a:ext uri="{FF2B5EF4-FFF2-40B4-BE49-F238E27FC236}">
                  <a16:creationId xmlns:a16="http://schemas.microsoft.com/office/drawing/2014/main" id="{7F891DEC-63D5-4001-B245-B3D9E59F5363}"/>
                </a:ext>
              </a:extLst>
            </p:cNvPr>
            <p:cNvSpPr/>
            <p:nvPr/>
          </p:nvSpPr>
          <p:spPr>
            <a:xfrm>
              <a:off x="7124702" y="3376680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楕円 18">
              <a:extLst>
                <a:ext uri="{FF2B5EF4-FFF2-40B4-BE49-F238E27FC236}">
                  <a16:creationId xmlns:a16="http://schemas.microsoft.com/office/drawing/2014/main" id="{E41B4BE5-67EF-26F8-3168-E3A1DF265C97}"/>
                </a:ext>
              </a:extLst>
            </p:cNvPr>
            <p:cNvSpPr/>
            <p:nvPr/>
          </p:nvSpPr>
          <p:spPr>
            <a:xfrm>
              <a:off x="7124702" y="2678731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楕円 19">
              <a:extLst>
                <a:ext uri="{FF2B5EF4-FFF2-40B4-BE49-F238E27FC236}">
                  <a16:creationId xmlns:a16="http://schemas.microsoft.com/office/drawing/2014/main" id="{FF36AB30-7945-0EA4-7C24-81B677FF4D1F}"/>
                </a:ext>
              </a:extLst>
            </p:cNvPr>
            <p:cNvSpPr/>
            <p:nvPr/>
          </p:nvSpPr>
          <p:spPr>
            <a:xfrm>
              <a:off x="7124702" y="4787445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4908692B-0026-191D-DED8-AE2A00A327F5}"/>
                </a:ext>
              </a:extLst>
            </p:cNvPr>
            <p:cNvSpPr txBox="1"/>
            <p:nvPr/>
          </p:nvSpPr>
          <p:spPr>
            <a:xfrm>
              <a:off x="2988846" y="4045744"/>
              <a:ext cx="677108" cy="101687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3200" dirty="0"/>
                <a:t>......</a:t>
              </a:r>
              <a:endParaRPr kumimoji="1" lang="ja-JP" altLang="en-US" sz="3200" dirty="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95215EF1-62E6-D203-3B03-780B1973D52D}"/>
                </a:ext>
              </a:extLst>
            </p:cNvPr>
            <p:cNvSpPr txBox="1"/>
            <p:nvPr/>
          </p:nvSpPr>
          <p:spPr>
            <a:xfrm>
              <a:off x="4576686" y="4045744"/>
              <a:ext cx="677108" cy="101687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3200" dirty="0"/>
                <a:t>......</a:t>
              </a:r>
              <a:endParaRPr kumimoji="1" lang="ja-JP" altLang="en-US" sz="3200" dirty="0"/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8E571F59-4894-CDEE-B538-18AEC6A7E404}"/>
                </a:ext>
              </a:extLst>
            </p:cNvPr>
            <p:cNvSpPr txBox="1"/>
            <p:nvPr/>
          </p:nvSpPr>
          <p:spPr>
            <a:xfrm>
              <a:off x="5880100" y="4045744"/>
              <a:ext cx="677108" cy="101687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3200" dirty="0"/>
                <a:t>......</a:t>
              </a:r>
              <a:endParaRPr kumimoji="1" lang="ja-JP" altLang="en-US" sz="3200" dirty="0"/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49B2E571-A746-8FD5-84FF-9A63AD4EF684}"/>
                </a:ext>
              </a:extLst>
            </p:cNvPr>
            <p:cNvSpPr txBox="1"/>
            <p:nvPr/>
          </p:nvSpPr>
          <p:spPr>
            <a:xfrm>
              <a:off x="7200902" y="4045744"/>
              <a:ext cx="677108" cy="101687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3200" dirty="0"/>
                <a:t>......</a:t>
              </a:r>
              <a:endParaRPr kumimoji="1" lang="ja-JP" altLang="en-US" sz="3200" dirty="0"/>
            </a:p>
          </p:txBody>
        </p: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EFB0CF84-D642-777C-89E9-CC4108CA5B6B}"/>
                </a:ext>
              </a:extLst>
            </p:cNvPr>
            <p:cNvCxnSpPr>
              <a:stCxn id="7" idx="6"/>
              <a:endCxn id="12" idx="2"/>
            </p:cNvCxnSpPr>
            <p:nvPr/>
          </p:nvCxnSpPr>
          <p:spPr>
            <a:xfrm>
              <a:off x="3454400" y="1758950"/>
              <a:ext cx="1066800" cy="437504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コネクタ 25">
              <a:extLst>
                <a:ext uri="{FF2B5EF4-FFF2-40B4-BE49-F238E27FC236}">
                  <a16:creationId xmlns:a16="http://schemas.microsoft.com/office/drawing/2014/main" id="{539451C0-A718-F106-6A3A-C22B684BD37A}"/>
                </a:ext>
              </a:extLst>
            </p:cNvPr>
            <p:cNvCxnSpPr>
              <a:cxnSpLocks/>
              <a:stCxn id="8" idx="6"/>
              <a:endCxn id="12" idx="2"/>
            </p:cNvCxnSpPr>
            <p:nvPr/>
          </p:nvCxnSpPr>
          <p:spPr>
            <a:xfrm flipV="1">
              <a:off x="3454400" y="2196454"/>
              <a:ext cx="1066800" cy="305123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コネクタ 26">
              <a:extLst>
                <a:ext uri="{FF2B5EF4-FFF2-40B4-BE49-F238E27FC236}">
                  <a16:creationId xmlns:a16="http://schemas.microsoft.com/office/drawing/2014/main" id="{B37CBBD9-D4C7-4E87-DF85-CC00940A67F4}"/>
                </a:ext>
              </a:extLst>
            </p:cNvPr>
            <p:cNvCxnSpPr>
              <a:cxnSpLocks/>
              <a:stCxn id="9" idx="6"/>
              <a:endCxn id="12" idx="2"/>
            </p:cNvCxnSpPr>
            <p:nvPr/>
          </p:nvCxnSpPr>
          <p:spPr>
            <a:xfrm flipV="1">
              <a:off x="3454400" y="2196454"/>
              <a:ext cx="1066800" cy="10477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コネクタ 27">
              <a:extLst>
                <a:ext uri="{FF2B5EF4-FFF2-40B4-BE49-F238E27FC236}">
                  <a16:creationId xmlns:a16="http://schemas.microsoft.com/office/drawing/2014/main" id="{4B4B907D-9F6D-5843-2036-954071BCD7CF}"/>
                </a:ext>
              </a:extLst>
            </p:cNvPr>
            <p:cNvCxnSpPr>
              <a:cxnSpLocks/>
              <a:stCxn id="10" idx="6"/>
              <a:endCxn id="12" idx="2"/>
            </p:cNvCxnSpPr>
            <p:nvPr/>
          </p:nvCxnSpPr>
          <p:spPr>
            <a:xfrm flipV="1">
              <a:off x="3454400" y="2196454"/>
              <a:ext cx="1066800" cy="3181996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コネクタ 28">
              <a:extLst>
                <a:ext uri="{FF2B5EF4-FFF2-40B4-BE49-F238E27FC236}">
                  <a16:creationId xmlns:a16="http://schemas.microsoft.com/office/drawing/2014/main" id="{8B277DF4-C7C0-5CBD-757C-07FE3D1E203A}"/>
                </a:ext>
              </a:extLst>
            </p:cNvPr>
            <p:cNvCxnSpPr>
              <a:cxnSpLocks/>
              <a:stCxn id="11" idx="6"/>
              <a:endCxn id="12" idx="2"/>
            </p:cNvCxnSpPr>
            <p:nvPr/>
          </p:nvCxnSpPr>
          <p:spPr>
            <a:xfrm flipV="1">
              <a:off x="3454400" y="2196454"/>
              <a:ext cx="1066800" cy="3924623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コネクタ 29">
              <a:extLst>
                <a:ext uri="{FF2B5EF4-FFF2-40B4-BE49-F238E27FC236}">
                  <a16:creationId xmlns:a16="http://schemas.microsoft.com/office/drawing/2014/main" id="{919DBE18-4579-30FF-1680-27E253AE66F7}"/>
                </a:ext>
              </a:extLst>
            </p:cNvPr>
            <p:cNvCxnSpPr>
              <a:cxnSpLocks/>
              <a:stCxn id="7" idx="6"/>
              <a:endCxn id="13" idx="2"/>
            </p:cNvCxnSpPr>
            <p:nvPr/>
          </p:nvCxnSpPr>
          <p:spPr>
            <a:xfrm>
              <a:off x="3454400" y="1758950"/>
              <a:ext cx="1066800" cy="1180131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コネクタ 30">
              <a:extLst>
                <a:ext uri="{FF2B5EF4-FFF2-40B4-BE49-F238E27FC236}">
                  <a16:creationId xmlns:a16="http://schemas.microsoft.com/office/drawing/2014/main" id="{FAC3C998-5A06-F7D4-328D-39F6DAC9DECA}"/>
                </a:ext>
              </a:extLst>
            </p:cNvPr>
            <p:cNvCxnSpPr>
              <a:cxnSpLocks/>
              <a:stCxn id="8" idx="6"/>
              <a:endCxn id="13" idx="2"/>
            </p:cNvCxnSpPr>
            <p:nvPr/>
          </p:nvCxnSpPr>
          <p:spPr>
            <a:xfrm>
              <a:off x="3454400" y="2501577"/>
              <a:ext cx="1066800" cy="437504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コネクタ 31">
              <a:extLst>
                <a:ext uri="{FF2B5EF4-FFF2-40B4-BE49-F238E27FC236}">
                  <a16:creationId xmlns:a16="http://schemas.microsoft.com/office/drawing/2014/main" id="{B393570F-9018-9D77-7C82-56F0CF872389}"/>
                </a:ext>
              </a:extLst>
            </p:cNvPr>
            <p:cNvCxnSpPr>
              <a:cxnSpLocks/>
              <a:stCxn id="9" idx="6"/>
              <a:endCxn id="13" idx="2"/>
            </p:cNvCxnSpPr>
            <p:nvPr/>
          </p:nvCxnSpPr>
          <p:spPr>
            <a:xfrm flipV="1">
              <a:off x="3454400" y="2939081"/>
              <a:ext cx="1066800" cy="305123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コネクタ 32">
              <a:extLst>
                <a:ext uri="{FF2B5EF4-FFF2-40B4-BE49-F238E27FC236}">
                  <a16:creationId xmlns:a16="http://schemas.microsoft.com/office/drawing/2014/main" id="{7D5A9E27-D208-D4EF-593C-9EE9A97E59E4}"/>
                </a:ext>
              </a:extLst>
            </p:cNvPr>
            <p:cNvCxnSpPr>
              <a:cxnSpLocks/>
              <a:stCxn id="9" idx="6"/>
              <a:endCxn id="14" idx="2"/>
            </p:cNvCxnSpPr>
            <p:nvPr/>
          </p:nvCxnSpPr>
          <p:spPr>
            <a:xfrm>
              <a:off x="3454400" y="3244204"/>
              <a:ext cx="1066800" cy="2616523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コネクタ 33">
              <a:extLst>
                <a:ext uri="{FF2B5EF4-FFF2-40B4-BE49-F238E27FC236}">
                  <a16:creationId xmlns:a16="http://schemas.microsoft.com/office/drawing/2014/main" id="{DDA7E860-0C82-9BE6-51FA-99CB0881145A}"/>
                </a:ext>
              </a:extLst>
            </p:cNvPr>
            <p:cNvCxnSpPr>
              <a:cxnSpLocks/>
              <a:stCxn id="8" idx="6"/>
              <a:endCxn id="14" idx="2"/>
            </p:cNvCxnSpPr>
            <p:nvPr/>
          </p:nvCxnSpPr>
          <p:spPr>
            <a:xfrm>
              <a:off x="3454400" y="2501577"/>
              <a:ext cx="1066800" cy="3359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コネクタ 34">
              <a:extLst>
                <a:ext uri="{FF2B5EF4-FFF2-40B4-BE49-F238E27FC236}">
                  <a16:creationId xmlns:a16="http://schemas.microsoft.com/office/drawing/2014/main" id="{A0A05EE3-C1F6-3C9E-0B25-CE7DEB4C3539}"/>
                </a:ext>
              </a:extLst>
            </p:cNvPr>
            <p:cNvCxnSpPr>
              <a:cxnSpLocks/>
              <a:stCxn id="7" idx="6"/>
              <a:endCxn id="14" idx="2"/>
            </p:cNvCxnSpPr>
            <p:nvPr/>
          </p:nvCxnSpPr>
          <p:spPr>
            <a:xfrm>
              <a:off x="3454400" y="1758950"/>
              <a:ext cx="1066800" cy="4101777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C5035D10-F284-D4EF-9C50-ED8CA80D2E57}"/>
                </a:ext>
              </a:extLst>
            </p:cNvPr>
            <p:cNvCxnSpPr>
              <a:cxnSpLocks/>
              <a:stCxn id="10" idx="6"/>
              <a:endCxn id="14" idx="2"/>
            </p:cNvCxnSpPr>
            <p:nvPr/>
          </p:nvCxnSpPr>
          <p:spPr>
            <a:xfrm>
              <a:off x="3454400" y="5378450"/>
              <a:ext cx="1066800" cy="482277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コネクタ 36">
              <a:extLst>
                <a:ext uri="{FF2B5EF4-FFF2-40B4-BE49-F238E27FC236}">
                  <a16:creationId xmlns:a16="http://schemas.microsoft.com/office/drawing/2014/main" id="{0D60B23A-713E-3C10-E8AD-5CF3106B02B6}"/>
                </a:ext>
              </a:extLst>
            </p:cNvPr>
            <p:cNvCxnSpPr>
              <a:cxnSpLocks/>
              <a:stCxn id="11" idx="6"/>
              <a:endCxn id="14" idx="2"/>
            </p:cNvCxnSpPr>
            <p:nvPr/>
          </p:nvCxnSpPr>
          <p:spPr>
            <a:xfrm flipV="1">
              <a:off x="3454400" y="5860727"/>
              <a:ext cx="1066800" cy="2603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コネクタ 37">
              <a:extLst>
                <a:ext uri="{FF2B5EF4-FFF2-40B4-BE49-F238E27FC236}">
                  <a16:creationId xmlns:a16="http://schemas.microsoft.com/office/drawing/2014/main" id="{BB1752D2-066A-12C9-936B-3E64CC7EFD22}"/>
                </a:ext>
              </a:extLst>
            </p:cNvPr>
            <p:cNvCxnSpPr>
              <a:cxnSpLocks/>
              <a:stCxn id="14" idx="6"/>
              <a:endCxn id="17" idx="2"/>
            </p:cNvCxnSpPr>
            <p:nvPr/>
          </p:nvCxnSpPr>
          <p:spPr>
            <a:xfrm flipV="1">
              <a:off x="5029200" y="5378450"/>
              <a:ext cx="812800" cy="482277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9DE5B3FE-0724-AC69-8F17-26FFBE6AF598}"/>
                </a:ext>
              </a:extLst>
            </p:cNvPr>
            <p:cNvCxnSpPr>
              <a:cxnSpLocks/>
              <a:stCxn id="14" idx="6"/>
              <a:endCxn id="15" idx="2"/>
            </p:cNvCxnSpPr>
            <p:nvPr/>
          </p:nvCxnSpPr>
          <p:spPr>
            <a:xfrm flipV="1">
              <a:off x="5029200" y="3272826"/>
              <a:ext cx="812800" cy="2587901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コネクタ 39">
              <a:extLst>
                <a:ext uri="{FF2B5EF4-FFF2-40B4-BE49-F238E27FC236}">
                  <a16:creationId xmlns:a16="http://schemas.microsoft.com/office/drawing/2014/main" id="{7E76F225-D979-994E-C8CD-C4209F9BD582}"/>
                </a:ext>
              </a:extLst>
            </p:cNvPr>
            <p:cNvCxnSpPr>
              <a:cxnSpLocks/>
              <a:stCxn id="14" idx="6"/>
              <a:endCxn id="16" idx="2"/>
            </p:cNvCxnSpPr>
            <p:nvPr/>
          </p:nvCxnSpPr>
          <p:spPr>
            <a:xfrm flipV="1">
              <a:off x="5029200" y="2574877"/>
              <a:ext cx="812800" cy="32858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コネクタ 40">
              <a:extLst>
                <a:ext uri="{FF2B5EF4-FFF2-40B4-BE49-F238E27FC236}">
                  <a16:creationId xmlns:a16="http://schemas.microsoft.com/office/drawing/2014/main" id="{B7C2931F-D252-97CB-4519-ACEB7CD84A73}"/>
                </a:ext>
              </a:extLst>
            </p:cNvPr>
            <p:cNvCxnSpPr>
              <a:cxnSpLocks/>
              <a:stCxn id="16" idx="2"/>
              <a:endCxn id="12" idx="6"/>
            </p:cNvCxnSpPr>
            <p:nvPr/>
          </p:nvCxnSpPr>
          <p:spPr>
            <a:xfrm flipH="1" flipV="1">
              <a:off x="5029200" y="2196454"/>
              <a:ext cx="812800" cy="378423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96551E25-5D48-E7AB-EAD3-3CA7B7F253BF}"/>
                </a:ext>
              </a:extLst>
            </p:cNvPr>
            <p:cNvCxnSpPr>
              <a:cxnSpLocks/>
              <a:stCxn id="15" idx="2"/>
              <a:endCxn id="12" idx="6"/>
            </p:cNvCxnSpPr>
            <p:nvPr/>
          </p:nvCxnSpPr>
          <p:spPr>
            <a:xfrm flipH="1" flipV="1">
              <a:off x="5029200" y="2196454"/>
              <a:ext cx="812800" cy="1076372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コネクタ 42">
              <a:extLst>
                <a:ext uri="{FF2B5EF4-FFF2-40B4-BE49-F238E27FC236}">
                  <a16:creationId xmlns:a16="http://schemas.microsoft.com/office/drawing/2014/main" id="{33CB5E30-3FD1-3EE7-69E4-1A51B0D13EC2}"/>
                </a:ext>
              </a:extLst>
            </p:cNvPr>
            <p:cNvCxnSpPr>
              <a:cxnSpLocks/>
              <a:stCxn id="15" idx="2"/>
              <a:endCxn id="13" idx="6"/>
            </p:cNvCxnSpPr>
            <p:nvPr/>
          </p:nvCxnSpPr>
          <p:spPr>
            <a:xfrm flipH="1" flipV="1">
              <a:off x="5029200" y="2939081"/>
              <a:ext cx="812800" cy="333745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コネクタ 43">
              <a:extLst>
                <a:ext uri="{FF2B5EF4-FFF2-40B4-BE49-F238E27FC236}">
                  <a16:creationId xmlns:a16="http://schemas.microsoft.com/office/drawing/2014/main" id="{28BCF85B-6FBC-0134-E05B-A0370C9F6CE8}"/>
                </a:ext>
              </a:extLst>
            </p:cNvPr>
            <p:cNvCxnSpPr>
              <a:cxnSpLocks/>
              <a:stCxn id="17" idx="2"/>
              <a:endCxn id="13" idx="6"/>
            </p:cNvCxnSpPr>
            <p:nvPr/>
          </p:nvCxnSpPr>
          <p:spPr>
            <a:xfrm flipH="1" flipV="1">
              <a:off x="5029200" y="2939081"/>
              <a:ext cx="812800" cy="2439369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コネクタ 44">
              <a:extLst>
                <a:ext uri="{FF2B5EF4-FFF2-40B4-BE49-F238E27FC236}">
                  <a16:creationId xmlns:a16="http://schemas.microsoft.com/office/drawing/2014/main" id="{B1E3A73F-4089-B804-CFEE-74480F6D5451}"/>
                </a:ext>
              </a:extLst>
            </p:cNvPr>
            <p:cNvCxnSpPr>
              <a:cxnSpLocks/>
              <a:stCxn id="16" idx="2"/>
              <a:endCxn id="13" idx="6"/>
            </p:cNvCxnSpPr>
            <p:nvPr/>
          </p:nvCxnSpPr>
          <p:spPr>
            <a:xfrm flipH="1">
              <a:off x="5029200" y="2574877"/>
              <a:ext cx="812800" cy="364204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コネクタ 45">
              <a:extLst>
                <a:ext uri="{FF2B5EF4-FFF2-40B4-BE49-F238E27FC236}">
                  <a16:creationId xmlns:a16="http://schemas.microsoft.com/office/drawing/2014/main" id="{E476E297-4522-058E-DF55-3CC00C126D38}"/>
                </a:ext>
              </a:extLst>
            </p:cNvPr>
            <p:cNvCxnSpPr>
              <a:cxnSpLocks/>
              <a:stCxn id="19" idx="2"/>
              <a:endCxn id="16" idx="6"/>
            </p:cNvCxnSpPr>
            <p:nvPr/>
          </p:nvCxnSpPr>
          <p:spPr>
            <a:xfrm flipH="1" flipV="1">
              <a:off x="6350000" y="2574877"/>
              <a:ext cx="774702" cy="364204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FA0D62D6-37E7-48D7-9C0A-3B28B66BEB35}"/>
                </a:ext>
              </a:extLst>
            </p:cNvPr>
            <p:cNvCxnSpPr>
              <a:cxnSpLocks/>
              <a:stCxn id="18" idx="2"/>
              <a:endCxn id="16" idx="6"/>
            </p:cNvCxnSpPr>
            <p:nvPr/>
          </p:nvCxnSpPr>
          <p:spPr>
            <a:xfrm flipH="1" flipV="1">
              <a:off x="6350000" y="2574877"/>
              <a:ext cx="774702" cy="1062153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コネクタ 47">
              <a:extLst>
                <a:ext uri="{FF2B5EF4-FFF2-40B4-BE49-F238E27FC236}">
                  <a16:creationId xmlns:a16="http://schemas.microsoft.com/office/drawing/2014/main" id="{FF8F15CF-7F3E-EFF0-AE55-E702F4E3191F}"/>
                </a:ext>
              </a:extLst>
            </p:cNvPr>
            <p:cNvCxnSpPr>
              <a:cxnSpLocks/>
              <a:stCxn id="20" idx="2"/>
              <a:endCxn id="16" idx="6"/>
            </p:cNvCxnSpPr>
            <p:nvPr/>
          </p:nvCxnSpPr>
          <p:spPr>
            <a:xfrm flipH="1" flipV="1">
              <a:off x="6350000" y="2574877"/>
              <a:ext cx="774702" cy="2472918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D7AF1734-2E0A-4DE7-EFD7-F8F07562EFC8}"/>
                </a:ext>
              </a:extLst>
            </p:cNvPr>
            <p:cNvCxnSpPr>
              <a:cxnSpLocks/>
              <a:stCxn id="18" idx="2"/>
              <a:endCxn id="15" idx="6"/>
            </p:cNvCxnSpPr>
            <p:nvPr/>
          </p:nvCxnSpPr>
          <p:spPr>
            <a:xfrm flipH="1" flipV="1">
              <a:off x="6350000" y="3272826"/>
              <a:ext cx="774702" cy="364204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コネクタ 49">
              <a:extLst>
                <a:ext uri="{FF2B5EF4-FFF2-40B4-BE49-F238E27FC236}">
                  <a16:creationId xmlns:a16="http://schemas.microsoft.com/office/drawing/2014/main" id="{607C30B3-C59F-1CA2-D815-CDE3CF0E925C}"/>
                </a:ext>
              </a:extLst>
            </p:cNvPr>
            <p:cNvCxnSpPr>
              <a:cxnSpLocks/>
              <a:stCxn id="19" idx="2"/>
              <a:endCxn id="15" idx="6"/>
            </p:cNvCxnSpPr>
            <p:nvPr/>
          </p:nvCxnSpPr>
          <p:spPr>
            <a:xfrm flipH="1">
              <a:off x="6350000" y="2939081"/>
              <a:ext cx="774702" cy="333745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AF9A567F-D127-0C02-29E9-83B4E1DF3872}"/>
                </a:ext>
              </a:extLst>
            </p:cNvPr>
            <p:cNvCxnSpPr>
              <a:cxnSpLocks/>
              <a:endCxn id="15" idx="6"/>
            </p:cNvCxnSpPr>
            <p:nvPr/>
          </p:nvCxnSpPr>
          <p:spPr>
            <a:xfrm flipH="1" flipV="1">
              <a:off x="6350000" y="3272826"/>
              <a:ext cx="774702" cy="1845274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コネクタ 51">
              <a:extLst>
                <a:ext uri="{FF2B5EF4-FFF2-40B4-BE49-F238E27FC236}">
                  <a16:creationId xmlns:a16="http://schemas.microsoft.com/office/drawing/2014/main" id="{DC92B4E6-07F0-A1DE-9F45-CB72564F21F0}"/>
                </a:ext>
              </a:extLst>
            </p:cNvPr>
            <p:cNvCxnSpPr>
              <a:cxnSpLocks/>
              <a:stCxn id="20" idx="2"/>
              <a:endCxn id="17" idx="6"/>
            </p:cNvCxnSpPr>
            <p:nvPr/>
          </p:nvCxnSpPr>
          <p:spPr>
            <a:xfrm flipH="1">
              <a:off x="6350000" y="5047795"/>
              <a:ext cx="774702" cy="330655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コネクタ 52">
              <a:extLst>
                <a:ext uri="{FF2B5EF4-FFF2-40B4-BE49-F238E27FC236}">
                  <a16:creationId xmlns:a16="http://schemas.microsoft.com/office/drawing/2014/main" id="{8B27BC72-755B-A1E8-0780-39A2BD15DB24}"/>
                </a:ext>
              </a:extLst>
            </p:cNvPr>
            <p:cNvCxnSpPr>
              <a:cxnSpLocks/>
              <a:stCxn id="18" idx="2"/>
              <a:endCxn id="17" idx="6"/>
            </p:cNvCxnSpPr>
            <p:nvPr/>
          </p:nvCxnSpPr>
          <p:spPr>
            <a:xfrm flipH="1">
              <a:off x="6350000" y="3637030"/>
              <a:ext cx="774702" cy="174142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コネクタ 53">
              <a:extLst>
                <a:ext uri="{FF2B5EF4-FFF2-40B4-BE49-F238E27FC236}">
                  <a16:creationId xmlns:a16="http://schemas.microsoft.com/office/drawing/2014/main" id="{3F5608CC-B497-ADB4-7F3C-3136A3E78588}"/>
                </a:ext>
              </a:extLst>
            </p:cNvPr>
            <p:cNvCxnSpPr>
              <a:cxnSpLocks/>
              <a:stCxn id="19" idx="2"/>
              <a:endCxn id="17" idx="6"/>
            </p:cNvCxnSpPr>
            <p:nvPr/>
          </p:nvCxnSpPr>
          <p:spPr>
            <a:xfrm flipH="1">
              <a:off x="6350000" y="2939081"/>
              <a:ext cx="774702" cy="2439369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29BF0568-759A-FBC2-65F6-EB3F0F28BF75}"/>
              </a:ext>
            </a:extLst>
          </p:cNvPr>
          <p:cNvSpPr txBox="1"/>
          <p:nvPr/>
        </p:nvSpPr>
        <p:spPr>
          <a:xfrm>
            <a:off x="9198810" y="2511111"/>
            <a:ext cx="5293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0</a:t>
            </a:r>
            <a:endParaRPr kumimoji="1" lang="ja-JP" altLang="en-US" sz="2800" dirty="0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103EF89D-E536-F68D-9775-030EC1B60666}"/>
              </a:ext>
            </a:extLst>
          </p:cNvPr>
          <p:cNvSpPr txBox="1"/>
          <p:nvPr/>
        </p:nvSpPr>
        <p:spPr>
          <a:xfrm>
            <a:off x="9220204" y="3239832"/>
            <a:ext cx="5293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1</a:t>
            </a:r>
            <a:endParaRPr kumimoji="1" lang="ja-JP" altLang="en-US" sz="2800" dirty="0"/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23F89DE3-B966-D140-9C29-9F35A03E51C8}"/>
              </a:ext>
            </a:extLst>
          </p:cNvPr>
          <p:cNvSpPr txBox="1"/>
          <p:nvPr/>
        </p:nvSpPr>
        <p:spPr>
          <a:xfrm>
            <a:off x="9220204" y="4655882"/>
            <a:ext cx="5293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9</a:t>
            </a:r>
            <a:endParaRPr kumimoji="1" lang="ja-JP" altLang="en-US" sz="2800" dirty="0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A11062AA-E493-2C37-3074-89753A3515EA}"/>
              </a:ext>
            </a:extLst>
          </p:cNvPr>
          <p:cNvSpPr txBox="1"/>
          <p:nvPr/>
        </p:nvSpPr>
        <p:spPr>
          <a:xfrm>
            <a:off x="4068008" y="6323454"/>
            <a:ext cx="977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L1(196)</a:t>
            </a:r>
            <a:endParaRPr kumimoji="1" lang="ja-JP" altLang="en-US" dirty="0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BA98B532-F5EC-11B3-70F2-18832F7A6D11}"/>
              </a:ext>
            </a:extLst>
          </p:cNvPr>
          <p:cNvSpPr txBox="1"/>
          <p:nvPr/>
        </p:nvSpPr>
        <p:spPr>
          <a:xfrm>
            <a:off x="5778500" y="6323454"/>
            <a:ext cx="81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L2(32)</a:t>
            </a:r>
            <a:endParaRPr kumimoji="1" lang="ja-JP" altLang="en-US" dirty="0"/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45B79FCB-B1F9-7A84-FF15-20E3E176307D}"/>
              </a:ext>
            </a:extLst>
          </p:cNvPr>
          <p:cNvSpPr txBox="1"/>
          <p:nvPr/>
        </p:nvSpPr>
        <p:spPr>
          <a:xfrm>
            <a:off x="7133054" y="6323454"/>
            <a:ext cx="81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L3(16)</a:t>
            </a:r>
            <a:endParaRPr kumimoji="1" lang="ja-JP" altLang="en-US" dirty="0"/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A9D0FDB8-C3DA-846E-9E59-1F83D811D354}"/>
              </a:ext>
            </a:extLst>
          </p:cNvPr>
          <p:cNvSpPr txBox="1"/>
          <p:nvPr/>
        </p:nvSpPr>
        <p:spPr>
          <a:xfrm>
            <a:off x="8521702" y="6323454"/>
            <a:ext cx="81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L4(10)</a:t>
            </a:r>
            <a:endParaRPr kumimoji="1" lang="ja-JP" altLang="en-US" dirty="0"/>
          </a:p>
        </p:txBody>
      </p: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57118794-AAD5-F6BA-1DF1-EB8CCA0D0939}"/>
              </a:ext>
            </a:extLst>
          </p:cNvPr>
          <p:cNvCxnSpPr>
            <a:cxnSpLocks/>
            <a:stCxn id="10" idx="6"/>
            <a:endCxn id="13" idx="2"/>
          </p:cNvCxnSpPr>
          <p:nvPr/>
        </p:nvCxnSpPr>
        <p:spPr>
          <a:xfrm flipV="1">
            <a:off x="4775200" y="2773981"/>
            <a:ext cx="1066800" cy="2439369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B84455F1-0852-4355-BD69-4B90A7A6F036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 flipV="1">
            <a:off x="4775200" y="2773981"/>
            <a:ext cx="1066800" cy="318199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4354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4965116-CDBF-232B-522D-AB95EBFED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76D13446-BC7D-4B8B-8F1D-246210618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Target Clock Frequency: 133MHz</a:t>
            </a:r>
            <a:endParaRPr kumimoji="1" lang="ja-JP" altLang="en-US" dirty="0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2EE440D8-4B07-637D-2EBA-D7AF2D5C2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CPU:</a:t>
            </a:r>
          </a:p>
          <a:p>
            <a:pPr lvl="1"/>
            <a:r>
              <a:rPr lang="en-US" altLang="ja-JP" dirty="0"/>
              <a:t>Version: 13th Gen Intel(R) Core(TM) i7-13700KF (3.40 GHz)</a:t>
            </a:r>
          </a:p>
          <a:p>
            <a:pPr lvl="1"/>
            <a:r>
              <a:rPr lang="en-US" altLang="ja-JP" dirty="0"/>
              <a:t>CMD: </a:t>
            </a:r>
            <a:r>
              <a:rPr lang="en-US" altLang="ja-JP" dirty="0" err="1"/>
              <a:t>gcc</a:t>
            </a:r>
            <a:r>
              <a:rPr lang="en-US" altLang="ja-JP" dirty="0"/>
              <a:t> -O3</a:t>
            </a:r>
          </a:p>
          <a:p>
            <a:pPr lvl="1"/>
            <a:r>
              <a:rPr lang="en-US" altLang="ja-JP" dirty="0"/>
              <a:t>Execution Time: 14.922us</a:t>
            </a:r>
          </a:p>
          <a:p>
            <a:r>
              <a:rPr lang="en-US" altLang="ja-JP" dirty="0"/>
              <a:t>ASIC:</a:t>
            </a:r>
          </a:p>
          <a:p>
            <a:pPr lvl="1"/>
            <a:r>
              <a:rPr lang="en-US" altLang="ja-JP" dirty="0"/>
              <a:t>#Cycles: 1695 cycles</a:t>
            </a:r>
          </a:p>
          <a:p>
            <a:pPr lvl="1"/>
            <a:r>
              <a:rPr lang="en-US" altLang="ja-JP" dirty="0"/>
              <a:t>Clock Period: 7.5ns</a:t>
            </a:r>
          </a:p>
          <a:p>
            <a:pPr lvl="1"/>
            <a:r>
              <a:rPr lang="en-US" altLang="ja-JP" dirty="0"/>
              <a:t>Execution time: 7.5 * 1695 = 12.713us (estimate)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46215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363571-FFCB-F51D-0363-39B8466824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/>
              <a:t>MNIST</a:t>
            </a:r>
            <a:r>
              <a:rPr lang="ja-JP" altLang="en-US" dirty="0"/>
              <a:t>推論アクセラレータ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DAA1DC3-94C2-6D8E-32CE-A062E8E182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m5291005 Kyoji </a:t>
            </a:r>
            <a:r>
              <a:rPr kumimoji="1" lang="en-US" altLang="ja-JP" dirty="0" err="1"/>
              <a:t>Awaki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4669B5-3035-5EBF-136D-558ABBD3E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AA126-40BA-49D0-8827-5761D56CFA7B}" type="datetime1">
              <a:rPr kumimoji="1" lang="ja-JP" altLang="en-US" smtClean="0"/>
              <a:t>2026/1/15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0140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A38FD028-48DA-3994-3B5B-BB32CB58C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b="1" dirty="0"/>
              <a:t>目的</a:t>
            </a:r>
            <a:r>
              <a:rPr lang="en-US" altLang="ja-JP" b="1" dirty="0"/>
              <a:t>:</a:t>
            </a:r>
            <a:r>
              <a:rPr lang="ja-JP" altLang="en-US" dirty="0"/>
              <a:t> </a:t>
            </a:r>
            <a:endParaRPr lang="en-US" altLang="ja-JP" dirty="0"/>
          </a:p>
          <a:p>
            <a:pPr lvl="1"/>
            <a:r>
              <a:rPr lang="ja-JP" altLang="en-US" dirty="0"/>
              <a:t>手書き数字認識（</a:t>
            </a:r>
            <a:r>
              <a:rPr lang="en-US" altLang="ja-JP" dirty="0"/>
              <a:t>MNIST</a:t>
            </a:r>
            <a:r>
              <a:rPr lang="ja-JP" altLang="en-US" dirty="0"/>
              <a:t>）において、</a:t>
            </a:r>
            <a:r>
              <a:rPr lang="en-US" altLang="ja-JP" dirty="0"/>
              <a:t>CPU</a:t>
            </a:r>
            <a:r>
              <a:rPr lang="ja-JP" altLang="en-US" dirty="0"/>
              <a:t>（</a:t>
            </a:r>
            <a:r>
              <a:rPr lang="en-US" altLang="ja-JP" dirty="0"/>
              <a:t>Intel Core i7-13700KF</a:t>
            </a:r>
            <a:r>
              <a:rPr lang="ja-JP" altLang="en-US" dirty="0"/>
              <a:t>）を凌駕する低遅延（</a:t>
            </a:r>
            <a:r>
              <a:rPr lang="en-US" altLang="ja-JP" dirty="0"/>
              <a:t>Low Latency</a:t>
            </a:r>
            <a:r>
              <a:rPr lang="ja-JP" altLang="en-US" dirty="0"/>
              <a:t>）な推論処理を実現する。</a:t>
            </a:r>
          </a:p>
          <a:p>
            <a:r>
              <a:rPr lang="ja-JP" altLang="en-US" b="1" dirty="0"/>
              <a:t>技術的アプローチ</a:t>
            </a:r>
            <a:r>
              <a:rPr lang="en-US" altLang="ja-JP" b="1" dirty="0"/>
              <a:t>:</a:t>
            </a:r>
            <a:endParaRPr lang="ja-JP" altLang="en-US" dirty="0"/>
          </a:p>
          <a:p>
            <a:pPr lvl="1"/>
            <a:r>
              <a:rPr lang="ja-JP" altLang="en-US" b="1" dirty="0"/>
              <a:t>モデル軽量化</a:t>
            </a:r>
            <a:r>
              <a:rPr lang="en-US" altLang="ja-JP" b="1" dirty="0"/>
              <a:t>:</a:t>
            </a:r>
            <a:r>
              <a:rPr lang="ja-JP" altLang="en-US" dirty="0"/>
              <a:t> 入力次元削減と低ビット量子化（</a:t>
            </a:r>
            <a:r>
              <a:rPr lang="en-US" altLang="ja-JP" dirty="0"/>
              <a:t>4-bit</a:t>
            </a:r>
            <a:r>
              <a:rPr lang="ja-JP" altLang="en-US" dirty="0"/>
              <a:t>）による演算量・メモリ量の圧縮。</a:t>
            </a:r>
          </a:p>
          <a:p>
            <a:pPr lvl="1"/>
            <a:r>
              <a:rPr lang="ja-JP" altLang="en-US" b="1" dirty="0"/>
              <a:t>専用ハードウェア化</a:t>
            </a:r>
            <a:r>
              <a:rPr lang="en-US" altLang="ja-JP" b="1" dirty="0"/>
              <a:t>:</a:t>
            </a:r>
            <a:r>
              <a:rPr lang="ja-JP" altLang="en-US" dirty="0"/>
              <a:t> スタンダードセルのみ（</a:t>
            </a:r>
            <a:r>
              <a:rPr lang="en-US" altLang="ja-JP" dirty="0"/>
              <a:t>SRAM</a:t>
            </a:r>
            <a:r>
              <a:rPr lang="ja-JP" altLang="en-US" dirty="0"/>
              <a:t>なし）で実装可能な、高並列・レジスタ分散型アーキテクチャの採用。</a:t>
            </a:r>
          </a:p>
          <a:p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87424F4-5A01-5D33-F566-0346CBC7F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F789A833-B951-9A9B-0D6E-3BF3BCBE4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プロジェクト概要</a:t>
            </a:r>
          </a:p>
        </p:txBody>
      </p:sp>
    </p:spTree>
    <p:extLst>
      <p:ext uri="{BB962C8B-B14F-4D97-AF65-F5344CB8AC3E}">
        <p14:creationId xmlns:p14="http://schemas.microsoft.com/office/powerpoint/2010/main" val="2703079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65FC9-2BA2-0045-A4EA-7BA9249E8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B0BF9D0-64C2-E476-A8F2-162370396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9C35651E-B89E-260B-62E4-77CA00B2C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ネットワーク仕様</a:t>
            </a:r>
            <a:endParaRPr kumimoji="1" lang="ja-JP" altLang="en-US" dirty="0"/>
          </a:p>
        </p:txBody>
      </p:sp>
      <p:pic>
        <p:nvPicPr>
          <p:cNvPr id="5" name="図 4" descr="テキス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461BB358-A911-A5D2-3A04-4F13B5CA5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609" y="3289828"/>
            <a:ext cx="1371791" cy="1371791"/>
          </a:xfrm>
          <a:prstGeom prst="rect">
            <a:avLst/>
          </a:prstGeom>
        </p:spPr>
      </p:pic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B38BCC79-1714-69ED-85C3-D2152519AFBB}"/>
              </a:ext>
            </a:extLst>
          </p:cNvPr>
          <p:cNvGrpSpPr/>
          <p:nvPr/>
        </p:nvGrpSpPr>
        <p:grpSpPr>
          <a:xfrm>
            <a:off x="4267200" y="1333500"/>
            <a:ext cx="4931610" cy="4882827"/>
            <a:chOff x="2946400" y="1498600"/>
            <a:chExt cx="4931610" cy="4882827"/>
          </a:xfrm>
        </p:grpSpPr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2C7D0270-F7AB-5D4E-CCC9-72C4CA81F6FF}"/>
                </a:ext>
              </a:extLst>
            </p:cNvPr>
            <p:cNvSpPr/>
            <p:nvPr/>
          </p:nvSpPr>
          <p:spPr>
            <a:xfrm>
              <a:off x="2946400" y="1498600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15F97CC0-C804-7826-BD6E-017D207FE3E2}"/>
                </a:ext>
              </a:extLst>
            </p:cNvPr>
            <p:cNvSpPr/>
            <p:nvPr/>
          </p:nvSpPr>
          <p:spPr>
            <a:xfrm>
              <a:off x="2946400" y="2241227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7C79A83A-FD59-7E50-20BD-69DF396544A8}"/>
                </a:ext>
              </a:extLst>
            </p:cNvPr>
            <p:cNvSpPr/>
            <p:nvPr/>
          </p:nvSpPr>
          <p:spPr>
            <a:xfrm>
              <a:off x="2946400" y="2983854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楕円 9">
              <a:extLst>
                <a:ext uri="{FF2B5EF4-FFF2-40B4-BE49-F238E27FC236}">
                  <a16:creationId xmlns:a16="http://schemas.microsoft.com/office/drawing/2014/main" id="{4F3238B1-2FCB-075C-8D21-0CBBECDF2589}"/>
                </a:ext>
              </a:extLst>
            </p:cNvPr>
            <p:cNvSpPr/>
            <p:nvPr/>
          </p:nvSpPr>
          <p:spPr>
            <a:xfrm>
              <a:off x="2946400" y="5118100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楕円 10">
              <a:extLst>
                <a:ext uri="{FF2B5EF4-FFF2-40B4-BE49-F238E27FC236}">
                  <a16:creationId xmlns:a16="http://schemas.microsoft.com/office/drawing/2014/main" id="{ACEB40E6-7FD8-2CF6-7D2B-F6EBC7B68717}"/>
                </a:ext>
              </a:extLst>
            </p:cNvPr>
            <p:cNvSpPr/>
            <p:nvPr/>
          </p:nvSpPr>
          <p:spPr>
            <a:xfrm>
              <a:off x="2946400" y="5860727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D7F7113B-09C8-75B3-570F-807E7E955982}"/>
                </a:ext>
              </a:extLst>
            </p:cNvPr>
            <p:cNvSpPr/>
            <p:nvPr/>
          </p:nvSpPr>
          <p:spPr>
            <a:xfrm>
              <a:off x="4521200" y="1936104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E92A82DE-304D-2354-6DC9-ECEB285BA3F6}"/>
                </a:ext>
              </a:extLst>
            </p:cNvPr>
            <p:cNvSpPr/>
            <p:nvPr/>
          </p:nvSpPr>
          <p:spPr>
            <a:xfrm>
              <a:off x="4521200" y="2678731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5321B2FF-EB8B-1A99-39A8-12776BC42F6F}"/>
                </a:ext>
              </a:extLst>
            </p:cNvPr>
            <p:cNvSpPr/>
            <p:nvPr/>
          </p:nvSpPr>
          <p:spPr>
            <a:xfrm>
              <a:off x="4521200" y="5600377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64CAA46D-CB1D-7E10-A09B-119C31D74E98}"/>
                </a:ext>
              </a:extLst>
            </p:cNvPr>
            <p:cNvSpPr/>
            <p:nvPr/>
          </p:nvSpPr>
          <p:spPr>
            <a:xfrm>
              <a:off x="5842000" y="3012476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楕円 15">
              <a:extLst>
                <a:ext uri="{FF2B5EF4-FFF2-40B4-BE49-F238E27FC236}">
                  <a16:creationId xmlns:a16="http://schemas.microsoft.com/office/drawing/2014/main" id="{210BB7BC-E2E8-C288-1479-C5ED29CB16D0}"/>
                </a:ext>
              </a:extLst>
            </p:cNvPr>
            <p:cNvSpPr/>
            <p:nvPr/>
          </p:nvSpPr>
          <p:spPr>
            <a:xfrm>
              <a:off x="5842000" y="2314527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楕円 16">
              <a:extLst>
                <a:ext uri="{FF2B5EF4-FFF2-40B4-BE49-F238E27FC236}">
                  <a16:creationId xmlns:a16="http://schemas.microsoft.com/office/drawing/2014/main" id="{3B8AC514-8C2D-B15A-8471-74FCAA4ACD02}"/>
                </a:ext>
              </a:extLst>
            </p:cNvPr>
            <p:cNvSpPr/>
            <p:nvPr/>
          </p:nvSpPr>
          <p:spPr>
            <a:xfrm>
              <a:off x="5842000" y="5118100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楕円 17">
              <a:extLst>
                <a:ext uri="{FF2B5EF4-FFF2-40B4-BE49-F238E27FC236}">
                  <a16:creationId xmlns:a16="http://schemas.microsoft.com/office/drawing/2014/main" id="{695802F3-527E-8B26-59A6-B19451AD3530}"/>
                </a:ext>
              </a:extLst>
            </p:cNvPr>
            <p:cNvSpPr/>
            <p:nvPr/>
          </p:nvSpPr>
          <p:spPr>
            <a:xfrm>
              <a:off x="7124702" y="3376680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楕円 18">
              <a:extLst>
                <a:ext uri="{FF2B5EF4-FFF2-40B4-BE49-F238E27FC236}">
                  <a16:creationId xmlns:a16="http://schemas.microsoft.com/office/drawing/2014/main" id="{95918F3F-4E18-E25A-3398-2C9252E794CE}"/>
                </a:ext>
              </a:extLst>
            </p:cNvPr>
            <p:cNvSpPr/>
            <p:nvPr/>
          </p:nvSpPr>
          <p:spPr>
            <a:xfrm>
              <a:off x="7124702" y="2678731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楕円 19">
              <a:extLst>
                <a:ext uri="{FF2B5EF4-FFF2-40B4-BE49-F238E27FC236}">
                  <a16:creationId xmlns:a16="http://schemas.microsoft.com/office/drawing/2014/main" id="{A015E852-72F7-B63C-A27D-76C0FD5D413A}"/>
                </a:ext>
              </a:extLst>
            </p:cNvPr>
            <p:cNvSpPr/>
            <p:nvPr/>
          </p:nvSpPr>
          <p:spPr>
            <a:xfrm>
              <a:off x="7124702" y="4787445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547D3EC7-DDA9-5FCB-5BFE-6EF41D64972A}"/>
                </a:ext>
              </a:extLst>
            </p:cNvPr>
            <p:cNvSpPr txBox="1"/>
            <p:nvPr/>
          </p:nvSpPr>
          <p:spPr>
            <a:xfrm>
              <a:off x="2988846" y="4045744"/>
              <a:ext cx="677108" cy="101687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3200" dirty="0"/>
                <a:t>......</a:t>
              </a:r>
              <a:endParaRPr kumimoji="1" lang="ja-JP" altLang="en-US" sz="3200" dirty="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1078291A-F78D-EBB0-F302-794CC0DEF574}"/>
                </a:ext>
              </a:extLst>
            </p:cNvPr>
            <p:cNvSpPr txBox="1"/>
            <p:nvPr/>
          </p:nvSpPr>
          <p:spPr>
            <a:xfrm>
              <a:off x="4576686" y="4045744"/>
              <a:ext cx="677108" cy="101687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3200" dirty="0"/>
                <a:t>......</a:t>
              </a:r>
              <a:endParaRPr kumimoji="1" lang="ja-JP" altLang="en-US" sz="3200" dirty="0"/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77E4013A-6992-56A8-76F3-3512B1509A7E}"/>
                </a:ext>
              </a:extLst>
            </p:cNvPr>
            <p:cNvSpPr txBox="1"/>
            <p:nvPr/>
          </p:nvSpPr>
          <p:spPr>
            <a:xfrm>
              <a:off x="5880100" y="4045744"/>
              <a:ext cx="677108" cy="101687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3200" dirty="0"/>
                <a:t>......</a:t>
              </a:r>
              <a:endParaRPr kumimoji="1" lang="ja-JP" altLang="en-US" sz="3200" dirty="0"/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2CF398E3-7368-8842-3CCD-8285E311C4D4}"/>
                </a:ext>
              </a:extLst>
            </p:cNvPr>
            <p:cNvSpPr txBox="1"/>
            <p:nvPr/>
          </p:nvSpPr>
          <p:spPr>
            <a:xfrm>
              <a:off x="7200902" y="4045744"/>
              <a:ext cx="677108" cy="101687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3200" dirty="0"/>
                <a:t>......</a:t>
              </a:r>
              <a:endParaRPr kumimoji="1" lang="ja-JP" altLang="en-US" sz="3200" dirty="0"/>
            </a:p>
          </p:txBody>
        </p: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A93A40FD-8925-4389-2D84-AAC363493538}"/>
                </a:ext>
              </a:extLst>
            </p:cNvPr>
            <p:cNvCxnSpPr>
              <a:stCxn id="7" idx="6"/>
              <a:endCxn id="12" idx="2"/>
            </p:cNvCxnSpPr>
            <p:nvPr/>
          </p:nvCxnSpPr>
          <p:spPr>
            <a:xfrm>
              <a:off x="3454400" y="1758950"/>
              <a:ext cx="1066800" cy="437504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コネクタ 25">
              <a:extLst>
                <a:ext uri="{FF2B5EF4-FFF2-40B4-BE49-F238E27FC236}">
                  <a16:creationId xmlns:a16="http://schemas.microsoft.com/office/drawing/2014/main" id="{496A6E6F-19A8-9BF3-2839-62ED7036C4F2}"/>
                </a:ext>
              </a:extLst>
            </p:cNvPr>
            <p:cNvCxnSpPr>
              <a:cxnSpLocks/>
              <a:stCxn id="8" idx="6"/>
              <a:endCxn id="12" idx="2"/>
            </p:cNvCxnSpPr>
            <p:nvPr/>
          </p:nvCxnSpPr>
          <p:spPr>
            <a:xfrm flipV="1">
              <a:off x="3454400" y="2196454"/>
              <a:ext cx="1066800" cy="305123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コネクタ 26">
              <a:extLst>
                <a:ext uri="{FF2B5EF4-FFF2-40B4-BE49-F238E27FC236}">
                  <a16:creationId xmlns:a16="http://schemas.microsoft.com/office/drawing/2014/main" id="{4EB3F04B-803A-C7EB-5A1D-6592A30C014E}"/>
                </a:ext>
              </a:extLst>
            </p:cNvPr>
            <p:cNvCxnSpPr>
              <a:cxnSpLocks/>
              <a:stCxn id="9" idx="6"/>
              <a:endCxn id="12" idx="2"/>
            </p:cNvCxnSpPr>
            <p:nvPr/>
          </p:nvCxnSpPr>
          <p:spPr>
            <a:xfrm flipV="1">
              <a:off x="3454400" y="2196454"/>
              <a:ext cx="1066800" cy="10477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コネクタ 27">
              <a:extLst>
                <a:ext uri="{FF2B5EF4-FFF2-40B4-BE49-F238E27FC236}">
                  <a16:creationId xmlns:a16="http://schemas.microsoft.com/office/drawing/2014/main" id="{821CC4E6-FDCE-5F3B-346F-9B12AEDA4748}"/>
                </a:ext>
              </a:extLst>
            </p:cNvPr>
            <p:cNvCxnSpPr>
              <a:cxnSpLocks/>
              <a:stCxn id="10" idx="6"/>
              <a:endCxn id="12" idx="2"/>
            </p:cNvCxnSpPr>
            <p:nvPr/>
          </p:nvCxnSpPr>
          <p:spPr>
            <a:xfrm flipV="1">
              <a:off x="3454400" y="2196454"/>
              <a:ext cx="1066800" cy="3181996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コネクタ 28">
              <a:extLst>
                <a:ext uri="{FF2B5EF4-FFF2-40B4-BE49-F238E27FC236}">
                  <a16:creationId xmlns:a16="http://schemas.microsoft.com/office/drawing/2014/main" id="{AE58B218-135E-BB58-1D4A-3852DB7299EB}"/>
                </a:ext>
              </a:extLst>
            </p:cNvPr>
            <p:cNvCxnSpPr>
              <a:cxnSpLocks/>
              <a:stCxn id="11" idx="6"/>
              <a:endCxn id="12" idx="2"/>
            </p:cNvCxnSpPr>
            <p:nvPr/>
          </p:nvCxnSpPr>
          <p:spPr>
            <a:xfrm flipV="1">
              <a:off x="3454400" y="2196454"/>
              <a:ext cx="1066800" cy="3924623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コネクタ 29">
              <a:extLst>
                <a:ext uri="{FF2B5EF4-FFF2-40B4-BE49-F238E27FC236}">
                  <a16:creationId xmlns:a16="http://schemas.microsoft.com/office/drawing/2014/main" id="{27E6D6DE-0A8A-5412-CE82-3750E4EBAE26}"/>
                </a:ext>
              </a:extLst>
            </p:cNvPr>
            <p:cNvCxnSpPr>
              <a:cxnSpLocks/>
              <a:stCxn id="7" idx="6"/>
              <a:endCxn id="13" idx="2"/>
            </p:cNvCxnSpPr>
            <p:nvPr/>
          </p:nvCxnSpPr>
          <p:spPr>
            <a:xfrm>
              <a:off x="3454400" y="1758950"/>
              <a:ext cx="1066800" cy="1180131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コネクタ 30">
              <a:extLst>
                <a:ext uri="{FF2B5EF4-FFF2-40B4-BE49-F238E27FC236}">
                  <a16:creationId xmlns:a16="http://schemas.microsoft.com/office/drawing/2014/main" id="{305C3B29-E0AE-C1FF-8B40-90A486E4CFE2}"/>
                </a:ext>
              </a:extLst>
            </p:cNvPr>
            <p:cNvCxnSpPr>
              <a:cxnSpLocks/>
              <a:stCxn id="8" idx="6"/>
              <a:endCxn id="13" idx="2"/>
            </p:cNvCxnSpPr>
            <p:nvPr/>
          </p:nvCxnSpPr>
          <p:spPr>
            <a:xfrm>
              <a:off x="3454400" y="2501577"/>
              <a:ext cx="1066800" cy="437504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コネクタ 31">
              <a:extLst>
                <a:ext uri="{FF2B5EF4-FFF2-40B4-BE49-F238E27FC236}">
                  <a16:creationId xmlns:a16="http://schemas.microsoft.com/office/drawing/2014/main" id="{2BE84872-60C8-2984-5297-492CF0976244}"/>
                </a:ext>
              </a:extLst>
            </p:cNvPr>
            <p:cNvCxnSpPr>
              <a:cxnSpLocks/>
              <a:stCxn id="9" idx="6"/>
              <a:endCxn id="13" idx="2"/>
            </p:cNvCxnSpPr>
            <p:nvPr/>
          </p:nvCxnSpPr>
          <p:spPr>
            <a:xfrm flipV="1">
              <a:off x="3454400" y="2939081"/>
              <a:ext cx="1066800" cy="305123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コネクタ 32">
              <a:extLst>
                <a:ext uri="{FF2B5EF4-FFF2-40B4-BE49-F238E27FC236}">
                  <a16:creationId xmlns:a16="http://schemas.microsoft.com/office/drawing/2014/main" id="{C0A26496-4D16-DD77-CF49-57520259606E}"/>
                </a:ext>
              </a:extLst>
            </p:cNvPr>
            <p:cNvCxnSpPr>
              <a:cxnSpLocks/>
              <a:stCxn id="9" idx="6"/>
              <a:endCxn id="14" idx="2"/>
            </p:cNvCxnSpPr>
            <p:nvPr/>
          </p:nvCxnSpPr>
          <p:spPr>
            <a:xfrm>
              <a:off x="3454400" y="3244204"/>
              <a:ext cx="1066800" cy="2616523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コネクタ 33">
              <a:extLst>
                <a:ext uri="{FF2B5EF4-FFF2-40B4-BE49-F238E27FC236}">
                  <a16:creationId xmlns:a16="http://schemas.microsoft.com/office/drawing/2014/main" id="{4D9321DB-0990-985B-2FDD-BB692BD835BD}"/>
                </a:ext>
              </a:extLst>
            </p:cNvPr>
            <p:cNvCxnSpPr>
              <a:cxnSpLocks/>
              <a:stCxn id="8" idx="6"/>
              <a:endCxn id="14" idx="2"/>
            </p:cNvCxnSpPr>
            <p:nvPr/>
          </p:nvCxnSpPr>
          <p:spPr>
            <a:xfrm>
              <a:off x="3454400" y="2501577"/>
              <a:ext cx="1066800" cy="3359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コネクタ 34">
              <a:extLst>
                <a:ext uri="{FF2B5EF4-FFF2-40B4-BE49-F238E27FC236}">
                  <a16:creationId xmlns:a16="http://schemas.microsoft.com/office/drawing/2014/main" id="{21913DC9-5CD3-FE23-058C-5081C85A2E9D}"/>
                </a:ext>
              </a:extLst>
            </p:cNvPr>
            <p:cNvCxnSpPr>
              <a:cxnSpLocks/>
              <a:stCxn id="7" idx="6"/>
              <a:endCxn id="14" idx="2"/>
            </p:cNvCxnSpPr>
            <p:nvPr/>
          </p:nvCxnSpPr>
          <p:spPr>
            <a:xfrm>
              <a:off x="3454400" y="1758950"/>
              <a:ext cx="1066800" cy="4101777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2D6178AF-93BA-03A4-C585-D0389D66194A}"/>
                </a:ext>
              </a:extLst>
            </p:cNvPr>
            <p:cNvCxnSpPr>
              <a:cxnSpLocks/>
              <a:stCxn id="10" idx="6"/>
              <a:endCxn id="14" idx="2"/>
            </p:cNvCxnSpPr>
            <p:nvPr/>
          </p:nvCxnSpPr>
          <p:spPr>
            <a:xfrm>
              <a:off x="3454400" y="5378450"/>
              <a:ext cx="1066800" cy="482277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コネクタ 36">
              <a:extLst>
                <a:ext uri="{FF2B5EF4-FFF2-40B4-BE49-F238E27FC236}">
                  <a16:creationId xmlns:a16="http://schemas.microsoft.com/office/drawing/2014/main" id="{86999AE2-6B5A-32A0-3851-7E7049DE52C1}"/>
                </a:ext>
              </a:extLst>
            </p:cNvPr>
            <p:cNvCxnSpPr>
              <a:cxnSpLocks/>
              <a:stCxn id="11" idx="6"/>
              <a:endCxn id="14" idx="2"/>
            </p:cNvCxnSpPr>
            <p:nvPr/>
          </p:nvCxnSpPr>
          <p:spPr>
            <a:xfrm flipV="1">
              <a:off x="3454400" y="5860727"/>
              <a:ext cx="1066800" cy="2603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コネクタ 37">
              <a:extLst>
                <a:ext uri="{FF2B5EF4-FFF2-40B4-BE49-F238E27FC236}">
                  <a16:creationId xmlns:a16="http://schemas.microsoft.com/office/drawing/2014/main" id="{0E8948BB-C820-AAE1-F979-69F0C3B36D3B}"/>
                </a:ext>
              </a:extLst>
            </p:cNvPr>
            <p:cNvCxnSpPr>
              <a:cxnSpLocks/>
              <a:stCxn id="14" idx="6"/>
              <a:endCxn id="17" idx="2"/>
            </p:cNvCxnSpPr>
            <p:nvPr/>
          </p:nvCxnSpPr>
          <p:spPr>
            <a:xfrm flipV="1">
              <a:off x="5029200" y="5378450"/>
              <a:ext cx="812800" cy="482277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38EC925D-03F3-71D3-FCAC-342B805CD957}"/>
                </a:ext>
              </a:extLst>
            </p:cNvPr>
            <p:cNvCxnSpPr>
              <a:cxnSpLocks/>
              <a:stCxn id="14" idx="6"/>
              <a:endCxn id="15" idx="2"/>
            </p:cNvCxnSpPr>
            <p:nvPr/>
          </p:nvCxnSpPr>
          <p:spPr>
            <a:xfrm flipV="1">
              <a:off x="5029200" y="3272826"/>
              <a:ext cx="812800" cy="2587901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コネクタ 39">
              <a:extLst>
                <a:ext uri="{FF2B5EF4-FFF2-40B4-BE49-F238E27FC236}">
                  <a16:creationId xmlns:a16="http://schemas.microsoft.com/office/drawing/2014/main" id="{726939AF-7AF7-6F19-006F-B41D2F7ADF5B}"/>
                </a:ext>
              </a:extLst>
            </p:cNvPr>
            <p:cNvCxnSpPr>
              <a:cxnSpLocks/>
              <a:stCxn id="14" idx="6"/>
              <a:endCxn id="16" idx="2"/>
            </p:cNvCxnSpPr>
            <p:nvPr/>
          </p:nvCxnSpPr>
          <p:spPr>
            <a:xfrm flipV="1">
              <a:off x="5029200" y="2574877"/>
              <a:ext cx="812800" cy="32858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コネクタ 40">
              <a:extLst>
                <a:ext uri="{FF2B5EF4-FFF2-40B4-BE49-F238E27FC236}">
                  <a16:creationId xmlns:a16="http://schemas.microsoft.com/office/drawing/2014/main" id="{A4BF2829-83AA-AF50-E2DC-4A01A007BB76}"/>
                </a:ext>
              </a:extLst>
            </p:cNvPr>
            <p:cNvCxnSpPr>
              <a:cxnSpLocks/>
              <a:stCxn id="16" idx="2"/>
              <a:endCxn id="12" idx="6"/>
            </p:cNvCxnSpPr>
            <p:nvPr/>
          </p:nvCxnSpPr>
          <p:spPr>
            <a:xfrm flipH="1" flipV="1">
              <a:off x="5029200" y="2196454"/>
              <a:ext cx="812800" cy="378423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9A4CF3F4-0436-774D-CCD4-B804A40F3374}"/>
                </a:ext>
              </a:extLst>
            </p:cNvPr>
            <p:cNvCxnSpPr>
              <a:cxnSpLocks/>
              <a:stCxn id="15" idx="2"/>
              <a:endCxn id="12" idx="6"/>
            </p:cNvCxnSpPr>
            <p:nvPr/>
          </p:nvCxnSpPr>
          <p:spPr>
            <a:xfrm flipH="1" flipV="1">
              <a:off x="5029200" y="2196454"/>
              <a:ext cx="812800" cy="1076372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コネクタ 42">
              <a:extLst>
                <a:ext uri="{FF2B5EF4-FFF2-40B4-BE49-F238E27FC236}">
                  <a16:creationId xmlns:a16="http://schemas.microsoft.com/office/drawing/2014/main" id="{5E27A5E4-F332-AE07-EDCA-AAD07218A2B8}"/>
                </a:ext>
              </a:extLst>
            </p:cNvPr>
            <p:cNvCxnSpPr>
              <a:cxnSpLocks/>
              <a:stCxn id="15" idx="2"/>
              <a:endCxn id="13" idx="6"/>
            </p:cNvCxnSpPr>
            <p:nvPr/>
          </p:nvCxnSpPr>
          <p:spPr>
            <a:xfrm flipH="1" flipV="1">
              <a:off x="5029200" y="2939081"/>
              <a:ext cx="812800" cy="333745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コネクタ 43">
              <a:extLst>
                <a:ext uri="{FF2B5EF4-FFF2-40B4-BE49-F238E27FC236}">
                  <a16:creationId xmlns:a16="http://schemas.microsoft.com/office/drawing/2014/main" id="{1929EA42-8D5B-CC3C-D428-9BB8C68862FD}"/>
                </a:ext>
              </a:extLst>
            </p:cNvPr>
            <p:cNvCxnSpPr>
              <a:cxnSpLocks/>
              <a:stCxn id="17" idx="2"/>
              <a:endCxn id="13" idx="6"/>
            </p:cNvCxnSpPr>
            <p:nvPr/>
          </p:nvCxnSpPr>
          <p:spPr>
            <a:xfrm flipH="1" flipV="1">
              <a:off x="5029200" y="2939081"/>
              <a:ext cx="812800" cy="2439369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コネクタ 44">
              <a:extLst>
                <a:ext uri="{FF2B5EF4-FFF2-40B4-BE49-F238E27FC236}">
                  <a16:creationId xmlns:a16="http://schemas.microsoft.com/office/drawing/2014/main" id="{A6CA9E33-AC9F-69E0-4EED-24252063EC96}"/>
                </a:ext>
              </a:extLst>
            </p:cNvPr>
            <p:cNvCxnSpPr>
              <a:cxnSpLocks/>
              <a:stCxn id="16" idx="2"/>
              <a:endCxn id="13" idx="6"/>
            </p:cNvCxnSpPr>
            <p:nvPr/>
          </p:nvCxnSpPr>
          <p:spPr>
            <a:xfrm flipH="1">
              <a:off x="5029200" y="2574877"/>
              <a:ext cx="812800" cy="364204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コネクタ 45">
              <a:extLst>
                <a:ext uri="{FF2B5EF4-FFF2-40B4-BE49-F238E27FC236}">
                  <a16:creationId xmlns:a16="http://schemas.microsoft.com/office/drawing/2014/main" id="{3CE337FA-FCF1-A142-1C53-C5435D67B25F}"/>
                </a:ext>
              </a:extLst>
            </p:cNvPr>
            <p:cNvCxnSpPr>
              <a:cxnSpLocks/>
              <a:stCxn id="19" idx="2"/>
              <a:endCxn id="16" idx="6"/>
            </p:cNvCxnSpPr>
            <p:nvPr/>
          </p:nvCxnSpPr>
          <p:spPr>
            <a:xfrm flipH="1" flipV="1">
              <a:off x="6350000" y="2574877"/>
              <a:ext cx="774702" cy="364204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707B09B3-F61A-E8C4-7252-5CCB64C83AB7}"/>
                </a:ext>
              </a:extLst>
            </p:cNvPr>
            <p:cNvCxnSpPr>
              <a:cxnSpLocks/>
              <a:stCxn id="18" idx="2"/>
              <a:endCxn id="16" idx="6"/>
            </p:cNvCxnSpPr>
            <p:nvPr/>
          </p:nvCxnSpPr>
          <p:spPr>
            <a:xfrm flipH="1" flipV="1">
              <a:off x="6350000" y="2574877"/>
              <a:ext cx="774702" cy="1062153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コネクタ 47">
              <a:extLst>
                <a:ext uri="{FF2B5EF4-FFF2-40B4-BE49-F238E27FC236}">
                  <a16:creationId xmlns:a16="http://schemas.microsoft.com/office/drawing/2014/main" id="{461BD4B2-4B78-2F3E-372B-A79A463ED25F}"/>
                </a:ext>
              </a:extLst>
            </p:cNvPr>
            <p:cNvCxnSpPr>
              <a:cxnSpLocks/>
              <a:stCxn id="20" idx="2"/>
              <a:endCxn id="16" idx="6"/>
            </p:cNvCxnSpPr>
            <p:nvPr/>
          </p:nvCxnSpPr>
          <p:spPr>
            <a:xfrm flipH="1" flipV="1">
              <a:off x="6350000" y="2574877"/>
              <a:ext cx="774702" cy="2472918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BEEFE330-9075-D8E8-E4E0-077BC7B4331E}"/>
                </a:ext>
              </a:extLst>
            </p:cNvPr>
            <p:cNvCxnSpPr>
              <a:cxnSpLocks/>
              <a:stCxn id="18" idx="2"/>
              <a:endCxn id="15" idx="6"/>
            </p:cNvCxnSpPr>
            <p:nvPr/>
          </p:nvCxnSpPr>
          <p:spPr>
            <a:xfrm flipH="1" flipV="1">
              <a:off x="6350000" y="3272826"/>
              <a:ext cx="774702" cy="364204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コネクタ 49">
              <a:extLst>
                <a:ext uri="{FF2B5EF4-FFF2-40B4-BE49-F238E27FC236}">
                  <a16:creationId xmlns:a16="http://schemas.microsoft.com/office/drawing/2014/main" id="{6BF86565-1833-1C03-46EF-F3D07A72D794}"/>
                </a:ext>
              </a:extLst>
            </p:cNvPr>
            <p:cNvCxnSpPr>
              <a:cxnSpLocks/>
              <a:stCxn id="19" idx="2"/>
              <a:endCxn id="15" idx="6"/>
            </p:cNvCxnSpPr>
            <p:nvPr/>
          </p:nvCxnSpPr>
          <p:spPr>
            <a:xfrm flipH="1">
              <a:off x="6350000" y="2939081"/>
              <a:ext cx="774702" cy="333745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3B945B88-43EC-EAB6-3F00-4A9CB521FCFF}"/>
                </a:ext>
              </a:extLst>
            </p:cNvPr>
            <p:cNvCxnSpPr>
              <a:cxnSpLocks/>
              <a:endCxn id="15" idx="6"/>
            </p:cNvCxnSpPr>
            <p:nvPr/>
          </p:nvCxnSpPr>
          <p:spPr>
            <a:xfrm flipH="1" flipV="1">
              <a:off x="6350000" y="3272826"/>
              <a:ext cx="774702" cy="1845274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コネクタ 51">
              <a:extLst>
                <a:ext uri="{FF2B5EF4-FFF2-40B4-BE49-F238E27FC236}">
                  <a16:creationId xmlns:a16="http://schemas.microsoft.com/office/drawing/2014/main" id="{A6D35056-151D-6CC8-A6D0-9DAAC521A70A}"/>
                </a:ext>
              </a:extLst>
            </p:cNvPr>
            <p:cNvCxnSpPr>
              <a:cxnSpLocks/>
              <a:stCxn id="20" idx="2"/>
              <a:endCxn id="17" idx="6"/>
            </p:cNvCxnSpPr>
            <p:nvPr/>
          </p:nvCxnSpPr>
          <p:spPr>
            <a:xfrm flipH="1">
              <a:off x="6350000" y="5047795"/>
              <a:ext cx="774702" cy="330655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コネクタ 52">
              <a:extLst>
                <a:ext uri="{FF2B5EF4-FFF2-40B4-BE49-F238E27FC236}">
                  <a16:creationId xmlns:a16="http://schemas.microsoft.com/office/drawing/2014/main" id="{45BBEEF1-67D0-A03F-DD61-AB0F52D4CA64}"/>
                </a:ext>
              </a:extLst>
            </p:cNvPr>
            <p:cNvCxnSpPr>
              <a:cxnSpLocks/>
              <a:stCxn id="18" idx="2"/>
              <a:endCxn id="17" idx="6"/>
            </p:cNvCxnSpPr>
            <p:nvPr/>
          </p:nvCxnSpPr>
          <p:spPr>
            <a:xfrm flipH="1">
              <a:off x="6350000" y="3637030"/>
              <a:ext cx="774702" cy="174142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コネクタ 53">
              <a:extLst>
                <a:ext uri="{FF2B5EF4-FFF2-40B4-BE49-F238E27FC236}">
                  <a16:creationId xmlns:a16="http://schemas.microsoft.com/office/drawing/2014/main" id="{A284E0D7-4E36-9FC1-D270-703943F4D025}"/>
                </a:ext>
              </a:extLst>
            </p:cNvPr>
            <p:cNvCxnSpPr>
              <a:cxnSpLocks/>
              <a:stCxn id="19" idx="2"/>
              <a:endCxn id="17" idx="6"/>
            </p:cNvCxnSpPr>
            <p:nvPr/>
          </p:nvCxnSpPr>
          <p:spPr>
            <a:xfrm flipH="1">
              <a:off x="6350000" y="2939081"/>
              <a:ext cx="774702" cy="2439369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7A321E79-8DC2-D048-3324-8C418BB6C1E1}"/>
              </a:ext>
            </a:extLst>
          </p:cNvPr>
          <p:cNvSpPr txBox="1"/>
          <p:nvPr/>
        </p:nvSpPr>
        <p:spPr>
          <a:xfrm>
            <a:off x="9198810" y="2511111"/>
            <a:ext cx="5293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0</a:t>
            </a:r>
            <a:endParaRPr kumimoji="1" lang="ja-JP" altLang="en-US" sz="2800" dirty="0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75BAB984-FB6C-42F1-AF93-DBC1E7BB852F}"/>
              </a:ext>
            </a:extLst>
          </p:cNvPr>
          <p:cNvSpPr txBox="1"/>
          <p:nvPr/>
        </p:nvSpPr>
        <p:spPr>
          <a:xfrm>
            <a:off x="9220204" y="3239832"/>
            <a:ext cx="5293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1</a:t>
            </a:r>
            <a:endParaRPr kumimoji="1" lang="ja-JP" altLang="en-US" sz="2800" dirty="0"/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B4CDFF02-E2E7-0E00-6CC8-935374738471}"/>
              </a:ext>
            </a:extLst>
          </p:cNvPr>
          <p:cNvSpPr txBox="1"/>
          <p:nvPr/>
        </p:nvSpPr>
        <p:spPr>
          <a:xfrm>
            <a:off x="9220204" y="4655882"/>
            <a:ext cx="5293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9</a:t>
            </a:r>
            <a:endParaRPr kumimoji="1" lang="ja-JP" altLang="en-US" sz="2800" dirty="0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8BFE1122-C3D0-65F4-39A3-8ACB252A73EB}"/>
              </a:ext>
            </a:extLst>
          </p:cNvPr>
          <p:cNvSpPr txBox="1"/>
          <p:nvPr/>
        </p:nvSpPr>
        <p:spPr>
          <a:xfrm>
            <a:off x="4082583" y="6292011"/>
            <a:ext cx="1555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Input(196)</a:t>
            </a:r>
            <a:endParaRPr kumimoji="1" lang="ja-JP" altLang="en-US" dirty="0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9EB34028-9E19-F50B-AA4E-8F826871AA25}"/>
              </a:ext>
            </a:extLst>
          </p:cNvPr>
          <p:cNvSpPr txBox="1"/>
          <p:nvPr/>
        </p:nvSpPr>
        <p:spPr>
          <a:xfrm>
            <a:off x="5807539" y="6287725"/>
            <a:ext cx="81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L1(32)</a:t>
            </a:r>
            <a:endParaRPr kumimoji="1" lang="ja-JP" altLang="en-US" dirty="0"/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F63AF33C-CAB9-7433-7AEF-6F5B5EA05A37}"/>
              </a:ext>
            </a:extLst>
          </p:cNvPr>
          <p:cNvSpPr txBox="1"/>
          <p:nvPr/>
        </p:nvSpPr>
        <p:spPr>
          <a:xfrm>
            <a:off x="7162800" y="6254919"/>
            <a:ext cx="81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L2(16)</a:t>
            </a:r>
            <a:endParaRPr kumimoji="1" lang="ja-JP" altLang="en-US" dirty="0"/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A958D6A4-D8CC-BC97-80E6-D0B62EAA6417}"/>
              </a:ext>
            </a:extLst>
          </p:cNvPr>
          <p:cNvSpPr txBox="1"/>
          <p:nvPr/>
        </p:nvSpPr>
        <p:spPr>
          <a:xfrm>
            <a:off x="8298364" y="6294819"/>
            <a:ext cx="131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Output(10)</a:t>
            </a:r>
            <a:endParaRPr kumimoji="1" lang="ja-JP" altLang="en-US" dirty="0"/>
          </a:p>
        </p:txBody>
      </p: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19CDC5BC-DE57-B4EB-1BF2-F583292371C8}"/>
              </a:ext>
            </a:extLst>
          </p:cNvPr>
          <p:cNvCxnSpPr>
            <a:cxnSpLocks/>
            <a:stCxn id="10" idx="6"/>
            <a:endCxn id="13" idx="2"/>
          </p:cNvCxnSpPr>
          <p:nvPr/>
        </p:nvCxnSpPr>
        <p:spPr>
          <a:xfrm flipV="1">
            <a:off x="4775200" y="2773981"/>
            <a:ext cx="1066800" cy="2439369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0E1E380D-F262-19DC-5712-4F1599BC3AD1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 flipV="1">
            <a:off x="4775200" y="2773981"/>
            <a:ext cx="1066800" cy="318199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1A4F2E7-326D-817A-4764-21A404DFD079}"/>
              </a:ext>
            </a:extLst>
          </p:cNvPr>
          <p:cNvSpPr txBox="1"/>
          <p:nvPr/>
        </p:nvSpPr>
        <p:spPr>
          <a:xfrm>
            <a:off x="2523292" y="4655882"/>
            <a:ext cx="677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14</a:t>
            </a:r>
            <a:endParaRPr kumimoji="1" lang="ja-JP" altLang="en-US" dirty="0"/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0E63189D-5CCF-66D6-A7FF-7C4B7CBFBA32}"/>
              </a:ext>
            </a:extLst>
          </p:cNvPr>
          <p:cNvSpPr txBox="1"/>
          <p:nvPr/>
        </p:nvSpPr>
        <p:spPr>
          <a:xfrm>
            <a:off x="1724569" y="3751845"/>
            <a:ext cx="677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14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84865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B66F071-3EE7-16E2-D3D4-EA8C92097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61234AE3-B57D-149C-E5AB-23CDBFF66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量子化仕様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9CC38C85-F619-CE71-14C4-5BD946E1C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データ精度</a:t>
            </a:r>
            <a:endParaRPr lang="en-US" altLang="ja-JP" dirty="0"/>
          </a:p>
          <a:p>
            <a:pPr lvl="1"/>
            <a:r>
              <a:rPr lang="en-US" altLang="ja-JP" dirty="0"/>
              <a:t>Input/Activation: uint4</a:t>
            </a:r>
          </a:p>
          <a:p>
            <a:pPr lvl="1"/>
            <a:r>
              <a:rPr lang="en-US" altLang="ja-JP" dirty="0"/>
              <a:t>Weights: int4</a:t>
            </a:r>
          </a:p>
          <a:p>
            <a:pPr lvl="1"/>
            <a:r>
              <a:rPr lang="en-US" altLang="ja-JP" dirty="0"/>
              <a:t>Accumulator: int16</a:t>
            </a:r>
          </a:p>
          <a:p>
            <a:r>
              <a:rPr lang="ja-JP" altLang="en-US" dirty="0"/>
              <a:t>パラメータ精度</a:t>
            </a:r>
            <a:endParaRPr lang="en-US" altLang="ja-JP" dirty="0"/>
          </a:p>
          <a:p>
            <a:pPr lvl="1"/>
            <a:r>
              <a:rPr lang="en-US" altLang="ja-JP" dirty="0"/>
              <a:t>Scale: int12</a:t>
            </a:r>
          </a:p>
          <a:p>
            <a:pPr lvl="2"/>
            <a:r>
              <a:rPr lang="en-US" altLang="ja-JP" dirty="0"/>
              <a:t>(acc_int16*sc_int12=mul_int28)</a:t>
            </a:r>
          </a:p>
          <a:p>
            <a:pPr lvl="1"/>
            <a:r>
              <a:rPr lang="en-US" altLang="ja-JP" dirty="0"/>
              <a:t>Shift: uint4</a:t>
            </a:r>
          </a:p>
          <a:p>
            <a:pPr lvl="1"/>
            <a:r>
              <a:rPr lang="en-US" altLang="ja-JP" dirty="0"/>
              <a:t>Zero Point: uint4</a:t>
            </a:r>
          </a:p>
        </p:txBody>
      </p:sp>
    </p:spTree>
    <p:extLst>
      <p:ext uri="{BB962C8B-B14F-4D97-AF65-F5344CB8AC3E}">
        <p14:creationId xmlns:p14="http://schemas.microsoft.com/office/powerpoint/2010/main" val="2510477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正方形/長方形 128">
            <a:extLst>
              <a:ext uri="{FF2B5EF4-FFF2-40B4-BE49-F238E27FC236}">
                <a16:creationId xmlns:a16="http://schemas.microsoft.com/office/drawing/2014/main" id="{F5E57E45-530D-C15D-C336-202210285D29}"/>
              </a:ext>
            </a:extLst>
          </p:cNvPr>
          <p:cNvSpPr/>
          <p:nvPr/>
        </p:nvSpPr>
        <p:spPr>
          <a:xfrm>
            <a:off x="1827727" y="4682113"/>
            <a:ext cx="5287176" cy="8689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8" name="正方形/長方形 127">
            <a:extLst>
              <a:ext uri="{FF2B5EF4-FFF2-40B4-BE49-F238E27FC236}">
                <a16:creationId xmlns:a16="http://schemas.microsoft.com/office/drawing/2014/main" id="{37D406BE-416C-FA4B-26D5-1023F2C680CE}"/>
              </a:ext>
            </a:extLst>
          </p:cNvPr>
          <p:cNvSpPr/>
          <p:nvPr/>
        </p:nvSpPr>
        <p:spPr>
          <a:xfrm>
            <a:off x="1827727" y="3591994"/>
            <a:ext cx="7749526" cy="8689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7" name="正方形/長方形 126">
            <a:extLst>
              <a:ext uri="{FF2B5EF4-FFF2-40B4-BE49-F238E27FC236}">
                <a16:creationId xmlns:a16="http://schemas.microsoft.com/office/drawing/2014/main" id="{A25D4B8A-CDB9-E615-758E-D39723EA50A6}"/>
              </a:ext>
            </a:extLst>
          </p:cNvPr>
          <p:cNvSpPr/>
          <p:nvPr/>
        </p:nvSpPr>
        <p:spPr>
          <a:xfrm>
            <a:off x="1827727" y="1445623"/>
            <a:ext cx="7749526" cy="19294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D9B412C-450C-44C8-B0B5-368CCFF68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8546EB36-56CC-3D1B-D0DA-4C3541659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FSM</a:t>
            </a:r>
            <a:endParaRPr kumimoji="1" lang="ja-JP" altLang="en-US" dirty="0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166FC88-445C-1520-A4CC-2034C27D3D35}"/>
              </a:ext>
            </a:extLst>
          </p:cNvPr>
          <p:cNvSpPr/>
          <p:nvPr/>
        </p:nvSpPr>
        <p:spPr>
          <a:xfrm>
            <a:off x="2614747" y="1629027"/>
            <a:ext cx="1092926" cy="599238"/>
          </a:xfrm>
          <a:prstGeom prst="ellipse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</a:rPr>
              <a:t>EXEC00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11C8EFCD-46A1-A360-44F7-522157857D27}"/>
              </a:ext>
            </a:extLst>
          </p:cNvPr>
          <p:cNvSpPr/>
          <p:nvPr/>
        </p:nvSpPr>
        <p:spPr>
          <a:xfrm>
            <a:off x="313511" y="1629027"/>
            <a:ext cx="1092926" cy="599238"/>
          </a:xfrm>
          <a:prstGeom prst="ellipse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</a:rPr>
              <a:t>INIT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6AEB107E-F95F-E1E0-36D2-F074319A3D04}"/>
              </a:ext>
            </a:extLst>
          </p:cNvPr>
          <p:cNvSpPr/>
          <p:nvPr/>
        </p:nvSpPr>
        <p:spPr>
          <a:xfrm>
            <a:off x="2614747" y="2698267"/>
            <a:ext cx="1092926" cy="599238"/>
          </a:xfrm>
          <a:prstGeom prst="ellipse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</a:rPr>
              <a:t>EXEC10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044C644F-5544-3C9D-1EB8-BEB86FB18289}"/>
              </a:ext>
            </a:extLst>
          </p:cNvPr>
          <p:cNvSpPr/>
          <p:nvPr/>
        </p:nvSpPr>
        <p:spPr>
          <a:xfrm>
            <a:off x="2614747" y="3767507"/>
            <a:ext cx="1092926" cy="599238"/>
          </a:xfrm>
          <a:prstGeom prst="ellipse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</a:rPr>
              <a:t>BIAS0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1EF4A6F4-46FD-D0EB-E7CB-7407A2E161B3}"/>
              </a:ext>
            </a:extLst>
          </p:cNvPr>
          <p:cNvSpPr/>
          <p:nvPr/>
        </p:nvSpPr>
        <p:spPr>
          <a:xfrm>
            <a:off x="2614747" y="4836747"/>
            <a:ext cx="1092926" cy="599238"/>
          </a:xfrm>
          <a:prstGeom prst="ellipse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</a:rPr>
              <a:t>REQT0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64CCAC95-389B-7C2B-2DBE-0AAD15CF95F5}"/>
              </a:ext>
            </a:extLst>
          </p:cNvPr>
          <p:cNvSpPr/>
          <p:nvPr/>
        </p:nvSpPr>
        <p:spPr>
          <a:xfrm>
            <a:off x="2614747" y="5905988"/>
            <a:ext cx="1092926" cy="599238"/>
          </a:xfrm>
          <a:prstGeom prst="ellipse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WRITE0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A4C982D3-97FF-1095-BA2A-D8FBD029472E}"/>
              </a:ext>
            </a:extLst>
          </p:cNvPr>
          <p:cNvSpPr/>
          <p:nvPr/>
        </p:nvSpPr>
        <p:spPr>
          <a:xfrm>
            <a:off x="5441768" y="1629027"/>
            <a:ext cx="1092926" cy="599238"/>
          </a:xfrm>
          <a:prstGeom prst="ellipse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</a:rPr>
              <a:t>EXEC01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78C6D9DF-2ACA-1742-017F-8041944D684D}"/>
              </a:ext>
            </a:extLst>
          </p:cNvPr>
          <p:cNvSpPr/>
          <p:nvPr/>
        </p:nvSpPr>
        <p:spPr>
          <a:xfrm>
            <a:off x="5441768" y="2698267"/>
            <a:ext cx="1092926" cy="599238"/>
          </a:xfrm>
          <a:prstGeom prst="ellipse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</a:rPr>
              <a:t>EXEC11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65AC6DA3-3B30-DFED-16E8-1C5853B5E911}"/>
              </a:ext>
            </a:extLst>
          </p:cNvPr>
          <p:cNvSpPr/>
          <p:nvPr/>
        </p:nvSpPr>
        <p:spPr>
          <a:xfrm>
            <a:off x="5441768" y="3767507"/>
            <a:ext cx="1092926" cy="599238"/>
          </a:xfrm>
          <a:prstGeom prst="ellipse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</a:rPr>
              <a:t>BIAS1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78BB3BAE-95E2-92CE-5A0C-9A92B9E6E321}"/>
              </a:ext>
            </a:extLst>
          </p:cNvPr>
          <p:cNvSpPr/>
          <p:nvPr/>
        </p:nvSpPr>
        <p:spPr>
          <a:xfrm>
            <a:off x="5441768" y="4836747"/>
            <a:ext cx="1092926" cy="599238"/>
          </a:xfrm>
          <a:prstGeom prst="ellipse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</a:rPr>
              <a:t>REQT1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20BF1AD6-59D5-F25A-72CF-2C4E9C252FED}"/>
              </a:ext>
            </a:extLst>
          </p:cNvPr>
          <p:cNvSpPr/>
          <p:nvPr/>
        </p:nvSpPr>
        <p:spPr>
          <a:xfrm>
            <a:off x="5441768" y="5905988"/>
            <a:ext cx="1092926" cy="599238"/>
          </a:xfrm>
          <a:prstGeom prst="ellipse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WRITE1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8EE0234-4CCA-DB0C-0960-6177B517FB53}"/>
              </a:ext>
            </a:extLst>
          </p:cNvPr>
          <p:cNvSpPr/>
          <p:nvPr/>
        </p:nvSpPr>
        <p:spPr>
          <a:xfrm>
            <a:off x="8268790" y="1629027"/>
            <a:ext cx="1092926" cy="599238"/>
          </a:xfrm>
          <a:prstGeom prst="ellipse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</a:rPr>
              <a:t>EXEC02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61781CD0-ABAD-D4D7-3FF3-0D139B65293C}"/>
              </a:ext>
            </a:extLst>
          </p:cNvPr>
          <p:cNvSpPr/>
          <p:nvPr/>
        </p:nvSpPr>
        <p:spPr>
          <a:xfrm>
            <a:off x="8268790" y="2698267"/>
            <a:ext cx="1092926" cy="599238"/>
          </a:xfrm>
          <a:prstGeom prst="ellipse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</a:rPr>
              <a:t>EXEC12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6FD164B9-85EA-3C56-8AFA-38CDC1E69CCC}"/>
              </a:ext>
            </a:extLst>
          </p:cNvPr>
          <p:cNvSpPr/>
          <p:nvPr/>
        </p:nvSpPr>
        <p:spPr>
          <a:xfrm>
            <a:off x="8268790" y="3767507"/>
            <a:ext cx="1092926" cy="599238"/>
          </a:xfrm>
          <a:prstGeom prst="ellipse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</a:rPr>
              <a:t>BIAS2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128E5D42-F543-1AAA-592D-24187253F20A}"/>
              </a:ext>
            </a:extLst>
          </p:cNvPr>
          <p:cNvSpPr/>
          <p:nvPr/>
        </p:nvSpPr>
        <p:spPr>
          <a:xfrm>
            <a:off x="8268790" y="4841904"/>
            <a:ext cx="1092926" cy="599238"/>
          </a:xfrm>
          <a:prstGeom prst="ellipse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ARGMX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DEC80A38-32DF-96B3-C3D8-23A1BEBD0121}"/>
              </a:ext>
            </a:extLst>
          </p:cNvPr>
          <p:cNvSpPr/>
          <p:nvPr/>
        </p:nvSpPr>
        <p:spPr>
          <a:xfrm>
            <a:off x="8268789" y="5867629"/>
            <a:ext cx="1092926" cy="599238"/>
          </a:xfrm>
          <a:prstGeom prst="ellipse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</a:rPr>
              <a:t>DONE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C9A2A36D-56D8-22D1-CA2A-D4622C3D1FDC}"/>
              </a:ext>
            </a:extLst>
          </p:cNvPr>
          <p:cNvCxnSpPr>
            <a:stCxn id="7" idx="6"/>
            <a:endCxn id="6" idx="2"/>
          </p:cNvCxnSpPr>
          <p:nvPr/>
        </p:nvCxnSpPr>
        <p:spPr>
          <a:xfrm>
            <a:off x="1406437" y="1928646"/>
            <a:ext cx="12083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51F0C8F9-63C4-421C-46CD-C75DE0813553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3161210" y="2228265"/>
            <a:ext cx="0" cy="4700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361F516F-F3F8-6FD1-91AA-08195792DC71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3161210" y="3297505"/>
            <a:ext cx="0" cy="4700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85F5F80B-FC36-A5B8-BC3B-0644BA9A74CF}"/>
              </a:ext>
            </a:extLst>
          </p:cNvPr>
          <p:cNvCxnSpPr>
            <a:cxnSpLocks/>
            <a:stCxn id="9" idx="4"/>
            <a:endCxn id="10" idx="0"/>
          </p:cNvCxnSpPr>
          <p:nvPr/>
        </p:nvCxnSpPr>
        <p:spPr>
          <a:xfrm>
            <a:off x="3161210" y="4366745"/>
            <a:ext cx="0" cy="4700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1A1CE5C3-3C3D-8AAF-C87E-48B7094E9B5F}"/>
              </a:ext>
            </a:extLst>
          </p:cNvPr>
          <p:cNvCxnSpPr>
            <a:cxnSpLocks/>
            <a:stCxn id="10" idx="4"/>
            <a:endCxn id="11" idx="0"/>
          </p:cNvCxnSpPr>
          <p:nvPr/>
        </p:nvCxnSpPr>
        <p:spPr>
          <a:xfrm>
            <a:off x="3161210" y="5435985"/>
            <a:ext cx="0" cy="4700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C6B08F01-91C9-2809-C73F-245768671665}"/>
              </a:ext>
            </a:extLst>
          </p:cNvPr>
          <p:cNvCxnSpPr>
            <a:cxnSpLocks/>
            <a:stCxn id="12" idx="4"/>
            <a:endCxn id="13" idx="0"/>
          </p:cNvCxnSpPr>
          <p:nvPr/>
        </p:nvCxnSpPr>
        <p:spPr>
          <a:xfrm>
            <a:off x="5988231" y="2228265"/>
            <a:ext cx="0" cy="4700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3AA2B414-72EE-492F-D68A-95CDC607F801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>
            <a:off x="5988231" y="3297505"/>
            <a:ext cx="0" cy="4700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D4B4239A-4BA3-4A16-9B89-F6A6F9E0875B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>
            <a:off x="5988231" y="4366745"/>
            <a:ext cx="0" cy="4700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14DED37E-0264-4FA7-7239-63D94192F798}"/>
              </a:ext>
            </a:extLst>
          </p:cNvPr>
          <p:cNvCxnSpPr>
            <a:cxnSpLocks/>
            <a:stCxn id="15" idx="4"/>
            <a:endCxn id="16" idx="0"/>
          </p:cNvCxnSpPr>
          <p:nvPr/>
        </p:nvCxnSpPr>
        <p:spPr>
          <a:xfrm>
            <a:off x="5988231" y="5435985"/>
            <a:ext cx="0" cy="4700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9864CE4D-3D09-6396-302B-407D511B7B67}"/>
              </a:ext>
            </a:extLst>
          </p:cNvPr>
          <p:cNvCxnSpPr>
            <a:cxnSpLocks/>
            <a:stCxn id="17" idx="4"/>
            <a:endCxn id="18" idx="0"/>
          </p:cNvCxnSpPr>
          <p:nvPr/>
        </p:nvCxnSpPr>
        <p:spPr>
          <a:xfrm>
            <a:off x="8815253" y="2228265"/>
            <a:ext cx="0" cy="4700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3F0724D4-722F-97C9-1A80-096CDDF2E209}"/>
              </a:ext>
            </a:extLst>
          </p:cNvPr>
          <p:cNvCxnSpPr>
            <a:cxnSpLocks/>
            <a:stCxn id="18" idx="4"/>
            <a:endCxn id="19" idx="0"/>
          </p:cNvCxnSpPr>
          <p:nvPr/>
        </p:nvCxnSpPr>
        <p:spPr>
          <a:xfrm>
            <a:off x="8815253" y="3297505"/>
            <a:ext cx="0" cy="4700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0123854E-4F55-A512-E82B-8672DFC1345D}"/>
              </a:ext>
            </a:extLst>
          </p:cNvPr>
          <p:cNvCxnSpPr>
            <a:cxnSpLocks/>
            <a:stCxn id="19" idx="4"/>
          </p:cNvCxnSpPr>
          <p:nvPr/>
        </p:nvCxnSpPr>
        <p:spPr>
          <a:xfrm>
            <a:off x="8815253" y="4366745"/>
            <a:ext cx="0" cy="4700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矢印コネクタ 63">
            <a:extLst>
              <a:ext uri="{FF2B5EF4-FFF2-40B4-BE49-F238E27FC236}">
                <a16:creationId xmlns:a16="http://schemas.microsoft.com/office/drawing/2014/main" id="{70302319-4041-21DA-1D11-3112145D909A}"/>
              </a:ext>
            </a:extLst>
          </p:cNvPr>
          <p:cNvCxnSpPr>
            <a:cxnSpLocks/>
            <a:stCxn id="21" idx="4"/>
            <a:endCxn id="22" idx="0"/>
          </p:cNvCxnSpPr>
          <p:nvPr/>
        </p:nvCxnSpPr>
        <p:spPr>
          <a:xfrm flipH="1">
            <a:off x="8815252" y="5441142"/>
            <a:ext cx="1" cy="4264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コネクタ: 曲線 67">
            <a:extLst>
              <a:ext uri="{FF2B5EF4-FFF2-40B4-BE49-F238E27FC236}">
                <a16:creationId xmlns:a16="http://schemas.microsoft.com/office/drawing/2014/main" id="{32CBCA87-2B14-2557-20B8-FF1D4A1633CE}"/>
              </a:ext>
            </a:extLst>
          </p:cNvPr>
          <p:cNvCxnSpPr>
            <a:cxnSpLocks/>
            <a:stCxn id="11" idx="1"/>
            <a:endCxn id="11" idx="2"/>
          </p:cNvCxnSpPr>
          <p:nvPr/>
        </p:nvCxnSpPr>
        <p:spPr>
          <a:xfrm rot="16200000" flipH="1" flipV="1">
            <a:off x="2588843" y="6019647"/>
            <a:ext cx="211863" cy="160055"/>
          </a:xfrm>
          <a:prstGeom prst="curvedConnector4">
            <a:avLst>
              <a:gd name="adj1" fmla="val -99995"/>
              <a:gd name="adj2" fmla="val 24282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コネクタ: 曲線 71">
            <a:extLst>
              <a:ext uri="{FF2B5EF4-FFF2-40B4-BE49-F238E27FC236}">
                <a16:creationId xmlns:a16="http://schemas.microsoft.com/office/drawing/2014/main" id="{6A29316C-6C29-F963-9EFB-3052A9028B6B}"/>
              </a:ext>
            </a:extLst>
          </p:cNvPr>
          <p:cNvCxnSpPr>
            <a:cxnSpLocks/>
            <a:stCxn id="10" idx="1"/>
            <a:endCxn id="10" idx="2"/>
          </p:cNvCxnSpPr>
          <p:nvPr/>
        </p:nvCxnSpPr>
        <p:spPr>
          <a:xfrm rot="16200000" flipH="1" flipV="1">
            <a:off x="2588843" y="4950406"/>
            <a:ext cx="211863" cy="160055"/>
          </a:xfrm>
          <a:prstGeom prst="curvedConnector4">
            <a:avLst>
              <a:gd name="adj1" fmla="val -95885"/>
              <a:gd name="adj2" fmla="val 24282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コネクタ: 曲線 75">
            <a:extLst>
              <a:ext uri="{FF2B5EF4-FFF2-40B4-BE49-F238E27FC236}">
                <a16:creationId xmlns:a16="http://schemas.microsoft.com/office/drawing/2014/main" id="{198B2FD6-6E84-7B65-9A94-90F963C4FE8E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2588842" y="3881167"/>
            <a:ext cx="211863" cy="160055"/>
          </a:xfrm>
          <a:prstGeom prst="curvedConnector4">
            <a:avLst>
              <a:gd name="adj1" fmla="val -95885"/>
              <a:gd name="adj2" fmla="val 24282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コネクタ: 曲線 87">
            <a:extLst>
              <a:ext uri="{FF2B5EF4-FFF2-40B4-BE49-F238E27FC236}">
                <a16:creationId xmlns:a16="http://schemas.microsoft.com/office/drawing/2014/main" id="{EC90BB01-E864-3207-735F-80153D78C83A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2588841" y="2830103"/>
            <a:ext cx="211863" cy="160055"/>
          </a:xfrm>
          <a:prstGeom prst="curvedConnector4">
            <a:avLst>
              <a:gd name="adj1" fmla="val -95885"/>
              <a:gd name="adj2" fmla="val 24282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コネクタ: 曲線 88">
            <a:extLst>
              <a:ext uri="{FF2B5EF4-FFF2-40B4-BE49-F238E27FC236}">
                <a16:creationId xmlns:a16="http://schemas.microsoft.com/office/drawing/2014/main" id="{FD8174B7-B797-51BA-FA96-6937EFB18FBA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5415866" y="6019646"/>
            <a:ext cx="211863" cy="160055"/>
          </a:xfrm>
          <a:prstGeom prst="curvedConnector4">
            <a:avLst>
              <a:gd name="adj1" fmla="val -99995"/>
              <a:gd name="adj2" fmla="val 24282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コネクタ: 曲線 89">
            <a:extLst>
              <a:ext uri="{FF2B5EF4-FFF2-40B4-BE49-F238E27FC236}">
                <a16:creationId xmlns:a16="http://schemas.microsoft.com/office/drawing/2014/main" id="{2BAE7924-70DF-01E9-1087-0B69B8408A1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5415866" y="4950405"/>
            <a:ext cx="211863" cy="160055"/>
          </a:xfrm>
          <a:prstGeom prst="curvedConnector4">
            <a:avLst>
              <a:gd name="adj1" fmla="val -95885"/>
              <a:gd name="adj2" fmla="val 24282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コネクタ: 曲線 90">
            <a:extLst>
              <a:ext uri="{FF2B5EF4-FFF2-40B4-BE49-F238E27FC236}">
                <a16:creationId xmlns:a16="http://schemas.microsoft.com/office/drawing/2014/main" id="{B85BE7B1-D8E5-77D0-AD14-133B97D2DE5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5415865" y="3881166"/>
            <a:ext cx="211863" cy="160055"/>
          </a:xfrm>
          <a:prstGeom prst="curvedConnector4">
            <a:avLst>
              <a:gd name="adj1" fmla="val -95885"/>
              <a:gd name="adj2" fmla="val 24282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コネクタ: 曲線 91">
            <a:extLst>
              <a:ext uri="{FF2B5EF4-FFF2-40B4-BE49-F238E27FC236}">
                <a16:creationId xmlns:a16="http://schemas.microsoft.com/office/drawing/2014/main" id="{3BA9990D-9F38-1A99-8454-4F5EE2D93D34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5415864" y="2830102"/>
            <a:ext cx="211863" cy="160055"/>
          </a:xfrm>
          <a:prstGeom prst="curvedConnector4">
            <a:avLst>
              <a:gd name="adj1" fmla="val -95885"/>
              <a:gd name="adj2" fmla="val 24282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コネクタ: 曲線 93">
            <a:extLst>
              <a:ext uri="{FF2B5EF4-FFF2-40B4-BE49-F238E27FC236}">
                <a16:creationId xmlns:a16="http://schemas.microsoft.com/office/drawing/2014/main" id="{F5DD4345-D944-9B00-E759-062A2B9FB25E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8242887" y="4950405"/>
            <a:ext cx="211863" cy="160055"/>
          </a:xfrm>
          <a:prstGeom prst="curvedConnector4">
            <a:avLst>
              <a:gd name="adj1" fmla="val -95885"/>
              <a:gd name="adj2" fmla="val 24282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コネクタ: 曲線 94">
            <a:extLst>
              <a:ext uri="{FF2B5EF4-FFF2-40B4-BE49-F238E27FC236}">
                <a16:creationId xmlns:a16="http://schemas.microsoft.com/office/drawing/2014/main" id="{5F4CAD28-D72B-46EE-0E39-877281079F69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8242886" y="3881166"/>
            <a:ext cx="211863" cy="160055"/>
          </a:xfrm>
          <a:prstGeom prst="curvedConnector4">
            <a:avLst>
              <a:gd name="adj1" fmla="val -95885"/>
              <a:gd name="adj2" fmla="val 24282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コネクタ: 曲線 95">
            <a:extLst>
              <a:ext uri="{FF2B5EF4-FFF2-40B4-BE49-F238E27FC236}">
                <a16:creationId xmlns:a16="http://schemas.microsoft.com/office/drawing/2014/main" id="{BC8BBF06-5EE4-880D-2C6E-848F093897A3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8242885" y="2830102"/>
            <a:ext cx="211863" cy="160055"/>
          </a:xfrm>
          <a:prstGeom prst="curvedConnector4">
            <a:avLst>
              <a:gd name="adj1" fmla="val -95885"/>
              <a:gd name="adj2" fmla="val 24282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コネクタ: 曲線 96">
            <a:extLst>
              <a:ext uri="{FF2B5EF4-FFF2-40B4-BE49-F238E27FC236}">
                <a16:creationId xmlns:a16="http://schemas.microsoft.com/office/drawing/2014/main" id="{C5EDF762-0456-B6C9-30E7-63AAB2815ADF}"/>
              </a:ext>
            </a:extLst>
          </p:cNvPr>
          <p:cNvCxnSpPr>
            <a:cxnSpLocks/>
            <a:stCxn id="11" idx="6"/>
            <a:endCxn id="12" idx="2"/>
          </p:cNvCxnSpPr>
          <p:nvPr/>
        </p:nvCxnSpPr>
        <p:spPr>
          <a:xfrm flipV="1">
            <a:off x="3707673" y="1928646"/>
            <a:ext cx="1734095" cy="4276961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コネクタ: 曲線 99">
            <a:extLst>
              <a:ext uri="{FF2B5EF4-FFF2-40B4-BE49-F238E27FC236}">
                <a16:creationId xmlns:a16="http://schemas.microsoft.com/office/drawing/2014/main" id="{BB55C4FD-6F96-DF2C-B246-D22B6D81E5A0}"/>
              </a:ext>
            </a:extLst>
          </p:cNvPr>
          <p:cNvCxnSpPr>
            <a:cxnSpLocks/>
            <a:stCxn id="16" idx="6"/>
            <a:endCxn id="17" idx="2"/>
          </p:cNvCxnSpPr>
          <p:nvPr/>
        </p:nvCxnSpPr>
        <p:spPr>
          <a:xfrm flipV="1">
            <a:off x="6534694" y="1928646"/>
            <a:ext cx="1734096" cy="4276961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8F3A6241-1322-27FC-F162-F4049E0714E0}"/>
              </a:ext>
            </a:extLst>
          </p:cNvPr>
          <p:cNvSpPr txBox="1"/>
          <p:nvPr/>
        </p:nvSpPr>
        <p:spPr>
          <a:xfrm>
            <a:off x="1654629" y="1667388"/>
            <a:ext cx="679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exec0</a:t>
            </a:r>
            <a:endParaRPr kumimoji="1" lang="ja-JP" altLang="en-US" sz="1400" dirty="0"/>
          </a:p>
        </p:txBody>
      </p:sp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2D947D48-6348-2778-C71A-0539335CA594}"/>
              </a:ext>
            </a:extLst>
          </p:cNvPr>
          <p:cNvSpPr txBox="1"/>
          <p:nvPr/>
        </p:nvSpPr>
        <p:spPr>
          <a:xfrm>
            <a:off x="4635698" y="1667387"/>
            <a:ext cx="679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exec1</a:t>
            </a:r>
            <a:endParaRPr kumimoji="1" lang="ja-JP" altLang="en-US" sz="1400" dirty="0"/>
          </a:p>
        </p:txBody>
      </p: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980C9E12-AB36-5DD4-9049-26E887957695}"/>
              </a:ext>
            </a:extLst>
          </p:cNvPr>
          <p:cNvSpPr txBox="1"/>
          <p:nvPr/>
        </p:nvSpPr>
        <p:spPr>
          <a:xfrm>
            <a:off x="7523120" y="1667386"/>
            <a:ext cx="679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exec2</a:t>
            </a:r>
            <a:endParaRPr kumimoji="1" lang="ja-JP" altLang="en-US" sz="1400" dirty="0"/>
          </a:p>
        </p:txBody>
      </p: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A257D117-A78F-B886-713C-9F0E079B761A}"/>
              </a:ext>
            </a:extLst>
          </p:cNvPr>
          <p:cNvSpPr txBox="1"/>
          <p:nvPr/>
        </p:nvSpPr>
        <p:spPr>
          <a:xfrm>
            <a:off x="3161210" y="3366283"/>
            <a:ext cx="932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pb0_en</a:t>
            </a:r>
            <a:endParaRPr kumimoji="1" lang="ja-JP" altLang="en-US" sz="1400" dirty="0"/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21B3A7E6-5C98-2471-991E-B426771CFF93}"/>
              </a:ext>
            </a:extLst>
          </p:cNvPr>
          <p:cNvSpPr txBox="1"/>
          <p:nvPr/>
        </p:nvSpPr>
        <p:spPr>
          <a:xfrm>
            <a:off x="5988230" y="3366283"/>
            <a:ext cx="932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pb1_en</a:t>
            </a:r>
            <a:endParaRPr kumimoji="1" lang="ja-JP" altLang="en-US" sz="1400" dirty="0"/>
          </a:p>
        </p:txBody>
      </p:sp>
      <p:sp>
        <p:nvSpPr>
          <p:cNvPr id="108" name="テキスト ボックス 107">
            <a:extLst>
              <a:ext uri="{FF2B5EF4-FFF2-40B4-BE49-F238E27FC236}">
                <a16:creationId xmlns:a16="http://schemas.microsoft.com/office/drawing/2014/main" id="{196FCBE3-5896-8164-48E8-287F9A579C35}"/>
              </a:ext>
            </a:extLst>
          </p:cNvPr>
          <p:cNvSpPr txBox="1"/>
          <p:nvPr/>
        </p:nvSpPr>
        <p:spPr>
          <a:xfrm>
            <a:off x="8815252" y="3366283"/>
            <a:ext cx="932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pb2_en</a:t>
            </a:r>
            <a:endParaRPr kumimoji="1" lang="ja-JP" altLang="en-US" sz="1400" dirty="0"/>
          </a:p>
        </p:txBody>
      </p:sp>
      <p:sp>
        <p:nvSpPr>
          <p:cNvPr id="110" name="テキスト ボックス 109">
            <a:extLst>
              <a:ext uri="{FF2B5EF4-FFF2-40B4-BE49-F238E27FC236}">
                <a16:creationId xmlns:a16="http://schemas.microsoft.com/office/drawing/2014/main" id="{CA55498A-D662-EB0A-FEDA-46095CA509BF}"/>
              </a:ext>
            </a:extLst>
          </p:cNvPr>
          <p:cNvSpPr txBox="1"/>
          <p:nvPr/>
        </p:nvSpPr>
        <p:spPr>
          <a:xfrm>
            <a:off x="3161210" y="4416322"/>
            <a:ext cx="932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rq0_en</a:t>
            </a:r>
            <a:endParaRPr kumimoji="1" lang="ja-JP" altLang="en-US" sz="1400" dirty="0"/>
          </a:p>
        </p:txBody>
      </p:sp>
      <p:sp>
        <p:nvSpPr>
          <p:cNvPr id="111" name="テキスト ボックス 110">
            <a:extLst>
              <a:ext uri="{FF2B5EF4-FFF2-40B4-BE49-F238E27FC236}">
                <a16:creationId xmlns:a16="http://schemas.microsoft.com/office/drawing/2014/main" id="{8E77B299-AC37-2500-EDFB-E82938503F62}"/>
              </a:ext>
            </a:extLst>
          </p:cNvPr>
          <p:cNvSpPr txBox="1"/>
          <p:nvPr/>
        </p:nvSpPr>
        <p:spPr>
          <a:xfrm>
            <a:off x="5988230" y="4416322"/>
            <a:ext cx="932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rq1_en</a:t>
            </a:r>
            <a:endParaRPr kumimoji="1" lang="ja-JP" altLang="en-US" sz="1400" dirty="0"/>
          </a:p>
        </p:txBody>
      </p:sp>
      <p:sp>
        <p:nvSpPr>
          <p:cNvPr id="113" name="テキスト ボックス 112">
            <a:extLst>
              <a:ext uri="{FF2B5EF4-FFF2-40B4-BE49-F238E27FC236}">
                <a16:creationId xmlns:a16="http://schemas.microsoft.com/office/drawing/2014/main" id="{F3F040BA-C2ED-BCFB-9DC4-11D62ADA6C9E}"/>
              </a:ext>
            </a:extLst>
          </p:cNvPr>
          <p:cNvSpPr txBox="1"/>
          <p:nvPr/>
        </p:nvSpPr>
        <p:spPr>
          <a:xfrm>
            <a:off x="3161210" y="5505352"/>
            <a:ext cx="932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wr0_en</a:t>
            </a:r>
            <a:endParaRPr kumimoji="1" lang="ja-JP" altLang="en-US" sz="1400" dirty="0"/>
          </a:p>
        </p:txBody>
      </p:sp>
      <p:sp>
        <p:nvSpPr>
          <p:cNvPr id="114" name="テキスト ボックス 113">
            <a:extLst>
              <a:ext uri="{FF2B5EF4-FFF2-40B4-BE49-F238E27FC236}">
                <a16:creationId xmlns:a16="http://schemas.microsoft.com/office/drawing/2014/main" id="{273E52C8-7B72-B32E-BC86-D22970537032}"/>
              </a:ext>
            </a:extLst>
          </p:cNvPr>
          <p:cNvSpPr txBox="1"/>
          <p:nvPr/>
        </p:nvSpPr>
        <p:spPr>
          <a:xfrm>
            <a:off x="5988230" y="5505352"/>
            <a:ext cx="932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wr1_en</a:t>
            </a:r>
            <a:endParaRPr kumimoji="1" lang="ja-JP" altLang="en-US" sz="1400" dirty="0"/>
          </a:p>
        </p:txBody>
      </p:sp>
      <p:sp>
        <p:nvSpPr>
          <p:cNvPr id="115" name="テキスト ボックス 114">
            <a:extLst>
              <a:ext uri="{FF2B5EF4-FFF2-40B4-BE49-F238E27FC236}">
                <a16:creationId xmlns:a16="http://schemas.microsoft.com/office/drawing/2014/main" id="{5F77F1FF-BA43-5CC6-62DF-FA1EF3BBD21E}"/>
              </a:ext>
            </a:extLst>
          </p:cNvPr>
          <p:cNvSpPr txBox="1"/>
          <p:nvPr/>
        </p:nvSpPr>
        <p:spPr>
          <a:xfrm>
            <a:off x="8748814" y="4391046"/>
            <a:ext cx="9993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err="1"/>
              <a:t>argmx_en</a:t>
            </a:r>
            <a:endParaRPr kumimoji="1" lang="ja-JP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テキスト ボックス 116">
                <a:extLst>
                  <a:ext uri="{FF2B5EF4-FFF2-40B4-BE49-F238E27FC236}">
                    <a16:creationId xmlns:a16="http://schemas.microsoft.com/office/drawing/2014/main" id="{6BA99272-BA5C-145C-71CF-EB270A4CDCC0}"/>
                  </a:ext>
                </a:extLst>
              </p:cNvPr>
              <p:cNvSpPr txBox="1"/>
              <p:nvPr/>
            </p:nvSpPr>
            <p:spPr>
              <a:xfrm>
                <a:off x="1827728" y="3014540"/>
                <a:ext cx="932870" cy="3125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ja-JP" sz="1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ja-JP" sz="1400" i="0" dirty="0">
                              <a:latin typeface="Cambria Math" panose="02040503050406030204" pitchFamily="18" charset="0"/>
                            </a:rPr>
                            <m:t>pb</m:t>
                          </m:r>
                          <m:r>
                            <a:rPr kumimoji="1" lang="en-US" altLang="ja-JP" sz="1400" i="0" dirty="0">
                              <a:latin typeface="Cambria Math" panose="02040503050406030204" pitchFamily="18" charset="0"/>
                            </a:rPr>
                            <m:t>0_</m:t>
                          </m:r>
                          <m:r>
                            <m:rPr>
                              <m:sty m:val="p"/>
                            </m:rPr>
                            <a:rPr kumimoji="1" lang="en-US" altLang="ja-JP" sz="1400" i="0" dirty="0">
                              <a:latin typeface="Cambria Math" panose="02040503050406030204" pitchFamily="18" charset="0"/>
                            </a:rPr>
                            <m:t>en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7" name="テキスト ボックス 116">
                <a:extLst>
                  <a:ext uri="{FF2B5EF4-FFF2-40B4-BE49-F238E27FC236}">
                    <a16:creationId xmlns:a16="http://schemas.microsoft.com/office/drawing/2014/main" id="{6BA99272-BA5C-145C-71CF-EB270A4CDC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728" y="3014540"/>
                <a:ext cx="932870" cy="312521"/>
              </a:xfrm>
              <a:prstGeom prst="rect">
                <a:avLst/>
              </a:prstGeom>
              <a:blipFill>
                <a:blip r:embed="rId2"/>
                <a:stretch>
                  <a:fillRect t="-3922" b="-176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テキスト ボックス 117">
                <a:extLst>
                  <a:ext uri="{FF2B5EF4-FFF2-40B4-BE49-F238E27FC236}">
                    <a16:creationId xmlns:a16="http://schemas.microsoft.com/office/drawing/2014/main" id="{AFA6A555-3DD1-2BEC-38B9-EE55401D3AB4}"/>
                  </a:ext>
                </a:extLst>
              </p:cNvPr>
              <p:cNvSpPr txBox="1"/>
              <p:nvPr/>
            </p:nvSpPr>
            <p:spPr>
              <a:xfrm>
                <a:off x="4668953" y="3014540"/>
                <a:ext cx="932870" cy="3125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ja-JP" sz="1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ja-JP" sz="1400" i="0" dirty="0">
                              <a:latin typeface="Cambria Math" panose="02040503050406030204" pitchFamily="18" charset="0"/>
                            </a:rPr>
                            <m:t>pb</m:t>
                          </m:r>
                          <m:r>
                            <a:rPr kumimoji="1" lang="en-US" altLang="ja-JP" sz="1400" b="0" i="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sz="1400" i="0" dirty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kumimoji="1" lang="en-US" altLang="ja-JP" sz="1400" i="0" dirty="0">
                              <a:latin typeface="Cambria Math" panose="02040503050406030204" pitchFamily="18" charset="0"/>
                            </a:rPr>
                            <m:t>en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8" name="テキスト ボックス 117">
                <a:extLst>
                  <a:ext uri="{FF2B5EF4-FFF2-40B4-BE49-F238E27FC236}">
                    <a16:creationId xmlns:a16="http://schemas.microsoft.com/office/drawing/2014/main" id="{AFA6A555-3DD1-2BEC-38B9-EE55401D3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8953" y="3014540"/>
                <a:ext cx="932870" cy="312521"/>
              </a:xfrm>
              <a:prstGeom prst="rect">
                <a:avLst/>
              </a:prstGeom>
              <a:blipFill>
                <a:blip r:embed="rId3"/>
                <a:stretch>
                  <a:fillRect t="-3922" b="-176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テキスト ボックス 118">
                <a:extLst>
                  <a:ext uri="{FF2B5EF4-FFF2-40B4-BE49-F238E27FC236}">
                    <a16:creationId xmlns:a16="http://schemas.microsoft.com/office/drawing/2014/main" id="{4B79288A-A622-9241-644B-8174B4F4FB23}"/>
                  </a:ext>
                </a:extLst>
              </p:cNvPr>
              <p:cNvSpPr txBox="1"/>
              <p:nvPr/>
            </p:nvSpPr>
            <p:spPr>
              <a:xfrm>
                <a:off x="7523120" y="3014540"/>
                <a:ext cx="932870" cy="3125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ja-JP" sz="1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ja-JP" sz="1400" i="0" dirty="0">
                              <a:latin typeface="Cambria Math" panose="02040503050406030204" pitchFamily="18" charset="0"/>
                            </a:rPr>
                            <m:t>pb</m:t>
                          </m:r>
                          <m:r>
                            <a:rPr kumimoji="1" lang="en-US" altLang="ja-JP" sz="1400" b="0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sz="1400" i="0" dirty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kumimoji="1" lang="en-US" altLang="ja-JP" sz="1400" i="0" dirty="0">
                              <a:latin typeface="Cambria Math" panose="02040503050406030204" pitchFamily="18" charset="0"/>
                            </a:rPr>
                            <m:t>en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9" name="テキスト ボックス 118">
                <a:extLst>
                  <a:ext uri="{FF2B5EF4-FFF2-40B4-BE49-F238E27FC236}">
                    <a16:creationId xmlns:a16="http://schemas.microsoft.com/office/drawing/2014/main" id="{4B79288A-A622-9241-644B-8174B4F4F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3120" y="3014540"/>
                <a:ext cx="932870" cy="312521"/>
              </a:xfrm>
              <a:prstGeom prst="rect">
                <a:avLst/>
              </a:prstGeom>
              <a:blipFill>
                <a:blip r:embed="rId4"/>
                <a:stretch>
                  <a:fillRect t="-3922" b="-176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テキスト ボックス 120">
                <a:extLst>
                  <a:ext uri="{FF2B5EF4-FFF2-40B4-BE49-F238E27FC236}">
                    <a16:creationId xmlns:a16="http://schemas.microsoft.com/office/drawing/2014/main" id="{E4323E93-FF89-5365-BDE7-AD0AD4C10074}"/>
                  </a:ext>
                </a:extLst>
              </p:cNvPr>
              <p:cNvSpPr txBox="1"/>
              <p:nvPr/>
            </p:nvSpPr>
            <p:spPr>
              <a:xfrm>
                <a:off x="1827728" y="4055436"/>
                <a:ext cx="932870" cy="3125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ja-JP" sz="1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ja-JP" sz="1400" b="0" i="0" dirty="0" smtClean="0">
                              <a:latin typeface="Cambria Math" panose="02040503050406030204" pitchFamily="18" charset="0"/>
                            </a:rPr>
                            <m:t>rq</m:t>
                          </m:r>
                          <m:r>
                            <a:rPr kumimoji="1" lang="en-US" altLang="ja-JP" sz="1400" i="0" dirty="0">
                              <a:latin typeface="Cambria Math" panose="02040503050406030204" pitchFamily="18" charset="0"/>
                            </a:rPr>
                            <m:t>0_</m:t>
                          </m:r>
                          <m:r>
                            <m:rPr>
                              <m:sty m:val="p"/>
                            </m:rPr>
                            <a:rPr kumimoji="1" lang="en-US" altLang="ja-JP" sz="1400" i="0" dirty="0">
                              <a:latin typeface="Cambria Math" panose="02040503050406030204" pitchFamily="18" charset="0"/>
                            </a:rPr>
                            <m:t>en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1" name="テキスト ボックス 120">
                <a:extLst>
                  <a:ext uri="{FF2B5EF4-FFF2-40B4-BE49-F238E27FC236}">
                    <a16:creationId xmlns:a16="http://schemas.microsoft.com/office/drawing/2014/main" id="{E4323E93-FF89-5365-BDE7-AD0AD4C10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728" y="4055436"/>
                <a:ext cx="932870" cy="312521"/>
              </a:xfrm>
              <a:prstGeom prst="rect">
                <a:avLst/>
              </a:prstGeom>
              <a:blipFill>
                <a:blip r:embed="rId5"/>
                <a:stretch>
                  <a:fillRect t="-3846" b="-153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テキスト ボックス 121">
                <a:extLst>
                  <a:ext uri="{FF2B5EF4-FFF2-40B4-BE49-F238E27FC236}">
                    <a16:creationId xmlns:a16="http://schemas.microsoft.com/office/drawing/2014/main" id="{3C52FB52-4590-7BDD-2950-62C2C57FF3A4}"/>
                  </a:ext>
                </a:extLst>
              </p:cNvPr>
              <p:cNvSpPr txBox="1"/>
              <p:nvPr/>
            </p:nvSpPr>
            <p:spPr>
              <a:xfrm>
                <a:off x="4668953" y="4055436"/>
                <a:ext cx="932870" cy="3125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ja-JP" sz="1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ja-JP" sz="1400" b="0" i="0" dirty="0" smtClean="0">
                              <a:latin typeface="Cambria Math" panose="02040503050406030204" pitchFamily="18" charset="0"/>
                            </a:rPr>
                            <m:t>rq</m:t>
                          </m:r>
                          <m:r>
                            <a:rPr kumimoji="1" lang="en-US" altLang="ja-JP" sz="1400" b="0" i="0" dirty="0" smtClean="0">
                              <a:latin typeface="Cambria Math" panose="02040503050406030204" pitchFamily="18" charset="0"/>
                            </a:rPr>
                            <m:t>1_</m:t>
                          </m:r>
                          <m:r>
                            <m:rPr>
                              <m:sty m:val="p"/>
                            </m:rPr>
                            <a:rPr kumimoji="1" lang="en-US" altLang="ja-JP" sz="1400" i="0" dirty="0">
                              <a:latin typeface="Cambria Math" panose="02040503050406030204" pitchFamily="18" charset="0"/>
                            </a:rPr>
                            <m:t>en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2" name="テキスト ボックス 121">
                <a:extLst>
                  <a:ext uri="{FF2B5EF4-FFF2-40B4-BE49-F238E27FC236}">
                    <a16:creationId xmlns:a16="http://schemas.microsoft.com/office/drawing/2014/main" id="{3C52FB52-4590-7BDD-2950-62C2C57FF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8953" y="4055436"/>
                <a:ext cx="932870" cy="312521"/>
              </a:xfrm>
              <a:prstGeom prst="rect">
                <a:avLst/>
              </a:prstGeom>
              <a:blipFill>
                <a:blip r:embed="rId6"/>
                <a:stretch>
                  <a:fillRect t="-3846" b="-153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テキスト ボックス 123">
                <a:extLst>
                  <a:ext uri="{FF2B5EF4-FFF2-40B4-BE49-F238E27FC236}">
                    <a16:creationId xmlns:a16="http://schemas.microsoft.com/office/drawing/2014/main" id="{39F12277-E2F9-A19E-5434-DFEFE483FA7D}"/>
                  </a:ext>
                </a:extLst>
              </p:cNvPr>
              <p:cNvSpPr txBox="1"/>
              <p:nvPr/>
            </p:nvSpPr>
            <p:spPr>
              <a:xfrm>
                <a:off x="1827728" y="5134246"/>
                <a:ext cx="932870" cy="3125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ja-JP" sz="1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ja-JP" sz="1400" b="0" i="0" dirty="0" smtClean="0">
                              <a:latin typeface="Cambria Math" panose="02040503050406030204" pitchFamily="18" charset="0"/>
                            </a:rPr>
                            <m:t>wr</m:t>
                          </m:r>
                          <m:r>
                            <a:rPr kumimoji="1" lang="en-US" altLang="ja-JP" sz="1400" i="0" dirty="0">
                              <a:latin typeface="Cambria Math" panose="02040503050406030204" pitchFamily="18" charset="0"/>
                            </a:rPr>
                            <m:t>0_</m:t>
                          </m:r>
                          <m:r>
                            <m:rPr>
                              <m:sty m:val="p"/>
                            </m:rPr>
                            <a:rPr kumimoji="1" lang="en-US" altLang="ja-JP" sz="1400" i="0" dirty="0">
                              <a:latin typeface="Cambria Math" panose="02040503050406030204" pitchFamily="18" charset="0"/>
                            </a:rPr>
                            <m:t>en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4" name="テキスト ボックス 123">
                <a:extLst>
                  <a:ext uri="{FF2B5EF4-FFF2-40B4-BE49-F238E27FC236}">
                    <a16:creationId xmlns:a16="http://schemas.microsoft.com/office/drawing/2014/main" id="{39F12277-E2F9-A19E-5434-DFEFE483FA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728" y="5134246"/>
                <a:ext cx="932870" cy="312521"/>
              </a:xfrm>
              <a:prstGeom prst="rect">
                <a:avLst/>
              </a:prstGeom>
              <a:blipFill>
                <a:blip r:embed="rId7"/>
                <a:stretch>
                  <a:fillRect t="-5882" b="-176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テキスト ボックス 124">
                <a:extLst>
                  <a:ext uri="{FF2B5EF4-FFF2-40B4-BE49-F238E27FC236}">
                    <a16:creationId xmlns:a16="http://schemas.microsoft.com/office/drawing/2014/main" id="{BBBFC8C9-4481-28C2-3F30-DDDCB3077D04}"/>
                  </a:ext>
                </a:extLst>
              </p:cNvPr>
              <p:cNvSpPr txBox="1"/>
              <p:nvPr/>
            </p:nvSpPr>
            <p:spPr>
              <a:xfrm>
                <a:off x="4668953" y="5134246"/>
                <a:ext cx="932870" cy="3125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ja-JP" sz="1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ja-JP" sz="1400" b="0" i="0" dirty="0" smtClean="0">
                              <a:latin typeface="Cambria Math" panose="02040503050406030204" pitchFamily="18" charset="0"/>
                            </a:rPr>
                            <m:t>wr</m:t>
                          </m:r>
                          <m:r>
                            <a:rPr kumimoji="1" lang="en-US" altLang="ja-JP" sz="1400" b="0" i="0" dirty="0" smtClean="0">
                              <a:latin typeface="Cambria Math" panose="02040503050406030204" pitchFamily="18" charset="0"/>
                            </a:rPr>
                            <m:t>1_</m:t>
                          </m:r>
                          <m:r>
                            <m:rPr>
                              <m:sty m:val="p"/>
                            </m:rPr>
                            <a:rPr kumimoji="1" lang="en-US" altLang="ja-JP" sz="1400" i="0" dirty="0">
                              <a:latin typeface="Cambria Math" panose="02040503050406030204" pitchFamily="18" charset="0"/>
                            </a:rPr>
                            <m:t>en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5" name="テキスト ボックス 124">
                <a:extLst>
                  <a:ext uri="{FF2B5EF4-FFF2-40B4-BE49-F238E27FC236}">
                    <a16:creationId xmlns:a16="http://schemas.microsoft.com/office/drawing/2014/main" id="{BBBFC8C9-4481-28C2-3F30-DDDCB3077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8953" y="5134246"/>
                <a:ext cx="932870" cy="312521"/>
              </a:xfrm>
              <a:prstGeom prst="rect">
                <a:avLst/>
              </a:prstGeom>
              <a:blipFill>
                <a:blip r:embed="rId8"/>
                <a:stretch>
                  <a:fillRect t="-5882" b="-176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テキスト ボックス 125">
                <a:extLst>
                  <a:ext uri="{FF2B5EF4-FFF2-40B4-BE49-F238E27FC236}">
                    <a16:creationId xmlns:a16="http://schemas.microsoft.com/office/drawing/2014/main" id="{8D1F508D-56B8-ACEB-29F6-9F745174277D}"/>
                  </a:ext>
                </a:extLst>
              </p:cNvPr>
              <p:cNvSpPr txBox="1"/>
              <p:nvPr/>
            </p:nvSpPr>
            <p:spPr>
              <a:xfrm>
                <a:off x="7456682" y="4019940"/>
                <a:ext cx="932870" cy="3125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ja-JP" sz="1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ja-JP" sz="1400" b="0" i="0" dirty="0" smtClean="0">
                              <a:latin typeface="Cambria Math" panose="02040503050406030204" pitchFamily="18" charset="0"/>
                            </a:rPr>
                            <m:t>argmx</m:t>
                          </m:r>
                          <m:r>
                            <a:rPr kumimoji="1" lang="en-US" altLang="ja-JP" sz="1400" i="0" dirty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kumimoji="1" lang="en-US" altLang="ja-JP" sz="1400" i="0" dirty="0">
                              <a:latin typeface="Cambria Math" panose="02040503050406030204" pitchFamily="18" charset="0"/>
                            </a:rPr>
                            <m:t>en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6" name="テキスト ボックス 125">
                <a:extLst>
                  <a:ext uri="{FF2B5EF4-FFF2-40B4-BE49-F238E27FC236}">
                    <a16:creationId xmlns:a16="http://schemas.microsoft.com/office/drawing/2014/main" id="{8D1F508D-56B8-ACEB-29F6-9F74517427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6682" y="4019940"/>
                <a:ext cx="932870" cy="312521"/>
              </a:xfrm>
              <a:prstGeom prst="rect">
                <a:avLst/>
              </a:prstGeom>
              <a:blipFill>
                <a:blip r:embed="rId9"/>
                <a:stretch>
                  <a:fillRect t="-3846" r="-5229" b="-153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テキスト ボックス 129">
                <a:extLst>
                  <a:ext uri="{FF2B5EF4-FFF2-40B4-BE49-F238E27FC236}">
                    <a16:creationId xmlns:a16="http://schemas.microsoft.com/office/drawing/2014/main" id="{CD501816-EA32-D3ED-D6BF-AFAFD1273541}"/>
                  </a:ext>
                </a:extLst>
              </p:cNvPr>
              <p:cNvSpPr txBox="1"/>
              <p:nvPr/>
            </p:nvSpPr>
            <p:spPr>
              <a:xfrm>
                <a:off x="9908179" y="1837166"/>
                <a:ext cx="1369414" cy="117737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b="1" dirty="0"/>
                  <a:t>MAC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ja-JP" altLang="en-US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ja-JP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kumimoji="1" lang="en-US" altLang="ja-JP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ja-JP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kumimoji="1" lang="en-US" altLang="ja-JP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ja-JP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kumimoji="1" lang="en-US" altLang="ja-JP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kumimoji="1" lang="en-US" altLang="ja-JP" b="1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kumimoji="1" lang="en-US" altLang="ja-JP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kumimoji="1" lang="en-US" altLang="ja-JP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ja-JP" altLang="en-US" b="1" dirty="0"/>
              </a:p>
            </p:txBody>
          </p:sp>
        </mc:Choice>
        <mc:Fallback xmlns="">
          <p:sp>
            <p:nvSpPr>
              <p:cNvPr id="130" name="テキスト ボックス 129">
                <a:extLst>
                  <a:ext uri="{FF2B5EF4-FFF2-40B4-BE49-F238E27FC236}">
                    <a16:creationId xmlns:a16="http://schemas.microsoft.com/office/drawing/2014/main" id="{CD501816-EA32-D3ED-D6BF-AFAFD1273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8179" y="1837166"/>
                <a:ext cx="1369414" cy="1177374"/>
              </a:xfrm>
              <a:prstGeom prst="rect">
                <a:avLst/>
              </a:prstGeom>
              <a:blipFill>
                <a:blip r:embed="rId10"/>
                <a:stretch>
                  <a:fillRect t="-20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テキスト ボックス 131">
                <a:extLst>
                  <a:ext uri="{FF2B5EF4-FFF2-40B4-BE49-F238E27FC236}">
                    <a16:creationId xmlns:a16="http://schemas.microsoft.com/office/drawing/2014/main" id="{08626DFD-8619-756C-D5F2-E6EB60A4B75F}"/>
                  </a:ext>
                </a:extLst>
              </p:cNvPr>
              <p:cNvSpPr txBox="1"/>
              <p:nvPr/>
            </p:nvSpPr>
            <p:spPr>
              <a:xfrm>
                <a:off x="9674134" y="3416112"/>
                <a:ext cx="1992090" cy="115409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b="1" dirty="0"/>
                  <a:t>BIAS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ja-JP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kumimoji="1" lang="en-US" altLang="ja-JP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kumimoji="1" lang="ja-JP" altLang="en-US" b="1" dirty="0"/>
              </a:p>
            </p:txBody>
          </p:sp>
        </mc:Choice>
        <mc:Fallback xmlns="">
          <p:sp>
            <p:nvSpPr>
              <p:cNvPr id="132" name="テキスト ボックス 131">
                <a:extLst>
                  <a:ext uri="{FF2B5EF4-FFF2-40B4-BE49-F238E27FC236}">
                    <a16:creationId xmlns:a16="http://schemas.microsoft.com/office/drawing/2014/main" id="{08626DFD-8619-756C-D5F2-E6EB60A4B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4134" y="3416112"/>
                <a:ext cx="1992090" cy="1154098"/>
              </a:xfrm>
              <a:prstGeom prst="rect">
                <a:avLst/>
              </a:prstGeom>
              <a:blipFill>
                <a:blip r:embed="rId11"/>
                <a:stretch>
                  <a:fillRect t="-210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テキスト ボックス 140">
                <a:extLst>
                  <a:ext uri="{FF2B5EF4-FFF2-40B4-BE49-F238E27FC236}">
                    <a16:creationId xmlns:a16="http://schemas.microsoft.com/office/drawing/2014/main" id="{9E3D674C-CB8D-D4B5-C614-866BA3DD61B6}"/>
                  </a:ext>
                </a:extLst>
              </p:cNvPr>
              <p:cNvSpPr txBox="1"/>
              <p:nvPr/>
            </p:nvSpPr>
            <p:spPr>
              <a:xfrm>
                <a:off x="9674134" y="4818357"/>
                <a:ext cx="1992090" cy="64633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b="1" dirty="0"/>
                  <a:t>REQUANT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m:rPr>
                          <m:sty m:val="p"/>
                        </m:rP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bit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b="1" i="1" smtClean="0">
                          <a:latin typeface="Cambria Math" panose="02040503050406030204" pitchFamily="18" charset="0"/>
                        </a:rPr>
                        <m:t>𝒕𝒐</m:t>
                      </m:r>
                      <m:r>
                        <a:rPr kumimoji="1" lang="en-US" altLang="ja-JP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kumimoji="1" lang="en-US" altLang="ja-JP" b="1" i="1" smtClean="0">
                          <a:latin typeface="Cambria Math" panose="02040503050406030204" pitchFamily="18" charset="0"/>
                        </a:rPr>
                        <m:t>𝒃𝒊𝒕</m:t>
                      </m:r>
                    </m:oMath>
                  </m:oMathPara>
                </a14:m>
                <a:endParaRPr kumimoji="1" lang="ja-JP" altLang="en-US" b="1" dirty="0"/>
              </a:p>
            </p:txBody>
          </p:sp>
        </mc:Choice>
        <mc:Fallback xmlns="">
          <p:sp>
            <p:nvSpPr>
              <p:cNvPr id="141" name="テキスト ボックス 140">
                <a:extLst>
                  <a:ext uri="{FF2B5EF4-FFF2-40B4-BE49-F238E27FC236}">
                    <a16:creationId xmlns:a16="http://schemas.microsoft.com/office/drawing/2014/main" id="{9E3D674C-CB8D-D4B5-C614-866BA3DD6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4134" y="4818357"/>
                <a:ext cx="1992090" cy="646331"/>
              </a:xfrm>
              <a:prstGeom prst="rect">
                <a:avLst/>
              </a:prstGeom>
              <a:blipFill>
                <a:blip r:embed="rId12"/>
                <a:stretch>
                  <a:fillRect t="-377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テキスト ボックス 144">
            <a:extLst>
              <a:ext uri="{FF2B5EF4-FFF2-40B4-BE49-F238E27FC236}">
                <a16:creationId xmlns:a16="http://schemas.microsoft.com/office/drawing/2014/main" id="{3E39F341-327B-91CA-5C90-E2F2F7A12811}"/>
              </a:ext>
            </a:extLst>
          </p:cNvPr>
          <p:cNvSpPr txBox="1"/>
          <p:nvPr/>
        </p:nvSpPr>
        <p:spPr>
          <a:xfrm>
            <a:off x="8782033" y="5471049"/>
            <a:ext cx="9993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done</a:t>
            </a:r>
            <a:endParaRPr kumimoji="1" lang="ja-JP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テキスト ボックス 145">
                <a:extLst>
                  <a:ext uri="{FF2B5EF4-FFF2-40B4-BE49-F238E27FC236}">
                    <a16:creationId xmlns:a16="http://schemas.microsoft.com/office/drawing/2014/main" id="{A637A7F6-5E09-3767-C505-D11C000A5D11}"/>
                  </a:ext>
                </a:extLst>
              </p:cNvPr>
              <p:cNvSpPr txBox="1"/>
              <p:nvPr/>
            </p:nvSpPr>
            <p:spPr>
              <a:xfrm>
                <a:off x="7436028" y="5069725"/>
                <a:ext cx="932870" cy="3125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ja-JP" sz="1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ja-JP" sz="1400" b="0" i="0" dirty="0" smtClean="0">
                              <a:latin typeface="Cambria Math" panose="02040503050406030204" pitchFamily="18" charset="0"/>
                            </a:rPr>
                            <m:t>done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6" name="テキスト ボックス 145">
                <a:extLst>
                  <a:ext uri="{FF2B5EF4-FFF2-40B4-BE49-F238E27FC236}">
                    <a16:creationId xmlns:a16="http://schemas.microsoft.com/office/drawing/2014/main" id="{A637A7F6-5E09-3767-C505-D11C000A5D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6028" y="5069725"/>
                <a:ext cx="932870" cy="312521"/>
              </a:xfrm>
              <a:prstGeom prst="rect">
                <a:avLst/>
              </a:prstGeom>
              <a:blipFill>
                <a:blip r:embed="rId13"/>
                <a:stretch>
                  <a:fillRect t="-3922" b="-176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2787513"/>
      </p:ext>
    </p:extLst>
  </p:cSld>
  <p:clrMapOvr>
    <a:masterClrMapping/>
  </p:clrMapOvr>
</p:sld>
</file>

<file path=ppt/theme/theme1.xml><?xml version="1.0" encoding="utf-8"?>
<a:theme xmlns:a="http://schemas.openxmlformats.org/drawingml/2006/main" name="lab_example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2">
      <a:majorFont>
        <a:latin typeface="Segoe UI"/>
        <a:ea typeface="Meiryo UI"/>
        <a:cs typeface=""/>
      </a:majorFont>
      <a:minorFont>
        <a:latin typeface="Segoe UI"/>
        <a:ea typeface="Meiryo U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  <a:headEnd type="none" w="med" len="med"/>
          <a:tailEnd type="triangle" w="med" len="med"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lab_example" id="{8E190DFB-804B-4168-BA30-C053E55BED11}" vid="{F681CDC7-B083-4633-84C4-2BABAEC718C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lab_example</Template>
  <TotalTime>3766</TotalTime>
  <Words>387</Words>
  <Application>Microsoft Office PowerPoint</Application>
  <PresentationFormat>ワイド画面</PresentationFormat>
  <Paragraphs>123</Paragraphs>
  <Slides>9</Slides>
  <Notes>0</Notes>
  <HiddenSlides>3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6" baseType="lpstr">
      <vt:lpstr>Meiryo UI</vt:lpstr>
      <vt:lpstr>游ゴシック</vt:lpstr>
      <vt:lpstr>Arial</vt:lpstr>
      <vt:lpstr>Cambria Math</vt:lpstr>
      <vt:lpstr>Segoe UI</vt:lpstr>
      <vt:lpstr>Wingdings</vt:lpstr>
      <vt:lpstr>lab_example</vt:lpstr>
      <vt:lpstr>日報</vt:lpstr>
      <vt:lpstr>MLP</vt:lpstr>
      <vt:lpstr>MLP Structure</vt:lpstr>
      <vt:lpstr>Target Clock Frequency: 133MHz</vt:lpstr>
      <vt:lpstr>MNIST推論アクセラレータ</vt:lpstr>
      <vt:lpstr>プロジェクト概要</vt:lpstr>
      <vt:lpstr>ネットワーク仕様</vt:lpstr>
      <vt:lpstr>量子化仕様</vt:lpstr>
      <vt:lpstr>FSM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just an example. You can use your preferred template. </dc:title>
  <dc:creator>Yoichi Tomioka</dc:creator>
  <cp:lastModifiedBy>Kyoji AWAKI</cp:lastModifiedBy>
  <cp:revision>21</cp:revision>
  <dcterms:created xsi:type="dcterms:W3CDTF">2024-04-24T09:17:26Z</dcterms:created>
  <dcterms:modified xsi:type="dcterms:W3CDTF">2026-01-15T08:19:51Z</dcterms:modified>
</cp:coreProperties>
</file>