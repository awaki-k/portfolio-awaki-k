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61" r:id="rId5"/>
    <p:sldId id="260" r:id="rId6"/>
    <p:sldId id="262" r:id="rId7"/>
    <p:sldId id="263" r:id="rId8"/>
    <p:sldId id="264" r:id="rId9"/>
    <p:sldId id="265" r:id="rId10"/>
    <p:sldId id="266" r:id="rId11"/>
    <p:sldId id="267" r:id="rId12"/>
    <p:sldId id="268" r:id="rId13"/>
    <p:sldId id="269" r:id="rId14"/>
    <p:sldId id="270" r:id="rId15"/>
    <p:sldId id="283" r:id="rId16"/>
    <p:sldId id="282" r:id="rId17"/>
    <p:sldId id="272" r:id="rId18"/>
    <p:sldId id="273" r:id="rId19"/>
    <p:sldId id="274"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E6EFAF-A418-421F-BDE1-8B290D61BF42}" v="48" dt="2025-05-29T13:26:33.84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84" autoAdjust="0"/>
    <p:restoredTop sz="96242" autoAdjust="0"/>
  </p:normalViewPr>
  <p:slideViewPr>
    <p:cSldViewPr snapToGrid="0">
      <p:cViewPr varScale="1">
        <p:scale>
          <a:sx n="110" d="100"/>
          <a:sy n="110" d="100"/>
        </p:scale>
        <p:origin x="14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oji AWAKI" userId="0a969a619267a15f" providerId="LiveId" clId="{A2E6EFAF-A418-421F-BDE1-8B290D61BF42}"/>
    <pc:docChg chg="undo custSel addSld delSld modSld">
      <pc:chgData name="Kyoji AWAKI" userId="0a969a619267a15f" providerId="LiveId" clId="{A2E6EFAF-A418-421F-BDE1-8B290D61BF42}" dt="2025-05-29T13:26:47.947" v="1069" actId="1076"/>
      <pc:docMkLst>
        <pc:docMk/>
      </pc:docMkLst>
      <pc:sldChg chg="modNotesTx">
        <pc:chgData name="Kyoji AWAKI" userId="0a969a619267a15f" providerId="LiveId" clId="{A2E6EFAF-A418-421F-BDE1-8B290D61BF42}" dt="2025-05-27T03:33:04.615" v="194" actId="20577"/>
        <pc:sldMkLst>
          <pc:docMk/>
          <pc:sldMk cId="1971009235" sldId="256"/>
        </pc:sldMkLst>
      </pc:sldChg>
      <pc:sldChg chg="modNotesTx">
        <pc:chgData name="Kyoji AWAKI" userId="0a969a619267a15f" providerId="LiveId" clId="{A2E6EFAF-A418-421F-BDE1-8B290D61BF42}" dt="2025-05-27T03:51:52.628" v="364" actId="20577"/>
        <pc:sldMkLst>
          <pc:docMk/>
          <pc:sldMk cId="1053642155" sldId="257"/>
        </pc:sldMkLst>
      </pc:sldChg>
      <pc:sldChg chg="modNotesTx">
        <pc:chgData name="Kyoji AWAKI" userId="0a969a619267a15f" providerId="LiveId" clId="{A2E6EFAF-A418-421F-BDE1-8B290D61BF42}" dt="2025-05-27T03:33:36.280" v="198" actId="20577"/>
        <pc:sldMkLst>
          <pc:docMk/>
          <pc:sldMk cId="47706461" sldId="258"/>
        </pc:sldMkLst>
      </pc:sldChg>
      <pc:sldChg chg="addSp delSp modSp mod modNotesTx">
        <pc:chgData name="Kyoji AWAKI" userId="0a969a619267a15f" providerId="LiveId" clId="{A2E6EFAF-A418-421F-BDE1-8B290D61BF42}" dt="2025-05-29T13:26:47.947" v="1069" actId="1076"/>
        <pc:sldMkLst>
          <pc:docMk/>
          <pc:sldMk cId="3882138522" sldId="260"/>
        </pc:sldMkLst>
        <pc:spChg chg="add del mod">
          <ac:chgData name="Kyoji AWAKI" userId="0a969a619267a15f" providerId="LiveId" clId="{A2E6EFAF-A418-421F-BDE1-8B290D61BF42}" dt="2025-05-29T13:14:47.595" v="494" actId="478"/>
          <ac:spMkLst>
            <pc:docMk/>
            <pc:sldMk cId="3882138522" sldId="260"/>
            <ac:spMk id="4" creationId="{CA2104F0-B27F-37AF-38C4-4C15CA49E997}"/>
          </ac:spMkLst>
        </pc:spChg>
        <pc:spChg chg="add mod">
          <ac:chgData name="Kyoji AWAKI" userId="0a969a619267a15f" providerId="LiveId" clId="{A2E6EFAF-A418-421F-BDE1-8B290D61BF42}" dt="2025-05-29T13:26:47.947" v="1069" actId="1076"/>
          <ac:spMkLst>
            <pc:docMk/>
            <pc:sldMk cId="3882138522" sldId="260"/>
            <ac:spMk id="5" creationId="{3BE7CC70-C7EF-3512-44FB-EAD90AB338FB}"/>
          </ac:spMkLst>
        </pc:spChg>
        <pc:spChg chg="add mod">
          <ac:chgData name="Kyoji AWAKI" userId="0a969a619267a15f" providerId="LiveId" clId="{A2E6EFAF-A418-421F-BDE1-8B290D61BF42}" dt="2025-05-29T13:26:47.947" v="1069" actId="1076"/>
          <ac:spMkLst>
            <pc:docMk/>
            <pc:sldMk cId="3882138522" sldId="260"/>
            <ac:spMk id="6" creationId="{0E319A80-0DB6-44DF-DCE0-9EE0CE70D0CC}"/>
          </ac:spMkLst>
        </pc:spChg>
        <pc:spChg chg="add mod">
          <ac:chgData name="Kyoji AWAKI" userId="0a969a619267a15f" providerId="LiveId" clId="{A2E6EFAF-A418-421F-BDE1-8B290D61BF42}" dt="2025-05-29T13:22:44.492" v="953" actId="1076"/>
          <ac:spMkLst>
            <pc:docMk/>
            <pc:sldMk cId="3882138522" sldId="260"/>
            <ac:spMk id="7" creationId="{E00FCEBB-123F-1B04-766D-708E90B4F844}"/>
          </ac:spMkLst>
        </pc:spChg>
        <pc:spChg chg="add mod">
          <ac:chgData name="Kyoji AWAKI" userId="0a969a619267a15f" providerId="LiveId" clId="{A2E6EFAF-A418-421F-BDE1-8B290D61BF42}" dt="2025-05-29T13:22:44.492" v="953" actId="1076"/>
          <ac:spMkLst>
            <pc:docMk/>
            <pc:sldMk cId="3882138522" sldId="260"/>
            <ac:spMk id="8" creationId="{CECE465C-89CA-0F4D-7D4C-D4A8E180C7A8}"/>
          </ac:spMkLst>
        </pc:spChg>
        <pc:spChg chg="add mod">
          <ac:chgData name="Kyoji AWAKI" userId="0a969a619267a15f" providerId="LiveId" clId="{A2E6EFAF-A418-421F-BDE1-8B290D61BF42}" dt="2025-05-29T13:22:44.492" v="953" actId="1076"/>
          <ac:spMkLst>
            <pc:docMk/>
            <pc:sldMk cId="3882138522" sldId="260"/>
            <ac:spMk id="9" creationId="{CC3BA68F-16E8-6189-A4BA-EADDE74DF9AC}"/>
          </ac:spMkLst>
        </pc:spChg>
        <pc:spChg chg="add mod">
          <ac:chgData name="Kyoji AWAKI" userId="0a969a619267a15f" providerId="LiveId" clId="{A2E6EFAF-A418-421F-BDE1-8B290D61BF42}" dt="2025-05-29T13:22:44.492" v="953" actId="1076"/>
          <ac:spMkLst>
            <pc:docMk/>
            <pc:sldMk cId="3882138522" sldId="260"/>
            <ac:spMk id="10" creationId="{1DEFD13B-DC86-14AD-F6CE-B967D6900B6F}"/>
          </ac:spMkLst>
        </pc:spChg>
        <pc:spChg chg="add mod">
          <ac:chgData name="Kyoji AWAKI" userId="0a969a619267a15f" providerId="LiveId" clId="{A2E6EFAF-A418-421F-BDE1-8B290D61BF42}" dt="2025-05-29T13:22:44.492" v="953" actId="1076"/>
          <ac:spMkLst>
            <pc:docMk/>
            <pc:sldMk cId="3882138522" sldId="260"/>
            <ac:spMk id="11" creationId="{594EBC95-1F9A-4E74-DE6E-93DD5F10049D}"/>
          </ac:spMkLst>
        </pc:spChg>
        <pc:spChg chg="add mod">
          <ac:chgData name="Kyoji AWAKI" userId="0a969a619267a15f" providerId="LiveId" clId="{A2E6EFAF-A418-421F-BDE1-8B290D61BF42}" dt="2025-05-29T13:22:44.492" v="953" actId="1076"/>
          <ac:spMkLst>
            <pc:docMk/>
            <pc:sldMk cId="3882138522" sldId="260"/>
            <ac:spMk id="12" creationId="{6818522D-F683-9C85-F8B3-7700E3E9FA69}"/>
          </ac:spMkLst>
        </pc:spChg>
        <pc:spChg chg="add mod">
          <ac:chgData name="Kyoji AWAKI" userId="0a969a619267a15f" providerId="LiveId" clId="{A2E6EFAF-A418-421F-BDE1-8B290D61BF42}" dt="2025-05-29T13:22:44.492" v="953" actId="1076"/>
          <ac:spMkLst>
            <pc:docMk/>
            <pc:sldMk cId="3882138522" sldId="260"/>
            <ac:spMk id="13" creationId="{DC61D6E4-37CB-B158-20B5-170B7374E39E}"/>
          </ac:spMkLst>
        </pc:spChg>
        <pc:spChg chg="add mod">
          <ac:chgData name="Kyoji AWAKI" userId="0a969a619267a15f" providerId="LiveId" clId="{A2E6EFAF-A418-421F-BDE1-8B290D61BF42}" dt="2025-05-29T13:24:23.651" v="999" actId="1035"/>
          <ac:spMkLst>
            <pc:docMk/>
            <pc:sldMk cId="3882138522" sldId="260"/>
            <ac:spMk id="14" creationId="{09A1A712-A75A-4969-4E2C-4C3C967E594F}"/>
          </ac:spMkLst>
        </pc:spChg>
        <pc:spChg chg="add mod">
          <ac:chgData name="Kyoji AWAKI" userId="0a969a619267a15f" providerId="LiveId" clId="{A2E6EFAF-A418-421F-BDE1-8B290D61BF42}" dt="2025-05-29T13:24:33.095" v="1003" actId="1076"/>
          <ac:spMkLst>
            <pc:docMk/>
            <pc:sldMk cId="3882138522" sldId="260"/>
            <ac:spMk id="15" creationId="{6A352411-452F-7A9B-941E-755F9F126B3B}"/>
          </ac:spMkLst>
        </pc:spChg>
        <pc:spChg chg="add mod">
          <ac:chgData name="Kyoji AWAKI" userId="0a969a619267a15f" providerId="LiveId" clId="{A2E6EFAF-A418-421F-BDE1-8B290D61BF42}" dt="2025-05-29T13:23:27.605" v="962" actId="1076"/>
          <ac:spMkLst>
            <pc:docMk/>
            <pc:sldMk cId="3882138522" sldId="260"/>
            <ac:spMk id="16" creationId="{90E2F2FC-074B-7BFE-AF6F-078E2AB1BE04}"/>
          </ac:spMkLst>
        </pc:spChg>
        <pc:spChg chg="add mod">
          <ac:chgData name="Kyoji AWAKI" userId="0a969a619267a15f" providerId="LiveId" clId="{A2E6EFAF-A418-421F-BDE1-8B290D61BF42}" dt="2025-05-29T13:24:42.902" v="1010" actId="1076"/>
          <ac:spMkLst>
            <pc:docMk/>
            <pc:sldMk cId="3882138522" sldId="260"/>
            <ac:spMk id="17" creationId="{E0454295-FEE2-EE71-BF6B-22D1968268D5}"/>
          </ac:spMkLst>
        </pc:spChg>
        <pc:spChg chg="add mod">
          <ac:chgData name="Kyoji AWAKI" userId="0a969a619267a15f" providerId="LiveId" clId="{A2E6EFAF-A418-421F-BDE1-8B290D61BF42}" dt="2025-05-29T13:23:41.326" v="966" actId="1076"/>
          <ac:spMkLst>
            <pc:docMk/>
            <pc:sldMk cId="3882138522" sldId="260"/>
            <ac:spMk id="18" creationId="{38058A5A-0CBB-6DEB-F64B-6DAB32612479}"/>
          </ac:spMkLst>
        </pc:spChg>
        <pc:spChg chg="add mod">
          <ac:chgData name="Kyoji AWAKI" userId="0a969a619267a15f" providerId="LiveId" clId="{A2E6EFAF-A418-421F-BDE1-8B290D61BF42}" dt="2025-05-29T13:23:41.326" v="966" actId="1076"/>
          <ac:spMkLst>
            <pc:docMk/>
            <pc:sldMk cId="3882138522" sldId="260"/>
            <ac:spMk id="19" creationId="{827880BD-99A4-9BA3-C42B-EBB148D79BE8}"/>
          </ac:spMkLst>
        </pc:spChg>
        <pc:spChg chg="add mod">
          <ac:chgData name="Kyoji AWAKI" userId="0a969a619267a15f" providerId="LiveId" clId="{A2E6EFAF-A418-421F-BDE1-8B290D61BF42}" dt="2025-05-29T13:23:41.326" v="966" actId="1076"/>
          <ac:spMkLst>
            <pc:docMk/>
            <pc:sldMk cId="3882138522" sldId="260"/>
            <ac:spMk id="20" creationId="{625E9A5A-313F-40DC-4A92-1CB83A9FF093}"/>
          </ac:spMkLst>
        </pc:spChg>
        <pc:spChg chg="add mod">
          <ac:chgData name="Kyoji AWAKI" userId="0a969a619267a15f" providerId="LiveId" clId="{A2E6EFAF-A418-421F-BDE1-8B290D61BF42}" dt="2025-05-29T13:23:35.629" v="964" actId="1076"/>
          <ac:spMkLst>
            <pc:docMk/>
            <pc:sldMk cId="3882138522" sldId="260"/>
            <ac:spMk id="21" creationId="{005DD1AF-A45E-4ED4-C6AE-B384DB58CC1C}"/>
          </ac:spMkLst>
        </pc:spChg>
        <pc:spChg chg="add mod">
          <ac:chgData name="Kyoji AWAKI" userId="0a969a619267a15f" providerId="LiveId" clId="{A2E6EFAF-A418-421F-BDE1-8B290D61BF42}" dt="2025-05-29T13:20:53.604" v="871"/>
          <ac:spMkLst>
            <pc:docMk/>
            <pc:sldMk cId="3882138522" sldId="260"/>
            <ac:spMk id="22" creationId="{39B1BBE3-FAFB-49AE-F95A-F4E58BD8D075}"/>
          </ac:spMkLst>
        </pc:spChg>
        <pc:spChg chg="add mod">
          <ac:chgData name="Kyoji AWAKI" userId="0a969a619267a15f" providerId="LiveId" clId="{A2E6EFAF-A418-421F-BDE1-8B290D61BF42}" dt="2025-05-29T13:24:50.336" v="1014" actId="1076"/>
          <ac:spMkLst>
            <pc:docMk/>
            <pc:sldMk cId="3882138522" sldId="260"/>
            <ac:spMk id="23" creationId="{331DE72C-2DF2-B69B-C36B-2BC1AB952890}"/>
          </ac:spMkLst>
        </pc:spChg>
        <pc:spChg chg="add mod">
          <ac:chgData name="Kyoji AWAKI" userId="0a969a619267a15f" providerId="LiveId" clId="{A2E6EFAF-A418-421F-BDE1-8B290D61BF42}" dt="2025-05-29T13:21:21.268" v="910"/>
          <ac:spMkLst>
            <pc:docMk/>
            <pc:sldMk cId="3882138522" sldId="260"/>
            <ac:spMk id="24" creationId="{EDCE3C51-8FA3-B18F-B266-906921D43DB7}"/>
          </ac:spMkLst>
        </pc:spChg>
        <pc:spChg chg="add mod">
          <ac:chgData name="Kyoji AWAKI" userId="0a969a619267a15f" providerId="LiveId" clId="{A2E6EFAF-A418-421F-BDE1-8B290D61BF42}" dt="2025-05-29T13:23:03.788" v="958" actId="1076"/>
          <ac:spMkLst>
            <pc:docMk/>
            <pc:sldMk cId="3882138522" sldId="260"/>
            <ac:spMk id="25" creationId="{DCC36022-E667-741D-ADD7-C51CCE33570C}"/>
          </ac:spMkLst>
        </pc:spChg>
        <pc:spChg chg="add del">
          <ac:chgData name="Kyoji AWAKI" userId="0a969a619267a15f" providerId="LiveId" clId="{A2E6EFAF-A418-421F-BDE1-8B290D61BF42}" dt="2025-05-29T13:25:48.355" v="1042" actId="22"/>
          <ac:spMkLst>
            <pc:docMk/>
            <pc:sldMk cId="3882138522" sldId="260"/>
            <ac:spMk id="88" creationId="{E05AE505-0091-F764-D070-7CDC5244348B}"/>
          </ac:spMkLst>
        </pc:spChg>
        <pc:spChg chg="add mod">
          <ac:chgData name="Kyoji AWAKI" userId="0a969a619267a15f" providerId="LiveId" clId="{A2E6EFAF-A418-421F-BDE1-8B290D61BF42}" dt="2025-05-29T13:26:01.298" v="1055" actId="1076"/>
          <ac:spMkLst>
            <pc:docMk/>
            <pc:sldMk cId="3882138522" sldId="260"/>
            <ac:spMk id="90" creationId="{FE3BD22D-B721-7E30-EB61-296BADB46BB1}"/>
          </ac:spMkLst>
        </pc:spChg>
        <pc:picChg chg="del">
          <ac:chgData name="Kyoji AWAKI" userId="0a969a619267a15f" providerId="LiveId" clId="{A2E6EFAF-A418-421F-BDE1-8B290D61BF42}" dt="2025-05-29T13:12:24.732" v="492" actId="478"/>
          <ac:picMkLst>
            <pc:docMk/>
            <pc:sldMk cId="3882138522" sldId="260"/>
            <ac:picMk id="38" creationId="{C0A4DC04-F4CF-521B-2A91-CCF4725C49BE}"/>
          </ac:picMkLst>
        </pc:picChg>
        <pc:cxnChg chg="add mod">
          <ac:chgData name="Kyoji AWAKI" userId="0a969a619267a15f" providerId="LiveId" clId="{A2E6EFAF-A418-421F-BDE1-8B290D61BF42}" dt="2025-05-29T13:23:47.943" v="968" actId="13822"/>
          <ac:cxnSpMkLst>
            <pc:docMk/>
            <pc:sldMk cId="3882138522" sldId="260"/>
            <ac:cxnSpMk id="27" creationId="{1DFE3213-8DA5-3F52-C861-94FFEBC3FBE0}"/>
          </ac:cxnSpMkLst>
        </pc:cxnChg>
        <pc:cxnChg chg="add mod">
          <ac:chgData name="Kyoji AWAKI" userId="0a969a619267a15f" providerId="LiveId" clId="{A2E6EFAF-A418-421F-BDE1-8B290D61BF42}" dt="2025-05-29T13:23:52.574" v="972" actId="14100"/>
          <ac:cxnSpMkLst>
            <pc:docMk/>
            <pc:sldMk cId="3882138522" sldId="260"/>
            <ac:cxnSpMk id="28" creationId="{C0D2ADF1-C0F4-5036-6179-7076824BEA6C}"/>
          </ac:cxnSpMkLst>
        </pc:cxnChg>
        <pc:cxnChg chg="add mod">
          <ac:chgData name="Kyoji AWAKI" userId="0a969a619267a15f" providerId="LiveId" clId="{A2E6EFAF-A418-421F-BDE1-8B290D61BF42}" dt="2025-05-29T13:23:57.294" v="976" actId="14100"/>
          <ac:cxnSpMkLst>
            <pc:docMk/>
            <pc:sldMk cId="3882138522" sldId="260"/>
            <ac:cxnSpMk id="31" creationId="{CF080134-55B7-4A9F-6058-263B564068F8}"/>
          </ac:cxnSpMkLst>
        </pc:cxnChg>
        <pc:cxnChg chg="add mod">
          <ac:chgData name="Kyoji AWAKI" userId="0a969a619267a15f" providerId="LiveId" clId="{A2E6EFAF-A418-421F-BDE1-8B290D61BF42}" dt="2025-05-29T13:24:02.022" v="981" actId="14100"/>
          <ac:cxnSpMkLst>
            <pc:docMk/>
            <pc:sldMk cId="3882138522" sldId="260"/>
            <ac:cxnSpMk id="35" creationId="{742482F9-C992-7FA1-12FF-20D48DBD0DE4}"/>
          </ac:cxnSpMkLst>
        </pc:cxnChg>
        <pc:cxnChg chg="add mod">
          <ac:chgData name="Kyoji AWAKI" userId="0a969a619267a15f" providerId="LiveId" clId="{A2E6EFAF-A418-421F-BDE1-8B290D61BF42}" dt="2025-05-29T13:24:05.357" v="985" actId="14100"/>
          <ac:cxnSpMkLst>
            <pc:docMk/>
            <pc:sldMk cId="3882138522" sldId="260"/>
            <ac:cxnSpMk id="39" creationId="{B51B6E05-7F0A-8757-F549-BEE44BAF00A2}"/>
          </ac:cxnSpMkLst>
        </pc:cxnChg>
        <pc:cxnChg chg="add mod">
          <ac:chgData name="Kyoji AWAKI" userId="0a969a619267a15f" providerId="LiveId" clId="{A2E6EFAF-A418-421F-BDE1-8B290D61BF42}" dt="2025-05-29T13:24:10.366" v="990" actId="14100"/>
          <ac:cxnSpMkLst>
            <pc:docMk/>
            <pc:sldMk cId="3882138522" sldId="260"/>
            <ac:cxnSpMk id="42" creationId="{F64DCA80-F394-DE5A-6AEA-B1657531C68D}"/>
          </ac:cxnSpMkLst>
        </pc:cxnChg>
        <pc:cxnChg chg="add mod">
          <ac:chgData name="Kyoji AWAKI" userId="0a969a619267a15f" providerId="LiveId" clId="{A2E6EFAF-A418-421F-BDE1-8B290D61BF42}" dt="2025-05-29T13:24:23.651" v="999" actId="1035"/>
          <ac:cxnSpMkLst>
            <pc:docMk/>
            <pc:sldMk cId="3882138522" sldId="260"/>
            <ac:cxnSpMk id="46" creationId="{A7A8763C-5293-659A-8710-BED749362861}"/>
          </ac:cxnSpMkLst>
        </pc:cxnChg>
        <pc:cxnChg chg="add mod">
          <ac:chgData name="Kyoji AWAKI" userId="0a969a619267a15f" providerId="LiveId" clId="{A2E6EFAF-A418-421F-BDE1-8B290D61BF42}" dt="2025-05-29T13:24:33.095" v="1003" actId="1076"/>
          <ac:cxnSpMkLst>
            <pc:docMk/>
            <pc:sldMk cId="3882138522" sldId="260"/>
            <ac:cxnSpMk id="51" creationId="{3FB7E132-2A28-B7D6-7D48-D31A90ECA5F9}"/>
          </ac:cxnSpMkLst>
        </pc:cxnChg>
        <pc:cxnChg chg="add mod">
          <ac:chgData name="Kyoji AWAKI" userId="0a969a619267a15f" providerId="LiveId" clId="{A2E6EFAF-A418-421F-BDE1-8B290D61BF42}" dt="2025-05-29T13:24:37.351" v="1006" actId="14100"/>
          <ac:cxnSpMkLst>
            <pc:docMk/>
            <pc:sldMk cId="3882138522" sldId="260"/>
            <ac:cxnSpMk id="55" creationId="{56FFF2E4-8972-1BA7-2969-3D4E7FD56C2D}"/>
          </ac:cxnSpMkLst>
        </pc:cxnChg>
        <pc:cxnChg chg="add mod">
          <ac:chgData name="Kyoji AWAKI" userId="0a969a619267a15f" providerId="LiveId" clId="{A2E6EFAF-A418-421F-BDE1-8B290D61BF42}" dt="2025-05-29T13:24:42.902" v="1010" actId="1076"/>
          <ac:cxnSpMkLst>
            <pc:docMk/>
            <pc:sldMk cId="3882138522" sldId="260"/>
            <ac:cxnSpMk id="58" creationId="{D198596B-D49D-06F0-74D1-67BC99558E10}"/>
          </ac:cxnSpMkLst>
        </pc:cxnChg>
        <pc:cxnChg chg="add mod">
          <ac:chgData name="Kyoji AWAKI" userId="0a969a619267a15f" providerId="LiveId" clId="{A2E6EFAF-A418-421F-BDE1-8B290D61BF42}" dt="2025-05-29T13:24:50.336" v="1014" actId="1076"/>
          <ac:cxnSpMkLst>
            <pc:docMk/>
            <pc:sldMk cId="3882138522" sldId="260"/>
            <ac:cxnSpMk id="62" creationId="{E9655786-D879-984F-9EF8-A0B20D500CF5}"/>
          </ac:cxnSpMkLst>
        </pc:cxnChg>
        <pc:cxnChg chg="add mod">
          <ac:chgData name="Kyoji AWAKI" userId="0a969a619267a15f" providerId="LiveId" clId="{A2E6EFAF-A418-421F-BDE1-8B290D61BF42}" dt="2025-05-29T13:24:54.552" v="1017" actId="14100"/>
          <ac:cxnSpMkLst>
            <pc:docMk/>
            <pc:sldMk cId="3882138522" sldId="260"/>
            <ac:cxnSpMk id="66" creationId="{19208998-F7E2-B21F-BC1C-7C2A018095E6}"/>
          </ac:cxnSpMkLst>
        </pc:cxnChg>
        <pc:cxnChg chg="add mod">
          <ac:chgData name="Kyoji AWAKI" userId="0a969a619267a15f" providerId="LiveId" clId="{A2E6EFAF-A418-421F-BDE1-8B290D61BF42}" dt="2025-05-29T13:25:04.344" v="1023" actId="14100"/>
          <ac:cxnSpMkLst>
            <pc:docMk/>
            <pc:sldMk cId="3882138522" sldId="260"/>
            <ac:cxnSpMk id="69" creationId="{8549DE93-234A-89AB-9774-5EFB7FD01B22}"/>
          </ac:cxnSpMkLst>
        </pc:cxnChg>
        <pc:cxnChg chg="add mod">
          <ac:chgData name="Kyoji AWAKI" userId="0a969a619267a15f" providerId="LiveId" clId="{A2E6EFAF-A418-421F-BDE1-8B290D61BF42}" dt="2025-05-29T13:25:10.215" v="1028" actId="14100"/>
          <ac:cxnSpMkLst>
            <pc:docMk/>
            <pc:sldMk cId="3882138522" sldId="260"/>
            <ac:cxnSpMk id="74" creationId="{CD25DDB8-20DE-98F7-0AFD-27A9CDC5D25B}"/>
          </ac:cxnSpMkLst>
        </pc:cxnChg>
        <pc:cxnChg chg="add mod">
          <ac:chgData name="Kyoji AWAKI" userId="0a969a619267a15f" providerId="LiveId" clId="{A2E6EFAF-A418-421F-BDE1-8B290D61BF42}" dt="2025-05-29T13:25:23.432" v="1032" actId="14100"/>
          <ac:cxnSpMkLst>
            <pc:docMk/>
            <pc:sldMk cId="3882138522" sldId="260"/>
            <ac:cxnSpMk id="77" creationId="{A59D6942-14F4-01D2-20D1-77484B7F5864}"/>
          </ac:cxnSpMkLst>
        </pc:cxnChg>
        <pc:cxnChg chg="add mod">
          <ac:chgData name="Kyoji AWAKI" userId="0a969a619267a15f" providerId="LiveId" clId="{A2E6EFAF-A418-421F-BDE1-8B290D61BF42}" dt="2025-05-29T13:25:28.976" v="1035" actId="14100"/>
          <ac:cxnSpMkLst>
            <pc:docMk/>
            <pc:sldMk cId="3882138522" sldId="260"/>
            <ac:cxnSpMk id="80" creationId="{BB422751-FD05-5A2F-95C2-3BA763FC6C90}"/>
          </ac:cxnSpMkLst>
        </pc:cxnChg>
        <pc:cxnChg chg="add del mod">
          <ac:chgData name="Kyoji AWAKI" userId="0a969a619267a15f" providerId="LiveId" clId="{A2E6EFAF-A418-421F-BDE1-8B290D61BF42}" dt="2025-05-29T13:25:32.581" v="1038" actId="478"/>
          <ac:cxnSpMkLst>
            <pc:docMk/>
            <pc:sldMk cId="3882138522" sldId="260"/>
            <ac:cxnSpMk id="83" creationId="{67BFCB98-E125-A4D1-86CB-B633BC39C4CB}"/>
          </ac:cxnSpMkLst>
        </pc:cxnChg>
        <pc:cxnChg chg="add mod">
          <ac:chgData name="Kyoji AWAKI" userId="0a969a619267a15f" providerId="LiveId" clId="{A2E6EFAF-A418-421F-BDE1-8B290D61BF42}" dt="2025-05-29T13:25:42.721" v="1040" actId="208"/>
          <ac:cxnSpMkLst>
            <pc:docMk/>
            <pc:sldMk cId="3882138522" sldId="260"/>
            <ac:cxnSpMk id="86" creationId="{E0911FE0-A46A-4328-6B15-04B00852DA94}"/>
          </ac:cxnSpMkLst>
        </pc:cxnChg>
        <pc:cxnChg chg="add mod">
          <ac:chgData name="Kyoji AWAKI" userId="0a969a619267a15f" providerId="LiveId" clId="{A2E6EFAF-A418-421F-BDE1-8B290D61BF42}" dt="2025-05-29T13:26:47.947" v="1069" actId="1076"/>
          <ac:cxnSpMkLst>
            <pc:docMk/>
            <pc:sldMk cId="3882138522" sldId="260"/>
            <ac:cxnSpMk id="91" creationId="{165F6F43-7BA1-1074-1A12-28DE559C2C4E}"/>
          </ac:cxnSpMkLst>
        </pc:cxnChg>
        <pc:cxnChg chg="add mod">
          <ac:chgData name="Kyoji AWAKI" userId="0a969a619267a15f" providerId="LiveId" clId="{A2E6EFAF-A418-421F-BDE1-8B290D61BF42}" dt="2025-05-29T13:26:47.947" v="1069" actId="1076"/>
          <ac:cxnSpMkLst>
            <pc:docMk/>
            <pc:sldMk cId="3882138522" sldId="260"/>
            <ac:cxnSpMk id="95" creationId="{66204F70-0D8D-02C1-85DF-C79F325B6A89}"/>
          </ac:cxnSpMkLst>
        </pc:cxnChg>
        <pc:cxnChg chg="add mod">
          <ac:chgData name="Kyoji AWAKI" userId="0a969a619267a15f" providerId="LiveId" clId="{A2E6EFAF-A418-421F-BDE1-8B290D61BF42}" dt="2025-05-29T13:26:47.947" v="1069" actId="1076"/>
          <ac:cxnSpMkLst>
            <pc:docMk/>
            <pc:sldMk cId="3882138522" sldId="260"/>
            <ac:cxnSpMk id="98" creationId="{1AEEE2C2-1E57-FB4D-7F13-370DD23D0E32}"/>
          </ac:cxnSpMkLst>
        </pc:cxnChg>
        <pc:cxnChg chg="add mod">
          <ac:chgData name="Kyoji AWAKI" userId="0a969a619267a15f" providerId="LiveId" clId="{A2E6EFAF-A418-421F-BDE1-8B290D61BF42}" dt="2025-05-29T13:26:47.947" v="1069" actId="1076"/>
          <ac:cxnSpMkLst>
            <pc:docMk/>
            <pc:sldMk cId="3882138522" sldId="260"/>
            <ac:cxnSpMk id="101" creationId="{8E712541-2951-001F-639B-B6574A2739BA}"/>
          </ac:cxnSpMkLst>
        </pc:cxnChg>
      </pc:sldChg>
      <pc:sldChg chg="modNotesTx">
        <pc:chgData name="Kyoji AWAKI" userId="0a969a619267a15f" providerId="LiveId" clId="{A2E6EFAF-A418-421F-BDE1-8B290D61BF42}" dt="2025-05-27T03:33:44.239" v="199"/>
        <pc:sldMkLst>
          <pc:docMk/>
          <pc:sldMk cId="478868913" sldId="261"/>
        </pc:sldMkLst>
      </pc:sldChg>
      <pc:sldChg chg="modNotesTx">
        <pc:chgData name="Kyoji AWAKI" userId="0a969a619267a15f" providerId="LiveId" clId="{A2E6EFAF-A418-421F-BDE1-8B290D61BF42}" dt="2025-05-27T03:35:12.373" v="218" actId="20577"/>
        <pc:sldMkLst>
          <pc:docMk/>
          <pc:sldMk cId="2028791465" sldId="262"/>
        </pc:sldMkLst>
      </pc:sldChg>
      <pc:sldChg chg="modNotesTx">
        <pc:chgData name="Kyoji AWAKI" userId="0a969a619267a15f" providerId="LiveId" clId="{A2E6EFAF-A418-421F-BDE1-8B290D61BF42}" dt="2025-05-27T03:35:21.686" v="220" actId="20577"/>
        <pc:sldMkLst>
          <pc:docMk/>
          <pc:sldMk cId="615675804" sldId="263"/>
        </pc:sldMkLst>
      </pc:sldChg>
      <pc:sldChg chg="modNotesTx">
        <pc:chgData name="Kyoji AWAKI" userId="0a969a619267a15f" providerId="LiveId" clId="{A2E6EFAF-A418-421F-BDE1-8B290D61BF42}" dt="2025-05-27T03:35:30.670" v="222" actId="20577"/>
        <pc:sldMkLst>
          <pc:docMk/>
          <pc:sldMk cId="3090598926" sldId="264"/>
        </pc:sldMkLst>
      </pc:sldChg>
      <pc:sldChg chg="modNotesTx">
        <pc:chgData name="Kyoji AWAKI" userId="0a969a619267a15f" providerId="LiveId" clId="{A2E6EFAF-A418-421F-BDE1-8B290D61BF42}" dt="2025-05-27T03:35:39.246" v="224" actId="20577"/>
        <pc:sldMkLst>
          <pc:docMk/>
          <pc:sldMk cId="2281438936" sldId="265"/>
        </pc:sldMkLst>
      </pc:sldChg>
      <pc:sldChg chg="modNotesTx">
        <pc:chgData name="Kyoji AWAKI" userId="0a969a619267a15f" providerId="LiveId" clId="{A2E6EFAF-A418-421F-BDE1-8B290D61BF42}" dt="2025-05-27T03:35:45.678" v="226" actId="20577"/>
        <pc:sldMkLst>
          <pc:docMk/>
          <pc:sldMk cId="1349559195" sldId="266"/>
        </pc:sldMkLst>
      </pc:sldChg>
      <pc:sldChg chg="modNotesTx">
        <pc:chgData name="Kyoji AWAKI" userId="0a969a619267a15f" providerId="LiveId" clId="{A2E6EFAF-A418-421F-BDE1-8B290D61BF42}" dt="2025-05-27T03:35:52.366" v="228" actId="20577"/>
        <pc:sldMkLst>
          <pc:docMk/>
          <pc:sldMk cId="612953584" sldId="267"/>
        </pc:sldMkLst>
      </pc:sldChg>
      <pc:sldChg chg="modNotesTx">
        <pc:chgData name="Kyoji AWAKI" userId="0a969a619267a15f" providerId="LiveId" clId="{A2E6EFAF-A418-421F-BDE1-8B290D61BF42}" dt="2025-05-27T03:36:05.295" v="230" actId="20577"/>
        <pc:sldMkLst>
          <pc:docMk/>
          <pc:sldMk cId="214276562" sldId="268"/>
        </pc:sldMkLst>
      </pc:sldChg>
      <pc:sldChg chg="modNotesTx">
        <pc:chgData name="Kyoji AWAKI" userId="0a969a619267a15f" providerId="LiveId" clId="{A2E6EFAF-A418-421F-BDE1-8B290D61BF42}" dt="2025-05-27T04:03:14.056" v="451"/>
        <pc:sldMkLst>
          <pc:docMk/>
          <pc:sldMk cId="3802698613" sldId="269"/>
        </pc:sldMkLst>
      </pc:sldChg>
      <pc:sldChg chg="modSp add del mod modShow">
        <pc:chgData name="Kyoji AWAKI" userId="0a969a619267a15f" providerId="LiveId" clId="{A2E6EFAF-A418-421F-BDE1-8B290D61BF42}" dt="2025-05-27T03:40:54.668" v="305" actId="47"/>
        <pc:sldMkLst>
          <pc:docMk/>
          <pc:sldMk cId="1030100001" sldId="270"/>
        </pc:sldMkLst>
        <pc:spChg chg="mod">
          <ac:chgData name="Kyoji AWAKI" userId="0a969a619267a15f" providerId="LiveId" clId="{A2E6EFAF-A418-421F-BDE1-8B290D61BF42}" dt="2025-05-27T03:30:51.203" v="155" actId="6549"/>
          <ac:spMkLst>
            <pc:docMk/>
            <pc:sldMk cId="1030100001" sldId="270"/>
            <ac:spMk id="3" creationId="{B0EC0ECA-806C-8783-060F-A20D2EA265F0}"/>
          </ac:spMkLst>
        </pc:spChg>
      </pc:sldChg>
      <pc:sldChg chg="modNotesTx">
        <pc:chgData name="Kyoji AWAKI" userId="0a969a619267a15f" providerId="LiveId" clId="{A2E6EFAF-A418-421F-BDE1-8B290D61BF42}" dt="2025-05-27T03:37:39.466" v="242" actId="20577"/>
        <pc:sldMkLst>
          <pc:docMk/>
          <pc:sldMk cId="221607472" sldId="272"/>
        </pc:sldMkLst>
      </pc:sldChg>
      <pc:sldChg chg="modNotesTx">
        <pc:chgData name="Kyoji AWAKI" userId="0a969a619267a15f" providerId="LiveId" clId="{A2E6EFAF-A418-421F-BDE1-8B290D61BF42}" dt="2025-05-27T03:37:48.846" v="243"/>
        <pc:sldMkLst>
          <pc:docMk/>
          <pc:sldMk cId="3534153624" sldId="273"/>
        </pc:sldMkLst>
      </pc:sldChg>
      <pc:sldChg chg="modNotesTx">
        <pc:chgData name="Kyoji AWAKI" userId="0a969a619267a15f" providerId="LiveId" clId="{A2E6EFAF-A418-421F-BDE1-8B290D61BF42}" dt="2025-05-27T04:05:17.188" v="490"/>
        <pc:sldMkLst>
          <pc:docMk/>
          <pc:sldMk cId="779840205" sldId="274"/>
        </pc:sldMkLst>
      </pc:sldChg>
      <pc:sldChg chg="addSp delSp modSp del mod modShow">
        <pc:chgData name="Kyoji AWAKI" userId="0a969a619267a15f" providerId="LiveId" clId="{A2E6EFAF-A418-421F-BDE1-8B290D61BF42}" dt="2025-05-27T03:41:02.035" v="306" actId="47"/>
        <pc:sldMkLst>
          <pc:docMk/>
          <pc:sldMk cId="1620144084" sldId="280"/>
        </pc:sldMkLst>
      </pc:sldChg>
      <pc:sldChg chg="addSp delSp modSp new del mod modShow modNotesTx">
        <pc:chgData name="Kyoji AWAKI" userId="0a969a619267a15f" providerId="LiveId" clId="{A2E6EFAF-A418-421F-BDE1-8B290D61BF42}" dt="2025-05-27T03:41:05.431" v="307" actId="47"/>
        <pc:sldMkLst>
          <pc:docMk/>
          <pc:sldMk cId="1935514007" sldId="281"/>
        </pc:sldMkLst>
      </pc:sldChg>
      <pc:sldChg chg="addSp delSp modSp new mod modNotesTx">
        <pc:chgData name="Kyoji AWAKI" userId="0a969a619267a15f" providerId="LiveId" clId="{A2E6EFAF-A418-421F-BDE1-8B290D61BF42}" dt="2025-05-27T04:19:09.544" v="491"/>
        <pc:sldMkLst>
          <pc:docMk/>
          <pc:sldMk cId="1292351887" sldId="282"/>
        </pc:sldMkLst>
        <pc:graphicFrameChg chg="add mod modGraphic">
          <ac:chgData name="Kyoji AWAKI" userId="0a969a619267a15f" providerId="LiveId" clId="{A2E6EFAF-A418-421F-BDE1-8B290D61BF42}" dt="2025-05-27T04:19:09.544" v="491"/>
          <ac:graphicFrameMkLst>
            <pc:docMk/>
            <pc:sldMk cId="1292351887" sldId="282"/>
            <ac:graphicFrameMk id="4" creationId="{82718332-3A00-511F-B073-2DA49141E0F6}"/>
          </ac:graphicFrameMkLst>
        </pc:graphicFrameChg>
      </pc:sldChg>
      <pc:sldChg chg="modSp add mod modShow modNotesTx">
        <pc:chgData name="Kyoji AWAKI" userId="0a969a619267a15f" providerId="LiveId" clId="{A2E6EFAF-A418-421F-BDE1-8B290D61BF42}" dt="2025-05-27T03:50:31.509" v="354"/>
        <pc:sldMkLst>
          <pc:docMk/>
          <pc:sldMk cId="2227166917" sldId="283"/>
        </pc:sldMkLst>
        <pc:spChg chg="mod">
          <ac:chgData name="Kyoji AWAKI" userId="0a969a619267a15f" providerId="LiveId" clId="{A2E6EFAF-A418-421F-BDE1-8B290D61BF42}" dt="2025-05-27T03:31:43.057" v="192" actId="12"/>
          <ac:spMkLst>
            <pc:docMk/>
            <pc:sldMk cId="2227166917" sldId="283"/>
            <ac:spMk id="3" creationId="{96CCFF68-3D3C-F093-8591-D40A2705308F}"/>
          </ac:spMkLst>
        </pc:spChg>
      </pc:sldChg>
    </pc:docChg>
  </pc:docChgLst>
  <pc:docChgLst>
    <pc:chgData name="Kyoji AWAKI" userId="0a969a619267a15f" providerId="LiveId" clId="{BC664015-E4F0-4D23-AFD5-75924E7B5C2D}"/>
    <pc:docChg chg="delSld modSld">
      <pc:chgData name="Kyoji AWAKI" userId="0a969a619267a15f" providerId="LiveId" clId="{BC664015-E4F0-4D23-AFD5-75924E7B5C2D}" dt="2025-05-26T03:50:56.967" v="10" actId="6549"/>
      <pc:docMkLst>
        <pc:docMk/>
      </pc:docMkLst>
      <pc:sldChg chg="modSp mod">
        <pc:chgData name="Kyoji AWAKI" userId="0a969a619267a15f" providerId="LiveId" clId="{BC664015-E4F0-4D23-AFD5-75924E7B5C2D}" dt="2025-05-26T03:50:56.967" v="10" actId="6549"/>
        <pc:sldMkLst>
          <pc:docMk/>
          <pc:sldMk cId="779840205" sldId="274"/>
        </pc:sldMkLst>
        <pc:spChg chg="mod">
          <ac:chgData name="Kyoji AWAKI" userId="0a969a619267a15f" providerId="LiveId" clId="{BC664015-E4F0-4D23-AFD5-75924E7B5C2D}" dt="2025-05-26T03:50:56.967" v="10" actId="6549"/>
          <ac:spMkLst>
            <pc:docMk/>
            <pc:sldMk cId="779840205" sldId="274"/>
            <ac:spMk id="3" creationId="{C4CFCE8E-A761-601E-23E3-31063DD87C88}"/>
          </ac:spMkLst>
        </pc:spChg>
      </pc:sldChg>
      <pc:sldChg chg="del">
        <pc:chgData name="Kyoji AWAKI" userId="0a969a619267a15f" providerId="LiveId" clId="{BC664015-E4F0-4D23-AFD5-75924E7B5C2D}" dt="2025-05-26T02:41:45.484" v="0" actId="47"/>
        <pc:sldMkLst>
          <pc:docMk/>
          <pc:sldMk cId="3266185342" sldId="275"/>
        </pc:sldMkLst>
      </pc:sldChg>
      <pc:sldChg chg="del">
        <pc:chgData name="Kyoji AWAKI" userId="0a969a619267a15f" providerId="LiveId" clId="{BC664015-E4F0-4D23-AFD5-75924E7B5C2D}" dt="2025-05-26T02:41:46.263" v="2" actId="47"/>
        <pc:sldMkLst>
          <pc:docMk/>
          <pc:sldMk cId="165591061" sldId="276"/>
        </pc:sldMkLst>
      </pc:sldChg>
      <pc:sldChg chg="del">
        <pc:chgData name="Kyoji AWAKI" userId="0a969a619267a15f" providerId="LiveId" clId="{BC664015-E4F0-4D23-AFD5-75924E7B5C2D}" dt="2025-05-26T02:41:45.937" v="1" actId="47"/>
        <pc:sldMkLst>
          <pc:docMk/>
          <pc:sldMk cId="866742252" sldId="277"/>
        </pc:sldMkLst>
      </pc:sldChg>
      <pc:sldChg chg="del">
        <pc:chgData name="Kyoji AWAKI" userId="0a969a619267a15f" providerId="LiveId" clId="{BC664015-E4F0-4D23-AFD5-75924E7B5C2D}" dt="2025-05-26T02:41:50.142" v="4" actId="47"/>
        <pc:sldMkLst>
          <pc:docMk/>
          <pc:sldMk cId="411463230" sldId="278"/>
        </pc:sldMkLst>
      </pc:sldChg>
      <pc:sldChg chg="del">
        <pc:chgData name="Kyoji AWAKI" userId="0a969a619267a15f" providerId="LiveId" clId="{BC664015-E4F0-4D23-AFD5-75924E7B5C2D}" dt="2025-05-26T02:41:47.618" v="3" actId="47"/>
        <pc:sldMkLst>
          <pc:docMk/>
          <pc:sldMk cId="2281790544"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38442C-6ED3-4F11-83F0-9A295678D661}" type="datetimeFigureOut">
              <a:rPr kumimoji="1" lang="ja-JP" altLang="en-US" smtClean="0"/>
              <a:t>2025/5/29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CBDF-46C9-4B02-8C53-F3128EE42D12}" type="slidenum">
              <a:rPr kumimoji="1" lang="ja-JP" altLang="en-US" smtClean="0"/>
              <a:t>‹#›</a:t>
            </a:fld>
            <a:endParaRPr kumimoji="1" lang="ja-JP" altLang="en-US"/>
          </a:p>
        </p:txBody>
      </p:sp>
    </p:spTree>
    <p:extLst>
      <p:ext uri="{BB962C8B-B14F-4D97-AF65-F5344CB8AC3E}">
        <p14:creationId xmlns:p14="http://schemas.microsoft.com/office/powerpoint/2010/main" val="108936099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「皆さんこんにちは。本日は “</a:t>
            </a:r>
            <a:r>
              <a:rPr lang="en-US" altLang="ja-JP" dirty="0"/>
              <a:t>Quantized CNN models” </a:t>
            </a:r>
            <a:r>
              <a:rPr lang="ja-JP" altLang="en-US" dirty="0"/>
              <a:t>について発表します。私、</a:t>
            </a:r>
            <a:r>
              <a:rPr lang="en-US" altLang="ja-JP" dirty="0"/>
              <a:t>m5291005</a:t>
            </a:r>
            <a:r>
              <a:rPr lang="ja-JP" altLang="en-US" dirty="0"/>
              <a:t>の粟木です。よろしくお願いします。」</a:t>
            </a:r>
            <a:endParaRPr lang="en-US" altLang="ja-JP" dirty="0"/>
          </a:p>
          <a:p>
            <a:pPr>
              <a:buNone/>
            </a:pPr>
            <a:endParaRPr lang="ja-JP" altLang="en-US" dirty="0"/>
          </a:p>
          <a:p>
            <a:r>
              <a:rPr lang="en-US" altLang="ja-JP" b="1" dirty="0"/>
              <a:t>English</a:t>
            </a:r>
            <a:br>
              <a:rPr lang="en-US" altLang="ja-JP" dirty="0"/>
            </a:br>
            <a:r>
              <a:rPr lang="en-US" altLang="ja-JP" dirty="0"/>
              <a:t>“Hello everyone. Today, I’d like to present about Quantized CNN models. My name is Kyoji </a:t>
            </a:r>
            <a:r>
              <a:rPr lang="en-US" altLang="ja-JP" dirty="0" err="1"/>
              <a:t>Awaki</a:t>
            </a:r>
            <a:r>
              <a:rPr lang="en-US" altLang="ja-JP" dirty="0"/>
              <a:t>, m5291005. Thank you for joining.”</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a:t>
            </a:fld>
            <a:endParaRPr kumimoji="1" lang="ja-JP" altLang="en-US"/>
          </a:p>
        </p:txBody>
      </p:sp>
    </p:spTree>
    <p:extLst>
      <p:ext uri="{BB962C8B-B14F-4D97-AF65-F5344CB8AC3E}">
        <p14:creationId xmlns:p14="http://schemas.microsoft.com/office/powerpoint/2010/main" val="1923004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「まず初めに、なぜ量子化</a:t>
            </a:r>
            <a:r>
              <a:rPr lang="en-US" altLang="ja-JP" dirty="0"/>
              <a:t>CNN</a:t>
            </a:r>
            <a:r>
              <a:rPr lang="ja-JP" altLang="en-US" dirty="0"/>
              <a:t>モデルに注目したのか、その動機についてお話しします。</a:t>
            </a:r>
            <a:r>
              <a:rPr lang="en-US" altLang="ja-JP" dirty="0"/>
              <a:t>CNN</a:t>
            </a:r>
            <a:r>
              <a:rPr lang="ja-JP" altLang="en-US" dirty="0"/>
              <a:t>は自動運転、画像認識、医療画像解析など、様々な分野で活躍しています。しかし、その計算コストは非常に高く、特にリソースが限られたハードウェアではボトルネックとなります。そこで、モデルの効率化が重要となります。今回は精度を保ったまま計算量を減らす技術、</a:t>
            </a:r>
            <a:r>
              <a:rPr lang="en-US" altLang="ja-JP" dirty="0"/>
              <a:t>QAT</a:t>
            </a:r>
            <a:r>
              <a:rPr lang="ja-JP" altLang="en-US" dirty="0"/>
              <a:t>、</a:t>
            </a:r>
            <a:r>
              <a:rPr lang="en-US" altLang="ja-JP" dirty="0"/>
              <a:t>Quantization Aware Training</a:t>
            </a:r>
            <a:r>
              <a:rPr lang="ja-JP" altLang="en-US" dirty="0"/>
              <a:t>にも注目しました。」</a:t>
            </a:r>
            <a:endParaRPr lang="en-US" altLang="ja-JP" dirty="0"/>
          </a:p>
          <a:p>
            <a:pPr>
              <a:buNone/>
            </a:pPr>
            <a:endParaRPr lang="ja-JP" altLang="en-US" dirty="0"/>
          </a:p>
          <a:p>
            <a:r>
              <a:rPr lang="en-US" altLang="ja-JP" b="1" dirty="0"/>
              <a:t>English</a:t>
            </a:r>
            <a:br>
              <a:rPr lang="en-US" altLang="ja-JP" dirty="0"/>
            </a:br>
            <a:r>
              <a:rPr lang="en-US" altLang="ja-JP"/>
              <a:t>“Firstly, CNNs </a:t>
            </a:r>
            <a:r>
              <a:rPr lang="en-US" altLang="ja-JP" dirty="0"/>
              <a:t>are widely used in many fields, such as self-driving cars, image recognition, and medical imaging, thanks to their strong feature extraction. However, they are computationally expensive, and often become a bottleneck on hardware with limited resources. That’s why model optimization is crucial. In this presentation, I focus on Quantization Aware Training (QAT) as a way to reduce computation while maintaining accuracy.”</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2</a:t>
            </a:fld>
            <a:endParaRPr kumimoji="1" lang="ja-JP" altLang="en-US"/>
          </a:p>
        </p:txBody>
      </p:sp>
    </p:spTree>
    <p:extLst>
      <p:ext uri="{BB962C8B-B14F-4D97-AF65-F5344CB8AC3E}">
        <p14:creationId xmlns:p14="http://schemas.microsoft.com/office/powerpoint/2010/main" val="2357498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「この発表の目的は、</a:t>
            </a:r>
            <a:r>
              <a:rPr lang="en-US" altLang="ja-JP" dirty="0"/>
              <a:t>QAT</a:t>
            </a:r>
            <a:r>
              <a:rPr lang="ja-JP" altLang="en-US" dirty="0"/>
              <a:t>を適用した</a:t>
            </a:r>
            <a:r>
              <a:rPr lang="en-US" altLang="ja-JP" dirty="0"/>
              <a:t>CNN</a:t>
            </a:r>
            <a:r>
              <a:rPr lang="ja-JP" altLang="en-US" dirty="0"/>
              <a:t>モデルを</a:t>
            </a:r>
            <a:r>
              <a:rPr lang="en-US" altLang="ja-JP" dirty="0"/>
              <a:t>HLS</a:t>
            </a:r>
            <a:r>
              <a:rPr lang="ja-JP" altLang="en-US" dirty="0"/>
              <a:t>（高位合成）で効率的にハードウェア実装することです。これにより、従来の</a:t>
            </a:r>
            <a:r>
              <a:rPr lang="en-US" altLang="ja-JP" dirty="0"/>
              <a:t>CPU</a:t>
            </a:r>
            <a:r>
              <a:rPr lang="ja-JP" altLang="en-US" dirty="0"/>
              <a:t>と比べてパフォーマンスと計算資源の効率が向上します。」</a:t>
            </a:r>
          </a:p>
          <a:p>
            <a:endParaRPr lang="en-US" altLang="ja-JP" b="1" dirty="0"/>
          </a:p>
          <a:p>
            <a:r>
              <a:rPr lang="en-US" altLang="ja-JP" b="1" dirty="0"/>
              <a:t>English</a:t>
            </a:r>
            <a:br>
              <a:rPr lang="en-US" altLang="ja-JP" dirty="0"/>
            </a:br>
            <a:r>
              <a:rPr lang="en-US" altLang="ja-JP" dirty="0"/>
              <a:t>“The purpose of this work is to efficiently implement a CNN model with QAT using HLS—high-level synthesis. This implementation achieves better performance and more efficient use of computational resources compared to traditional CPUs.”</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3</a:t>
            </a:fld>
            <a:endParaRPr kumimoji="1" lang="ja-JP" altLang="en-US"/>
          </a:p>
        </p:txBody>
      </p:sp>
    </p:spTree>
    <p:extLst>
      <p:ext uri="{BB962C8B-B14F-4D97-AF65-F5344CB8AC3E}">
        <p14:creationId xmlns:p14="http://schemas.microsoft.com/office/powerpoint/2010/main" val="5894300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「モデルの全体像を説明します。入力は</a:t>
            </a:r>
            <a:r>
              <a:rPr lang="en-US" altLang="ja-JP" dirty="0"/>
              <a:t>28×28</a:t>
            </a:r>
            <a:r>
              <a:rPr lang="ja-JP" altLang="en-US" dirty="0"/>
              <a:t>ピクセルのグレースケール画像で、出力は</a:t>
            </a:r>
            <a:r>
              <a:rPr lang="en-US" altLang="ja-JP" dirty="0"/>
              <a:t>0</a:t>
            </a:r>
            <a:r>
              <a:rPr lang="ja-JP" altLang="en-US" dirty="0"/>
              <a:t>から</a:t>
            </a:r>
            <a:r>
              <a:rPr lang="en-US" altLang="ja-JP" dirty="0"/>
              <a:t>9</a:t>
            </a:r>
            <a:r>
              <a:rPr lang="ja-JP" altLang="en-US" dirty="0"/>
              <a:t>までの手書き数字の分類です。</a:t>
            </a:r>
            <a:r>
              <a:rPr lang="en-US" altLang="ja-JP" dirty="0"/>
              <a:t>CNN</a:t>
            </a:r>
            <a:r>
              <a:rPr lang="ja-JP" altLang="en-US" dirty="0"/>
              <a:t>の構成は、畳み込み、</a:t>
            </a:r>
            <a:r>
              <a:rPr lang="en-US" altLang="ja-JP" dirty="0"/>
              <a:t>ReLU</a:t>
            </a:r>
            <a:r>
              <a:rPr lang="ja-JP" altLang="en-US" dirty="0"/>
              <a:t>、プーリングを</a:t>
            </a:r>
            <a:r>
              <a:rPr lang="en-US" altLang="ja-JP" dirty="0"/>
              <a:t>2</a:t>
            </a:r>
            <a:r>
              <a:rPr lang="ja-JP" altLang="en-US" dirty="0"/>
              <a:t>回繰り返し、最後に全結合層と</a:t>
            </a:r>
            <a:r>
              <a:rPr lang="en-US" altLang="ja-JP" dirty="0"/>
              <a:t>Argmax</a:t>
            </a:r>
            <a:r>
              <a:rPr lang="ja-JP" altLang="en-US" dirty="0"/>
              <a:t>で分類します。」</a:t>
            </a:r>
          </a:p>
          <a:p>
            <a:r>
              <a:rPr lang="en-US" altLang="ja-JP" b="1" dirty="0"/>
              <a:t>English</a:t>
            </a:r>
            <a:br>
              <a:rPr lang="en-US" altLang="ja-JP" dirty="0"/>
            </a:br>
            <a:r>
              <a:rPr lang="en-US" altLang="ja-JP" dirty="0"/>
              <a:t>“Here is an overview. The input is a 28 by 28 grayscale image, and the output is classification from 0 to 9—handwritten digits. The CNN architecture consists of two sets of convolution, ReLU, and max-pooling layers, followed by a fully connected layer and argmax for classification.”</a:t>
            </a:r>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4</a:t>
            </a:fld>
            <a:endParaRPr kumimoji="1" lang="ja-JP" altLang="en-US"/>
          </a:p>
        </p:txBody>
      </p:sp>
    </p:spTree>
    <p:extLst>
      <p:ext uri="{BB962C8B-B14F-4D97-AF65-F5344CB8AC3E}">
        <p14:creationId xmlns:p14="http://schemas.microsoft.com/office/powerpoint/2010/main" val="3709840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p>
          <a:p>
            <a:pPr>
              <a:buNone/>
            </a:pPr>
            <a:r>
              <a:rPr lang="ja-JP" altLang="en-US" dirty="0"/>
              <a:t>「このスライドでは、今回のプロジェクト全体の流れを示しています。</a:t>
            </a:r>
            <a:br>
              <a:rPr lang="ja-JP" altLang="en-US" dirty="0"/>
            </a:br>
            <a:r>
              <a:rPr lang="ja-JP" altLang="en-US" dirty="0"/>
              <a:t>まず最初に、</a:t>
            </a:r>
            <a:r>
              <a:rPr lang="en-US" altLang="ja-JP" b="1" dirty="0"/>
              <a:t>MNIST Dataset</a:t>
            </a:r>
            <a:r>
              <a:rPr lang="ja-JP" altLang="en-US" dirty="0"/>
              <a:t>、手書き数字の画像データセットを読み込みます。次に、</a:t>
            </a:r>
            <a:r>
              <a:rPr lang="en-US" altLang="ja-JP" b="1" dirty="0"/>
              <a:t>Data Preprocessing</a:t>
            </a:r>
            <a:r>
              <a:rPr lang="ja-JP" altLang="en-US" dirty="0"/>
              <a:t>として、画像データの正規化やサイズ変更などの前処理を行い、モデルが学習しやすい状態に整えます。</a:t>
            </a:r>
          </a:p>
          <a:p>
            <a:pPr>
              <a:buNone/>
            </a:pPr>
            <a:r>
              <a:rPr lang="ja-JP" altLang="en-US" dirty="0"/>
              <a:t>その後、</a:t>
            </a:r>
            <a:r>
              <a:rPr lang="en-US" altLang="ja-JP" b="1" dirty="0"/>
              <a:t>Model Training</a:t>
            </a:r>
            <a:r>
              <a:rPr lang="ja-JP" altLang="en-US" dirty="0"/>
              <a:t>のステップで、</a:t>
            </a:r>
            <a:r>
              <a:rPr lang="en-US" altLang="ja-JP" dirty="0" err="1"/>
              <a:t>PyTorch</a:t>
            </a:r>
            <a:r>
              <a:rPr lang="ja-JP" altLang="en-US" dirty="0"/>
              <a:t>を使い</a:t>
            </a:r>
            <a:r>
              <a:rPr lang="en-US" altLang="ja-JP" dirty="0"/>
              <a:t>QAT</a:t>
            </a:r>
            <a:r>
              <a:rPr lang="ja-JP" altLang="en-US" dirty="0"/>
              <a:t>、つまり量子化対応トレーニングを適用し、計算効率の良い</a:t>
            </a:r>
            <a:r>
              <a:rPr lang="en-US" altLang="ja-JP" dirty="0"/>
              <a:t>CNN</a:t>
            </a:r>
            <a:r>
              <a:rPr lang="ja-JP" altLang="en-US" dirty="0"/>
              <a:t>モデルを学習します。</a:t>
            </a:r>
          </a:p>
          <a:p>
            <a:pPr>
              <a:buNone/>
            </a:pPr>
            <a:r>
              <a:rPr lang="en-US" altLang="ja-JP" b="1" dirty="0"/>
              <a:t>Learned Parameters</a:t>
            </a:r>
            <a:r>
              <a:rPr lang="ja-JP" altLang="en-US" dirty="0"/>
              <a:t>では、学習済みの重みやバイアスなどのパラメータを取得し、</a:t>
            </a:r>
            <a:r>
              <a:rPr lang="en-US" altLang="ja-JP" b="1" dirty="0"/>
              <a:t>Transfer Parameters to Hardware</a:t>
            </a:r>
            <a:r>
              <a:rPr lang="ja-JP" altLang="en-US" dirty="0"/>
              <a:t>の工程で、それらのパラメータを</a:t>
            </a:r>
            <a:r>
              <a:rPr lang="en-US" altLang="ja-JP" dirty="0"/>
              <a:t>C</a:t>
            </a:r>
            <a:r>
              <a:rPr lang="ja-JP" altLang="en-US" dirty="0"/>
              <a:t>コードやハードウェア設計に転送します。</a:t>
            </a:r>
          </a:p>
          <a:p>
            <a:pPr>
              <a:buNone/>
            </a:pPr>
            <a:r>
              <a:rPr lang="ja-JP" altLang="en-US" dirty="0"/>
              <a:t>続いて、</a:t>
            </a:r>
            <a:r>
              <a:rPr lang="en-US" altLang="ja-JP" b="1" dirty="0"/>
              <a:t>Stratus HLS High-Level Synthesis</a:t>
            </a:r>
            <a:r>
              <a:rPr lang="ja-JP" altLang="en-US" dirty="0"/>
              <a:t>の部分で、</a:t>
            </a:r>
            <a:r>
              <a:rPr lang="en-US" altLang="ja-JP" dirty="0"/>
              <a:t>Stratus HLS</a:t>
            </a:r>
            <a:r>
              <a:rPr lang="ja-JP" altLang="en-US" dirty="0"/>
              <a:t>というツールを使い、</a:t>
            </a:r>
            <a:r>
              <a:rPr lang="en-US" altLang="ja-JP" dirty="0"/>
              <a:t>C/</a:t>
            </a:r>
            <a:r>
              <a:rPr lang="en-US" altLang="ja-JP" dirty="0" err="1"/>
              <a:t>SystemC</a:t>
            </a:r>
            <a:r>
              <a:rPr lang="ja-JP" altLang="en-US" dirty="0"/>
              <a:t>コードからハードウェア回路の設計データを自動生成します。</a:t>
            </a:r>
          </a:p>
          <a:p>
            <a:pPr>
              <a:buNone/>
            </a:pPr>
            <a:endParaRPr lang="ja-JP" altLang="en-US" dirty="0"/>
          </a:p>
          <a:p>
            <a:endParaRPr kumimoji="1" lang="en-US" altLang="ja-JP" dirty="0"/>
          </a:p>
          <a:p>
            <a:pPr>
              <a:buNone/>
            </a:pPr>
            <a:r>
              <a:rPr lang="en-US" altLang="ja-JP" b="1" dirty="0"/>
              <a:t>English</a:t>
            </a:r>
          </a:p>
          <a:p>
            <a:pPr>
              <a:buNone/>
            </a:pPr>
            <a:r>
              <a:rPr lang="en-US" altLang="ja-JP" dirty="0"/>
              <a:t>“This slide illustrates the entire workflow of the project.</a:t>
            </a:r>
            <a:br>
              <a:rPr lang="en-US" altLang="ja-JP" dirty="0"/>
            </a:br>
            <a:r>
              <a:rPr lang="en-US" altLang="ja-JP" dirty="0"/>
              <a:t>First, we load the </a:t>
            </a:r>
            <a:r>
              <a:rPr lang="en-US" altLang="ja-JP" b="1" dirty="0"/>
              <a:t>MNIST Dataset</a:t>
            </a:r>
            <a:r>
              <a:rPr lang="en-US" altLang="ja-JP" dirty="0"/>
              <a:t>, which is a collection of handwritten digit images. </a:t>
            </a:r>
          </a:p>
          <a:p>
            <a:pPr>
              <a:buNone/>
            </a:pPr>
            <a:r>
              <a:rPr lang="en-US" altLang="ja-JP" dirty="0"/>
              <a:t>Next, in the </a:t>
            </a:r>
            <a:r>
              <a:rPr lang="en-US" altLang="ja-JP" b="1" dirty="0"/>
              <a:t>Data Preprocessing</a:t>
            </a:r>
            <a:r>
              <a:rPr lang="en-US" altLang="ja-JP" dirty="0"/>
              <a:t> step, we normalize and resize the image data, preparing it for efficient model training.</a:t>
            </a:r>
          </a:p>
          <a:p>
            <a:pPr>
              <a:buNone/>
            </a:pPr>
            <a:r>
              <a:rPr lang="en-US" altLang="ja-JP" dirty="0"/>
              <a:t>Then, in the </a:t>
            </a:r>
            <a:r>
              <a:rPr lang="en-US" altLang="ja-JP" b="1" dirty="0"/>
              <a:t>Model Training</a:t>
            </a:r>
            <a:r>
              <a:rPr lang="en-US" altLang="ja-JP" dirty="0"/>
              <a:t> phase, we use </a:t>
            </a:r>
            <a:r>
              <a:rPr lang="en-US" altLang="ja-JP" dirty="0" err="1"/>
              <a:t>PyTorch</a:t>
            </a:r>
            <a:r>
              <a:rPr lang="en-US" altLang="ja-JP" dirty="0"/>
              <a:t> with Quantization Aware Training (QAT) to train a computationally efficient CNN model.</a:t>
            </a:r>
          </a:p>
          <a:p>
            <a:pPr>
              <a:buNone/>
            </a:pPr>
            <a:r>
              <a:rPr lang="en-US" altLang="ja-JP" dirty="0"/>
              <a:t>Once training is complete, we extract the </a:t>
            </a:r>
            <a:r>
              <a:rPr lang="en-US" altLang="ja-JP" b="1" dirty="0"/>
              <a:t>Learned Parameters</a:t>
            </a:r>
            <a:r>
              <a:rPr lang="en-US" altLang="ja-JP" dirty="0"/>
              <a:t> such as weights and biases. </a:t>
            </a:r>
          </a:p>
          <a:p>
            <a:pPr>
              <a:buNone/>
            </a:pPr>
            <a:r>
              <a:rPr lang="en-US" altLang="ja-JP" dirty="0"/>
              <a:t>In the </a:t>
            </a:r>
            <a:r>
              <a:rPr lang="en-US" altLang="ja-JP" b="1" dirty="0"/>
              <a:t>Transfer Parameters to Hardware</a:t>
            </a:r>
            <a:r>
              <a:rPr lang="en-US" altLang="ja-JP" dirty="0"/>
              <a:t> step, we convert and transfer these parameters into C code or hardware design format.</a:t>
            </a:r>
          </a:p>
          <a:p>
            <a:pPr>
              <a:buNone/>
            </a:pPr>
            <a:r>
              <a:rPr lang="en-US" altLang="ja-JP" dirty="0"/>
              <a:t>Next, using </a:t>
            </a:r>
            <a:r>
              <a:rPr lang="en-US" altLang="ja-JP" b="1" dirty="0"/>
              <a:t>Stratus HLS High-Level Synthesis</a:t>
            </a:r>
            <a:r>
              <a:rPr lang="en-US" altLang="ja-JP" dirty="0"/>
              <a:t>, we utilize the Stratus HLS tool to automatically generate hardware circuit designs from our C or </a:t>
            </a:r>
            <a:r>
              <a:rPr lang="en-US" altLang="ja-JP" dirty="0" err="1"/>
              <a:t>SystemC</a:t>
            </a:r>
            <a:r>
              <a:rPr lang="en-US" altLang="ja-JP" dirty="0"/>
              <a:t> code.</a:t>
            </a:r>
          </a:p>
          <a:p>
            <a:endParaRPr kumimoji="1" lang="en-US" altLang="ja-JP" dirty="0"/>
          </a:p>
          <a:p>
            <a:r>
              <a:rPr kumimoji="1" lang="en-US" altLang="ja-JP" dirty="0"/>
              <a:t>================================</a:t>
            </a:r>
          </a:p>
          <a:p>
            <a:r>
              <a:rPr kumimoji="1" lang="ja-JP" altLang="en-US" dirty="0"/>
              <a:t>質問</a:t>
            </a:r>
            <a:endParaRPr kumimoji="1" lang="en-US" altLang="ja-JP" dirty="0"/>
          </a:p>
          <a:p>
            <a:pPr>
              <a:buNone/>
            </a:pPr>
            <a:r>
              <a:rPr lang="ja-JP" altLang="en-US" b="1" dirty="0"/>
              <a:t>日本語</a:t>
            </a:r>
            <a:br>
              <a:rPr lang="ja-JP" altLang="en-US" dirty="0"/>
            </a:br>
            <a:r>
              <a:rPr lang="ja-JP" altLang="en-US" dirty="0"/>
              <a:t>「ハードウェアにパラメータを転送する過程で精度劣化やバグが入り込むリスクがありますが、どのようにその検証・対策を行いましたか？」</a:t>
            </a:r>
          </a:p>
          <a:p>
            <a:pPr>
              <a:buNone/>
            </a:pPr>
            <a:r>
              <a:rPr lang="ja-JP" altLang="en-US" b="1" dirty="0"/>
              <a:t>英語</a:t>
            </a:r>
            <a:br>
              <a:rPr lang="ja-JP" altLang="en-US" dirty="0"/>
            </a:br>
            <a:r>
              <a:rPr lang="ja-JP" altLang="en-US" dirty="0"/>
              <a:t>“</a:t>
            </a:r>
            <a:r>
              <a:rPr lang="en-US" altLang="ja-JP" dirty="0"/>
              <a:t>In the process of transferring parameters to hardware, there is a risk of accuracy degradation or bugs creeping in. How did you verify and prevent such issues?”</a:t>
            </a:r>
          </a:p>
          <a:p>
            <a:pPr>
              <a:buNone/>
            </a:pPr>
            <a:r>
              <a:rPr lang="en-US" altLang="ja-JP" b="1" dirty="0"/>
              <a:t>A:</a:t>
            </a:r>
          </a:p>
          <a:p>
            <a:pPr>
              <a:buNone/>
            </a:pPr>
            <a:r>
              <a:rPr lang="ja-JP" altLang="en-US" b="1" dirty="0"/>
              <a:t>日本語</a:t>
            </a:r>
            <a:br>
              <a:rPr lang="ja-JP" altLang="en-US" dirty="0"/>
            </a:br>
            <a:r>
              <a:rPr lang="ja-JP" altLang="en-US" dirty="0"/>
              <a:t>「ご指摘の通り、学習済みパラメータの転送ミスや精度劣化は大きな問題です。今回は、ソフトウェアとハードウェアで同じ入力データ・同じパラメータで推論結果が一致するかどうかを何度も比較検証し、差異が出た場合はデータ形式やビット幅の変換処理を細かく見直しました。また、</a:t>
            </a:r>
            <a:r>
              <a:rPr lang="en-US" altLang="ja-JP" dirty="0"/>
              <a:t>C</a:t>
            </a:r>
            <a:r>
              <a:rPr lang="ja-JP" altLang="en-US" dirty="0"/>
              <a:t>言語と</a:t>
            </a:r>
            <a:r>
              <a:rPr lang="en-US" altLang="ja-JP" dirty="0" err="1"/>
              <a:t>SystemC</a:t>
            </a:r>
            <a:r>
              <a:rPr lang="ja-JP" altLang="en-US" dirty="0"/>
              <a:t>間のパラメータ転送用スクリプトも複数回テストして検証しました。」</a:t>
            </a:r>
          </a:p>
          <a:p>
            <a:r>
              <a:rPr lang="ja-JP" altLang="en-US" b="1" dirty="0"/>
              <a:t>英語</a:t>
            </a:r>
            <a:br>
              <a:rPr lang="ja-JP" altLang="en-US" dirty="0"/>
            </a:br>
            <a:r>
              <a:rPr lang="ja-JP" altLang="en-US" dirty="0"/>
              <a:t>“</a:t>
            </a:r>
            <a:r>
              <a:rPr lang="en-US" altLang="ja-JP" dirty="0"/>
              <a:t>As you pointed out, transfer mistakes or accuracy degradation during parameter conversion are critical issues. In this work, we repeatedly checked whether the inference results matched between software and hardware using the same inputs and parameters. Whenever discrepancies arose, we closely reviewed data formatting and bit-width conversion processes. Additionally, the scripts for parameter transfer between C and </a:t>
            </a:r>
            <a:r>
              <a:rPr lang="en-US" altLang="ja-JP" dirty="0" err="1"/>
              <a:t>SystemC</a:t>
            </a:r>
            <a:r>
              <a:rPr lang="en-US" altLang="ja-JP" dirty="0"/>
              <a:t> were tested multiple times for correctness.”</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5</a:t>
            </a:fld>
            <a:endParaRPr kumimoji="1" lang="ja-JP" altLang="en-US"/>
          </a:p>
        </p:txBody>
      </p:sp>
    </p:spTree>
    <p:extLst>
      <p:ext uri="{BB962C8B-B14F-4D97-AF65-F5344CB8AC3E}">
        <p14:creationId xmlns:p14="http://schemas.microsoft.com/office/powerpoint/2010/main" val="3886079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「使用したツールについてです。</a:t>
            </a:r>
            <a:r>
              <a:rPr lang="en-US" altLang="ja-JP" dirty="0" err="1"/>
              <a:t>Pytorch</a:t>
            </a:r>
            <a:r>
              <a:rPr lang="en-US" altLang="ja-JP" dirty="0"/>
              <a:t> 2.1</a:t>
            </a:r>
            <a:r>
              <a:rPr lang="ja-JP" altLang="en-US" dirty="0"/>
              <a:t>、</a:t>
            </a:r>
            <a:r>
              <a:rPr lang="en-US" altLang="ja-JP" dirty="0"/>
              <a:t>Python 3.10</a:t>
            </a:r>
            <a:r>
              <a:rPr lang="ja-JP" altLang="en-US" dirty="0"/>
              <a:t>、</a:t>
            </a:r>
            <a:r>
              <a:rPr lang="en-US" altLang="ja-JP" dirty="0"/>
              <a:t>Google </a:t>
            </a:r>
            <a:r>
              <a:rPr lang="en-US" altLang="ja-JP" dirty="0" err="1"/>
              <a:t>Colab</a:t>
            </a:r>
            <a:r>
              <a:rPr lang="ja-JP" altLang="en-US" dirty="0"/>
              <a:t>、そして</a:t>
            </a:r>
            <a:r>
              <a:rPr lang="en-US" altLang="ja-JP" dirty="0"/>
              <a:t>C</a:t>
            </a:r>
            <a:r>
              <a:rPr lang="ja-JP" altLang="en-US" dirty="0"/>
              <a:t>言語のコンパイラ（</a:t>
            </a:r>
            <a:r>
              <a:rPr lang="en-US" altLang="ja-JP" dirty="0" err="1"/>
              <a:t>gcc</a:t>
            </a:r>
            <a:r>
              <a:rPr lang="en-US" altLang="ja-JP" dirty="0"/>
              <a:t>/g++ 11</a:t>
            </a:r>
            <a:r>
              <a:rPr lang="ja-JP" altLang="en-US" dirty="0"/>
              <a:t>）を使いました。」</a:t>
            </a:r>
          </a:p>
          <a:p>
            <a:endParaRPr lang="en-US" altLang="ja-JP" b="1" dirty="0"/>
          </a:p>
          <a:p>
            <a:r>
              <a:rPr lang="en-US" altLang="ja-JP" b="1" dirty="0"/>
              <a:t>English</a:t>
            </a:r>
            <a:br>
              <a:rPr lang="en-US" altLang="ja-JP" dirty="0"/>
            </a:br>
            <a:r>
              <a:rPr lang="en-US" altLang="ja-JP" dirty="0"/>
              <a:t>“Here are the tools used in this project (wait)”</a:t>
            </a:r>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6</a:t>
            </a:fld>
            <a:endParaRPr kumimoji="1" lang="ja-JP" altLang="en-US"/>
          </a:p>
        </p:txBody>
      </p:sp>
    </p:spTree>
    <p:extLst>
      <p:ext uri="{BB962C8B-B14F-4D97-AF65-F5344CB8AC3E}">
        <p14:creationId xmlns:p14="http://schemas.microsoft.com/office/powerpoint/2010/main" val="3108930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「ここから</a:t>
            </a:r>
            <a:r>
              <a:rPr lang="en-US" altLang="ja-JP" dirty="0"/>
              <a:t>C</a:t>
            </a:r>
            <a:r>
              <a:rPr lang="ja-JP" altLang="en-US" dirty="0"/>
              <a:t>言語での実装に入ります。まず、ヘッダファイルのインクルードと、ネットワークの各種パラメータを定義します。」</a:t>
            </a:r>
            <a:endParaRPr lang="en-US" altLang="ja-JP" dirty="0"/>
          </a:p>
          <a:p>
            <a:pPr>
              <a:buNone/>
            </a:pPr>
            <a:endParaRPr lang="ja-JP" altLang="en-US" dirty="0"/>
          </a:p>
          <a:p>
            <a:r>
              <a:rPr lang="en-US" altLang="ja-JP" b="1" dirty="0"/>
              <a:t>English</a:t>
            </a:r>
            <a:br>
              <a:rPr lang="en-US" altLang="ja-JP" dirty="0"/>
            </a:br>
            <a:r>
              <a:rPr lang="en-US" altLang="ja-JP" dirty="0"/>
              <a:t>“Now, let’s look at the C code implementation. First, header files are included and parameters such as image size and kernel size are defined.”</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7</a:t>
            </a:fld>
            <a:endParaRPr kumimoji="1" lang="ja-JP" altLang="en-US"/>
          </a:p>
        </p:txBody>
      </p:sp>
    </p:spTree>
    <p:extLst>
      <p:ext uri="{BB962C8B-B14F-4D97-AF65-F5344CB8AC3E}">
        <p14:creationId xmlns:p14="http://schemas.microsoft.com/office/powerpoint/2010/main" val="3193534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「入力データの宣言部分です。</a:t>
            </a:r>
            <a:r>
              <a:rPr lang="en-US" altLang="ja-JP" dirty="0"/>
              <a:t>28×28</a:t>
            </a:r>
            <a:r>
              <a:rPr lang="ja-JP" altLang="en-US" dirty="0"/>
              <a:t>の画像と、そのラベルが</a:t>
            </a:r>
            <a:r>
              <a:rPr lang="en-US" altLang="ja-JP" dirty="0"/>
              <a:t>0</a:t>
            </a:r>
            <a:r>
              <a:rPr lang="ja-JP" altLang="en-US" dirty="0"/>
              <a:t>～</a:t>
            </a:r>
            <a:r>
              <a:rPr lang="en-US" altLang="ja-JP" dirty="0"/>
              <a:t>9</a:t>
            </a:r>
            <a:r>
              <a:rPr lang="ja-JP" altLang="en-US" dirty="0"/>
              <a:t>であることを示しています。」</a:t>
            </a:r>
            <a:endParaRPr lang="en-US" altLang="ja-JP" dirty="0"/>
          </a:p>
          <a:p>
            <a:pPr>
              <a:buNone/>
            </a:pPr>
            <a:endParaRPr lang="ja-JP" altLang="en-US" dirty="0"/>
          </a:p>
          <a:p>
            <a:r>
              <a:rPr lang="en-US" altLang="ja-JP" b="1" dirty="0"/>
              <a:t>English</a:t>
            </a:r>
            <a:br>
              <a:rPr lang="en-US" altLang="ja-JP" dirty="0"/>
            </a:br>
            <a:r>
              <a:rPr lang="en-US" altLang="ja-JP" dirty="0"/>
              <a:t>“This part declares the input data: a 28 by 28 image and its label, ranging from 0 to 9.”</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8</a:t>
            </a:fld>
            <a:endParaRPr kumimoji="1" lang="ja-JP" altLang="en-US"/>
          </a:p>
        </p:txBody>
      </p:sp>
    </p:spTree>
    <p:extLst>
      <p:ext uri="{BB962C8B-B14F-4D97-AF65-F5344CB8AC3E}">
        <p14:creationId xmlns:p14="http://schemas.microsoft.com/office/powerpoint/2010/main" val="3702564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「畳み込み、</a:t>
            </a:r>
            <a:r>
              <a:rPr lang="en-US" altLang="ja-JP" dirty="0"/>
              <a:t>ReLU</a:t>
            </a:r>
            <a:r>
              <a:rPr lang="ja-JP" altLang="en-US" dirty="0"/>
              <a:t>、プーリングの処理部分です。各チャンネルごとに、画像から特徴量を抽出していきます。」</a:t>
            </a:r>
            <a:endParaRPr lang="en-US" altLang="ja-JP" dirty="0"/>
          </a:p>
          <a:p>
            <a:pPr>
              <a:buNone/>
            </a:pPr>
            <a:endParaRPr lang="ja-JP" altLang="en-US" dirty="0"/>
          </a:p>
          <a:p>
            <a:r>
              <a:rPr lang="en-US" altLang="ja-JP" b="1" dirty="0"/>
              <a:t>English</a:t>
            </a:r>
            <a:br>
              <a:rPr lang="en-US" altLang="ja-JP" dirty="0"/>
            </a:br>
            <a:r>
              <a:rPr lang="en-US" altLang="ja-JP" dirty="0"/>
              <a:t>“This section handles convolution, ReLU, and pooling. For each channel, the features are extracted from the image data.”</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9</a:t>
            </a:fld>
            <a:endParaRPr kumimoji="1" lang="ja-JP" altLang="en-US"/>
          </a:p>
        </p:txBody>
      </p:sp>
    </p:spTree>
    <p:extLst>
      <p:ext uri="{BB962C8B-B14F-4D97-AF65-F5344CB8AC3E}">
        <p14:creationId xmlns:p14="http://schemas.microsoft.com/office/powerpoint/2010/main" val="2606423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「ここでは全結合層と</a:t>
            </a:r>
            <a:r>
              <a:rPr lang="en-US" altLang="ja-JP" dirty="0"/>
              <a:t>ReLU</a:t>
            </a:r>
            <a:r>
              <a:rPr lang="ja-JP" altLang="en-US" dirty="0"/>
              <a:t>を実装しています。プーリング後の出力を</a:t>
            </a:r>
            <a:r>
              <a:rPr lang="en-US" altLang="ja-JP" dirty="0"/>
              <a:t>1</a:t>
            </a:r>
            <a:r>
              <a:rPr lang="ja-JP" altLang="en-US" dirty="0"/>
              <a:t>次元にして、重み付き和を計算します。」</a:t>
            </a:r>
            <a:endParaRPr lang="en-US" altLang="ja-JP" dirty="0"/>
          </a:p>
          <a:p>
            <a:pPr>
              <a:buNone/>
            </a:pPr>
            <a:endParaRPr lang="ja-JP" altLang="en-US" dirty="0"/>
          </a:p>
          <a:p>
            <a:r>
              <a:rPr lang="en-US" altLang="ja-JP" b="1" dirty="0"/>
              <a:t>English</a:t>
            </a:r>
            <a:br>
              <a:rPr lang="en-US" altLang="ja-JP" dirty="0"/>
            </a:br>
            <a:r>
              <a:rPr lang="en-US" altLang="ja-JP" dirty="0"/>
              <a:t>“This part implements the fully connected layer and ReLU. The output after pooling is flattened and weighted sums are calculated.”</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10</a:t>
            </a:fld>
            <a:endParaRPr kumimoji="1" lang="ja-JP" altLang="en-US"/>
          </a:p>
        </p:txBody>
      </p:sp>
    </p:spTree>
    <p:extLst>
      <p:ext uri="{BB962C8B-B14F-4D97-AF65-F5344CB8AC3E}">
        <p14:creationId xmlns:p14="http://schemas.microsoft.com/office/powerpoint/2010/main" val="2114852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「最後に</a:t>
            </a:r>
            <a:r>
              <a:rPr lang="en-US" altLang="ja-JP" dirty="0"/>
              <a:t>Argmax</a:t>
            </a:r>
            <a:r>
              <a:rPr lang="ja-JP" altLang="en-US" dirty="0"/>
              <a:t>で最大値のインデックス、つまり分類結果を出力します。」</a:t>
            </a:r>
            <a:endParaRPr lang="en-US" altLang="ja-JP" dirty="0"/>
          </a:p>
          <a:p>
            <a:pPr>
              <a:buNone/>
            </a:pPr>
            <a:endParaRPr lang="ja-JP" altLang="en-US" dirty="0"/>
          </a:p>
          <a:p>
            <a:r>
              <a:rPr lang="en-US" altLang="ja-JP" b="1" dirty="0"/>
              <a:t>English</a:t>
            </a:r>
            <a:br>
              <a:rPr lang="en-US" altLang="ja-JP" dirty="0"/>
            </a:br>
            <a:r>
              <a:rPr lang="en-US" altLang="ja-JP" dirty="0"/>
              <a:t>“Finally, the argmax function finds the index with the maximum value—this is the classification result.”</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11</a:t>
            </a:fld>
            <a:endParaRPr kumimoji="1" lang="ja-JP" altLang="en-US"/>
          </a:p>
        </p:txBody>
      </p:sp>
    </p:spTree>
    <p:extLst>
      <p:ext uri="{BB962C8B-B14F-4D97-AF65-F5344CB8AC3E}">
        <p14:creationId xmlns:p14="http://schemas.microsoft.com/office/powerpoint/2010/main" val="791725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「次に、</a:t>
            </a:r>
            <a:r>
              <a:rPr lang="en-US" altLang="ja-JP" dirty="0"/>
              <a:t>C</a:t>
            </a:r>
            <a:r>
              <a:rPr lang="ja-JP" altLang="en-US" dirty="0"/>
              <a:t>コードを</a:t>
            </a:r>
            <a:r>
              <a:rPr lang="en-US" altLang="ja-JP" dirty="0" err="1"/>
              <a:t>SystemC</a:t>
            </a:r>
            <a:r>
              <a:rPr lang="ja-JP" altLang="en-US" dirty="0"/>
              <a:t>に変換し、</a:t>
            </a:r>
            <a:r>
              <a:rPr lang="en-US" altLang="ja-JP" dirty="0"/>
              <a:t>Stratus HLS</a:t>
            </a:r>
            <a:r>
              <a:rPr lang="ja-JP" altLang="en-US" dirty="0"/>
              <a:t>上で合成しました。」</a:t>
            </a:r>
            <a:endParaRPr lang="en-US" altLang="ja-JP" dirty="0"/>
          </a:p>
          <a:p>
            <a:pPr>
              <a:buNone/>
            </a:pPr>
            <a:endParaRPr lang="ja-JP" altLang="en-US" dirty="0"/>
          </a:p>
          <a:p>
            <a:r>
              <a:rPr lang="en-US" altLang="ja-JP" b="1" dirty="0"/>
              <a:t>English</a:t>
            </a:r>
            <a:br>
              <a:rPr lang="en-US" altLang="ja-JP" dirty="0"/>
            </a:br>
            <a:r>
              <a:rPr lang="en-US" altLang="ja-JP" dirty="0"/>
              <a:t>“Next, the C code is converted to </a:t>
            </a:r>
            <a:r>
              <a:rPr lang="en-US" altLang="ja-JP" dirty="0" err="1"/>
              <a:t>SystemC</a:t>
            </a:r>
            <a:r>
              <a:rPr lang="en-US" altLang="ja-JP" dirty="0"/>
              <a:t> and synthesized using Stratus HLS.”</a:t>
            </a:r>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12</a:t>
            </a:fld>
            <a:endParaRPr kumimoji="1" lang="ja-JP" altLang="en-US"/>
          </a:p>
        </p:txBody>
      </p:sp>
    </p:spTree>
    <p:extLst>
      <p:ext uri="{BB962C8B-B14F-4D97-AF65-F5344CB8AC3E}">
        <p14:creationId xmlns:p14="http://schemas.microsoft.com/office/powerpoint/2010/main" val="2182815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1FDCC-3A90-9496-A95D-0EBA17DFF0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CE1EAA-7E00-1156-6694-D4CE4D6E9B6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FCBFAB7-E8DF-6DFB-9AD5-1441765214E1}"/>
              </a:ext>
            </a:extLst>
          </p:cNvPr>
          <p:cNvSpPr>
            <a:spLocks noGrp="1"/>
          </p:cNvSpPr>
          <p:nvPr>
            <p:ph type="body" idx="1"/>
          </p:nvPr>
        </p:nvSpPr>
        <p:spPr/>
        <p:txBody>
          <a:bodyPr/>
          <a:lstStyle/>
          <a:p>
            <a:pPr>
              <a:buNone/>
            </a:pPr>
            <a:r>
              <a:rPr lang="ja-JP" altLang="en-US" b="1" dirty="0"/>
              <a:t>日本語</a:t>
            </a:r>
          </a:p>
          <a:p>
            <a:pPr>
              <a:buNone/>
            </a:pPr>
            <a:r>
              <a:rPr lang="ja-JP" altLang="en-US" dirty="0"/>
              <a:t>「このスライドでは、コードレベルでの最適化手法について詳しく説明します。</a:t>
            </a:r>
          </a:p>
          <a:p>
            <a:pPr>
              <a:buNone/>
            </a:pPr>
            <a:r>
              <a:rPr lang="ja-JP" altLang="en-US" dirty="0"/>
              <a:t>まず、</a:t>
            </a:r>
            <a:r>
              <a:rPr lang="en-US" altLang="ja-JP" b="1" dirty="0"/>
              <a:t>Conv2D</a:t>
            </a:r>
            <a:r>
              <a:rPr lang="ja-JP" altLang="en-US" b="1" dirty="0"/>
              <a:t>、</a:t>
            </a:r>
            <a:r>
              <a:rPr lang="en-US" altLang="ja-JP" b="1" dirty="0"/>
              <a:t>ReLU</a:t>
            </a:r>
            <a:r>
              <a:rPr lang="ja-JP" altLang="en-US" b="1" dirty="0"/>
              <a:t>、</a:t>
            </a:r>
            <a:r>
              <a:rPr lang="en-US" altLang="ja-JP" b="1" dirty="0" err="1"/>
              <a:t>MaxPooling</a:t>
            </a:r>
            <a:r>
              <a:rPr lang="ja-JP" altLang="en-US" b="1" dirty="0"/>
              <a:t>の最適化</a:t>
            </a:r>
            <a:r>
              <a:rPr lang="ja-JP" altLang="en-US" dirty="0"/>
              <a:t>です。</a:t>
            </a:r>
            <a:br>
              <a:rPr lang="ja-JP" altLang="en-US" dirty="0"/>
            </a:br>
            <a:r>
              <a:rPr lang="ja-JP" altLang="en-US" dirty="0"/>
              <a:t>一般的には畳み込み、</a:t>
            </a:r>
            <a:r>
              <a:rPr lang="en-US" altLang="ja-JP" dirty="0"/>
              <a:t>ReLU</a:t>
            </a:r>
            <a:r>
              <a:rPr lang="ja-JP" altLang="en-US" dirty="0"/>
              <a:t>、そしてプーリングをそれぞれ別々のループで処理することが多いですが、ここではこれら</a:t>
            </a:r>
            <a:r>
              <a:rPr lang="en-US" altLang="ja-JP" dirty="0"/>
              <a:t>3</a:t>
            </a:r>
            <a:r>
              <a:rPr lang="ja-JP" altLang="en-US" dirty="0"/>
              <a:t>つの処理を</a:t>
            </a:r>
            <a:r>
              <a:rPr lang="en-US" altLang="ja-JP" dirty="0"/>
              <a:t>1</a:t>
            </a:r>
            <a:r>
              <a:rPr lang="ja-JP" altLang="en-US" dirty="0"/>
              <a:t>つのループ内で連続して行うように実装しました。</a:t>
            </a:r>
            <a:br>
              <a:rPr lang="ja-JP" altLang="en-US" dirty="0"/>
            </a:br>
            <a:r>
              <a:rPr lang="ja-JP" altLang="en-US" dirty="0"/>
              <a:t>これによって、一時的に必要となるデータの保持期間、つまりレジスタの生存時間を大幅に短縮できます。その結果、無駄なメモリアクセスやデータコピーが減り、計算効率が高まり、全体のメモリ使用量も最適化されます。</a:t>
            </a:r>
          </a:p>
          <a:p>
            <a:pPr>
              <a:buNone/>
            </a:pPr>
            <a:r>
              <a:rPr lang="ja-JP" altLang="en-US" dirty="0"/>
              <a:t>次に、</a:t>
            </a:r>
            <a:r>
              <a:rPr lang="en-US" altLang="ja-JP" b="1" dirty="0"/>
              <a:t>Flatten</a:t>
            </a:r>
            <a:r>
              <a:rPr lang="ja-JP" altLang="en-US" b="1" dirty="0"/>
              <a:t>層のスキップと</a:t>
            </a:r>
            <a:r>
              <a:rPr lang="en-US" altLang="ja-JP" b="1" dirty="0"/>
              <a:t>FC</a:t>
            </a:r>
            <a:r>
              <a:rPr lang="ja-JP" altLang="en-US" b="1" dirty="0"/>
              <a:t>層のインデックス指定</a:t>
            </a:r>
            <a:r>
              <a:rPr lang="ja-JP" altLang="en-US" dirty="0"/>
              <a:t>についてです。</a:t>
            </a:r>
            <a:br>
              <a:rPr lang="ja-JP" altLang="en-US" dirty="0"/>
            </a:br>
            <a:r>
              <a:rPr lang="ja-JP" altLang="en-US" dirty="0"/>
              <a:t>通常、</a:t>
            </a:r>
            <a:r>
              <a:rPr lang="en-US" altLang="ja-JP" dirty="0"/>
              <a:t>CNN</a:t>
            </a:r>
            <a:r>
              <a:rPr lang="ja-JP" altLang="en-US" dirty="0"/>
              <a:t>の特徴マップを全結合層に渡す際には、</a:t>
            </a:r>
            <a:r>
              <a:rPr lang="en-US" altLang="ja-JP" dirty="0"/>
              <a:t>Flatten</a:t>
            </a:r>
            <a:r>
              <a:rPr lang="ja-JP" altLang="en-US" dirty="0"/>
              <a:t>という層で多次元データを</a:t>
            </a:r>
            <a:r>
              <a:rPr lang="en-US" altLang="ja-JP" dirty="0"/>
              <a:t>1</a:t>
            </a:r>
            <a:r>
              <a:rPr lang="ja-JP" altLang="en-US" dirty="0"/>
              <a:t>次元配列に変換します。しかし今回は</a:t>
            </a:r>
            <a:r>
              <a:rPr lang="en-US" altLang="ja-JP" dirty="0"/>
              <a:t>Flatten</a:t>
            </a:r>
            <a:r>
              <a:rPr lang="ja-JP" altLang="en-US" dirty="0"/>
              <a:t>処理を省略し、各特徴マップをそのままインデックスで</a:t>
            </a:r>
            <a:r>
              <a:rPr lang="en-US" altLang="ja-JP" dirty="0"/>
              <a:t>FC</a:t>
            </a:r>
            <a:r>
              <a:rPr lang="ja-JP" altLang="en-US" dirty="0"/>
              <a:t>層にマッピングすることで、余分な計算やデータ移動を減らしました。</a:t>
            </a:r>
            <a:br>
              <a:rPr lang="ja-JP" altLang="en-US" dirty="0"/>
            </a:br>
            <a:r>
              <a:rPr lang="ja-JP" altLang="en-US" dirty="0"/>
              <a:t>これにより、計算量が削減され、より効率的な推論を実現しています。」</a:t>
            </a:r>
            <a:endParaRPr lang="en-US" altLang="ja-JP" dirty="0"/>
          </a:p>
          <a:p>
            <a:pPr>
              <a:buNone/>
            </a:pPr>
            <a:endParaRPr lang="ja-JP" altLang="en-US" dirty="0"/>
          </a:p>
          <a:p>
            <a:pPr>
              <a:buNone/>
            </a:pPr>
            <a:r>
              <a:rPr lang="en-US" altLang="ja-JP" b="1" dirty="0"/>
              <a:t>English</a:t>
            </a:r>
          </a:p>
          <a:p>
            <a:pPr>
              <a:buNone/>
            </a:pPr>
            <a:r>
              <a:rPr lang="en-US" altLang="ja-JP" dirty="0"/>
              <a:t>“This slide details the code-level optimizations applied in this project.</a:t>
            </a:r>
          </a:p>
          <a:p>
            <a:pPr>
              <a:buNone/>
            </a:pPr>
            <a:r>
              <a:rPr lang="en-US" altLang="ja-JP" dirty="0"/>
              <a:t>First is the </a:t>
            </a:r>
            <a:r>
              <a:rPr lang="en-US" altLang="ja-JP" b="1" dirty="0"/>
              <a:t>optimization of Conv2D, ReLU, and </a:t>
            </a:r>
            <a:r>
              <a:rPr lang="en-US" altLang="ja-JP" b="1" dirty="0" err="1"/>
              <a:t>MaxPooling</a:t>
            </a:r>
            <a:r>
              <a:rPr lang="en-US" altLang="ja-JP" dirty="0"/>
              <a:t>.</a:t>
            </a:r>
            <a:br>
              <a:rPr lang="en-US" altLang="ja-JP" dirty="0"/>
            </a:br>
            <a:r>
              <a:rPr lang="en-US" altLang="ja-JP" dirty="0"/>
              <a:t>In a standard implementation, convolution, ReLU, and max pooling are often performed in separate loops. In this design, however, all three operations are combined into a single loop.</a:t>
            </a:r>
            <a:br>
              <a:rPr lang="en-US" altLang="ja-JP" dirty="0"/>
            </a:br>
            <a:r>
              <a:rPr lang="en-US" altLang="ja-JP" dirty="0"/>
              <a:t>By processing them together, the survival time of registers—meaning how long intermediate data needs to be held—is greatly reduced. This leads to fewer unnecessary memory accesses, less data copying, improved computational efficiency, and optimized memory usage overall.</a:t>
            </a:r>
          </a:p>
          <a:p>
            <a:r>
              <a:rPr lang="en-US" altLang="ja-JP" dirty="0"/>
              <a:t>Next is </a:t>
            </a:r>
            <a:r>
              <a:rPr lang="en-US" altLang="ja-JP" b="1" dirty="0"/>
              <a:t>skipping the Flatten layer and specifying the FC layer index</a:t>
            </a:r>
            <a:r>
              <a:rPr lang="en-US" altLang="ja-JP" dirty="0"/>
              <a:t>.</a:t>
            </a:r>
            <a:br>
              <a:rPr lang="en-US" altLang="ja-JP" dirty="0"/>
            </a:br>
            <a:r>
              <a:rPr lang="en-US" altLang="ja-JP" dirty="0"/>
              <a:t>Normally, before passing feature maps to the fully connected layer, the Flatten layer converts multi-dimensional data into a one-dimensional array. Here, we skip the Flatten layer entirely and directly map the feature maps into the fully connected layer using explicit index specification.</a:t>
            </a:r>
            <a:br>
              <a:rPr lang="en-US" altLang="ja-JP" dirty="0"/>
            </a:br>
            <a:r>
              <a:rPr lang="en-US" altLang="ja-JP" dirty="0"/>
              <a:t>This reduces computational complexity and eliminates extra data movements, resulting in more efficient inference.”</a:t>
            </a:r>
          </a:p>
          <a:p>
            <a:pPr>
              <a:buNone/>
            </a:pPr>
            <a:endParaRPr kumimoji="1" lang="en-US" altLang="ja-JP" dirty="0"/>
          </a:p>
          <a:p>
            <a:pPr>
              <a:buNone/>
            </a:pPr>
            <a:r>
              <a:rPr kumimoji="1" lang="en-US" altLang="ja-JP" dirty="0"/>
              <a:t>================================</a:t>
            </a:r>
          </a:p>
          <a:p>
            <a:pPr>
              <a:buNone/>
            </a:pPr>
            <a:r>
              <a:rPr kumimoji="1" lang="ja-JP" altLang="en-US" dirty="0"/>
              <a:t>質問</a:t>
            </a:r>
            <a:br>
              <a:rPr kumimoji="1" lang="en-US" altLang="ja-JP" dirty="0"/>
            </a:br>
            <a:r>
              <a:rPr lang="ja-JP" altLang="en-US" b="1" dirty="0"/>
              <a:t>日本語</a:t>
            </a:r>
            <a:br>
              <a:rPr lang="ja-JP" altLang="en-US" dirty="0"/>
            </a:br>
            <a:r>
              <a:rPr lang="ja-JP" altLang="en-US" dirty="0"/>
              <a:t>「</a:t>
            </a:r>
            <a:r>
              <a:rPr lang="en-US" altLang="ja-JP" dirty="0"/>
              <a:t>Flatten</a:t>
            </a:r>
            <a:r>
              <a:rPr lang="ja-JP" altLang="en-US" dirty="0"/>
              <a:t>層をスキップし直接</a:t>
            </a:r>
            <a:r>
              <a:rPr lang="en-US" altLang="ja-JP" dirty="0"/>
              <a:t>FC</a:t>
            </a:r>
            <a:r>
              <a:rPr lang="ja-JP" altLang="en-US" dirty="0"/>
              <a:t>層にインデックス指定で入力する手法は、一般化が難しいのでは？より複雑なモデルや可変入力サイズにも対応できるのでしょうか？」</a:t>
            </a:r>
          </a:p>
          <a:p>
            <a:pPr>
              <a:buNone/>
            </a:pPr>
            <a:r>
              <a:rPr lang="ja-JP" altLang="en-US" b="1" dirty="0"/>
              <a:t>英語</a:t>
            </a:r>
            <a:br>
              <a:rPr lang="ja-JP" altLang="en-US" dirty="0"/>
            </a:br>
            <a:r>
              <a:rPr lang="ja-JP" altLang="en-US" dirty="0"/>
              <a:t>“</a:t>
            </a:r>
            <a:r>
              <a:rPr lang="en-US" altLang="ja-JP" dirty="0"/>
              <a:t>By skipping the Flatten layer and using direct index mapping to the FC layer, isn’t it hard to generalize to more complex models or variable input sizes? Can this approach really scale?”</a:t>
            </a:r>
          </a:p>
          <a:p>
            <a:pPr>
              <a:buNone/>
            </a:pPr>
            <a:r>
              <a:rPr lang="en-US" altLang="ja-JP" b="1" dirty="0"/>
              <a:t>A:</a:t>
            </a:r>
          </a:p>
          <a:p>
            <a:pPr>
              <a:buNone/>
            </a:pPr>
            <a:r>
              <a:rPr lang="ja-JP" altLang="en-US" b="1" dirty="0"/>
              <a:t>日本語</a:t>
            </a:r>
            <a:br>
              <a:rPr lang="ja-JP" altLang="en-US" dirty="0"/>
            </a:br>
            <a:r>
              <a:rPr lang="ja-JP" altLang="en-US" dirty="0"/>
              <a:t>「確かにご指摘の通り、今回の手法は固定サイズの単純な</a:t>
            </a:r>
            <a:r>
              <a:rPr lang="en-US" altLang="ja-JP" dirty="0"/>
              <a:t>CNN</a:t>
            </a:r>
            <a:r>
              <a:rPr lang="ja-JP" altLang="en-US" dirty="0"/>
              <a:t>構造には適していますが、入力サイズが変わる場合や深層ネットワークでは拡張性に課題があります。今後は柔軟なインデックス変換ロジックやダイナミックな配列アクセスを取り入れることで、より汎用的な設計にも対応できるよう改善を検討しています。」</a:t>
            </a:r>
          </a:p>
          <a:p>
            <a:r>
              <a:rPr lang="ja-JP" altLang="en-US" b="1" dirty="0"/>
              <a:t>英語</a:t>
            </a:r>
            <a:br>
              <a:rPr lang="ja-JP" altLang="en-US" dirty="0"/>
            </a:br>
            <a:r>
              <a:rPr lang="ja-JP" altLang="en-US" dirty="0"/>
              <a:t>“</a:t>
            </a:r>
            <a:r>
              <a:rPr lang="en-US" altLang="ja-JP" dirty="0"/>
              <a:t>That’s a good point. This approach works well for simple CNNs with fixed input size, but it is indeed less flexible for deeper networks or variable input shapes. In the future, I plan to incorporate more dynamic indexing logic and flexible array access to improve scalability and adapt to more generic architectures.”</a:t>
            </a:r>
          </a:p>
          <a:p>
            <a:pPr>
              <a:buNone/>
            </a:pPr>
            <a:endParaRPr kumimoji="1" lang="ja-JP" altLang="en-US" dirty="0"/>
          </a:p>
        </p:txBody>
      </p:sp>
      <p:sp>
        <p:nvSpPr>
          <p:cNvPr id="4" name="スライド番号プレースホルダー 3">
            <a:extLst>
              <a:ext uri="{FF2B5EF4-FFF2-40B4-BE49-F238E27FC236}">
                <a16:creationId xmlns:a16="http://schemas.microsoft.com/office/drawing/2014/main" id="{02E48474-3E13-6ED4-A0EE-777F8F70A2AE}"/>
              </a:ext>
            </a:extLst>
          </p:cNvPr>
          <p:cNvSpPr>
            <a:spLocks noGrp="1"/>
          </p:cNvSpPr>
          <p:nvPr>
            <p:ph type="sldNum" sz="quarter" idx="5"/>
          </p:nvPr>
        </p:nvSpPr>
        <p:spPr/>
        <p:txBody>
          <a:bodyPr/>
          <a:lstStyle/>
          <a:p>
            <a:fld id="{F354CBDF-46C9-4B02-8C53-F3128EE42D12}" type="slidenum">
              <a:rPr kumimoji="1" lang="ja-JP" altLang="en-US" smtClean="0"/>
              <a:t>13</a:t>
            </a:fld>
            <a:endParaRPr kumimoji="1" lang="ja-JP" altLang="en-US"/>
          </a:p>
        </p:txBody>
      </p:sp>
    </p:spTree>
    <p:extLst>
      <p:ext uri="{BB962C8B-B14F-4D97-AF65-F5344CB8AC3E}">
        <p14:creationId xmlns:p14="http://schemas.microsoft.com/office/powerpoint/2010/main" val="16463810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p>
          <a:p>
            <a:pPr>
              <a:buFont typeface="+mj-lt"/>
              <a:buAutoNum type="arabicPeriod"/>
            </a:pPr>
            <a:r>
              <a:rPr lang="en-US" altLang="ja-JP" b="1" dirty="0"/>
              <a:t>Baseline</a:t>
            </a:r>
            <a:br>
              <a:rPr lang="en-US" altLang="ja-JP" dirty="0"/>
            </a:br>
            <a:r>
              <a:rPr lang="ja-JP" altLang="en-US" dirty="0"/>
              <a:t>　最適化を一切加えない“素の状態”での性能・面積の基準値を測定するため。</a:t>
            </a:r>
          </a:p>
          <a:p>
            <a:pPr>
              <a:buFont typeface="+mj-lt"/>
              <a:buAutoNum type="arabicPeriod"/>
            </a:pPr>
            <a:r>
              <a:rPr lang="en-US" altLang="ja-JP" b="1" dirty="0"/>
              <a:t>Latency(0,-1) / Latency(0,12)</a:t>
            </a:r>
            <a:br>
              <a:rPr lang="en-US" altLang="ja-JP" dirty="0"/>
            </a:br>
            <a:r>
              <a:rPr lang="ja-JP" altLang="en-US" dirty="0"/>
              <a:t>　レイテンシ制約のみを変えて適用し、制約の有無や厳しさが実行時間・面積にどれだけ影響するかを比較するため。</a:t>
            </a:r>
          </a:p>
          <a:p>
            <a:pPr>
              <a:buFont typeface="+mj-lt"/>
              <a:buAutoNum type="arabicPeriod"/>
            </a:pPr>
            <a:r>
              <a:rPr lang="en-US" altLang="ja-JP" b="1" dirty="0"/>
              <a:t>Unroll(factor=2) / Unroll(factor=4)</a:t>
            </a:r>
            <a:br>
              <a:rPr lang="en-US" altLang="ja-JP" dirty="0"/>
            </a:br>
            <a:r>
              <a:rPr lang="ja-JP" altLang="en-US" dirty="0"/>
              <a:t>　ループアンロールだけを変化させて適用し、並列化度を上げることでどの程度速度向上や面積増加が起きるかを調べるため。</a:t>
            </a:r>
          </a:p>
          <a:p>
            <a:pPr>
              <a:buFont typeface="+mj-lt"/>
              <a:buAutoNum type="arabicPeriod"/>
            </a:pPr>
            <a:r>
              <a:rPr lang="en-US" altLang="ja-JP" b="1" dirty="0"/>
              <a:t>Pipeline</a:t>
            </a:r>
            <a:br>
              <a:rPr lang="en-US" altLang="ja-JP" dirty="0"/>
            </a:br>
            <a:r>
              <a:rPr lang="ja-JP" altLang="en-US" dirty="0"/>
              <a:t>　基本的なパイプライン化だけを適用し、スループット向上やリソース増加のバランスを評価するため。</a:t>
            </a:r>
          </a:p>
          <a:p>
            <a:pPr>
              <a:buFont typeface="+mj-lt"/>
              <a:buAutoNum type="arabicPeriod"/>
            </a:pPr>
            <a:r>
              <a:rPr lang="en-US" altLang="ja-JP" b="1" dirty="0"/>
              <a:t>Pipeline + Unroll(factor=2) / Pipeline + Unroll(factor=4)</a:t>
            </a:r>
            <a:br>
              <a:rPr lang="en-US" altLang="ja-JP" dirty="0"/>
            </a:br>
            <a:r>
              <a:rPr lang="ja-JP" altLang="en-US" dirty="0"/>
              <a:t>　パイプラインとアンロールを組み合わせ、さらに並列性を高めた場合の最大スループットやリソース消費の推移を観察するため。</a:t>
            </a:r>
          </a:p>
          <a:p>
            <a:pPr>
              <a:buFont typeface="+mj-lt"/>
              <a:buAutoNum type="arabicPeriod"/>
            </a:pPr>
            <a:r>
              <a:rPr lang="en-US" altLang="ja-JP" b="1" dirty="0"/>
              <a:t>Pipeline + Unroll + Latency</a:t>
            </a:r>
            <a:br>
              <a:rPr lang="en-US" altLang="ja-JP" dirty="0"/>
            </a:br>
            <a:r>
              <a:rPr lang="ja-JP" altLang="en-US" dirty="0"/>
              <a:t>　全ての最適化（パイプライン、アンロール、レイテンシ制約）を組み合わせ、最高速設計時の性能と、リソース消費の“限界”を確認するため。</a:t>
            </a:r>
          </a:p>
          <a:p>
            <a:pPr>
              <a:buNone/>
            </a:pPr>
            <a:r>
              <a:rPr lang="ja-JP" altLang="en-US" b="1" dirty="0"/>
              <a:t>英語</a:t>
            </a:r>
          </a:p>
          <a:p>
            <a:pPr>
              <a:buFont typeface="+mj-lt"/>
              <a:buAutoNum type="arabicPeriod"/>
            </a:pPr>
            <a:r>
              <a:rPr lang="en-US" altLang="ja-JP" b="1" dirty="0"/>
              <a:t>Baseline</a:t>
            </a:r>
            <a:br>
              <a:rPr lang="en-US" altLang="ja-JP" dirty="0"/>
            </a:br>
            <a:r>
              <a:rPr lang="ja-JP" altLang="en-US" dirty="0"/>
              <a:t>　</a:t>
            </a:r>
            <a:r>
              <a:rPr lang="en-US" altLang="ja-JP" dirty="0"/>
              <a:t>To measure the performance and area of the “raw” design without any optimization, providing a reference point for comparison.</a:t>
            </a:r>
          </a:p>
          <a:p>
            <a:pPr>
              <a:buFont typeface="+mj-lt"/>
              <a:buAutoNum type="arabicPeriod"/>
            </a:pPr>
            <a:r>
              <a:rPr lang="en-US" altLang="ja-JP" b="1" dirty="0"/>
              <a:t>Latency(0,-1) / Latency(0,12)</a:t>
            </a:r>
            <a:br>
              <a:rPr lang="en-US" altLang="ja-JP" dirty="0"/>
            </a:br>
            <a:r>
              <a:rPr lang="ja-JP" altLang="en-US" dirty="0"/>
              <a:t>　</a:t>
            </a:r>
            <a:r>
              <a:rPr lang="en-US" altLang="ja-JP" dirty="0"/>
              <a:t>To isolate and examine the effects of latency constraints alone, comparing both no constraint and strict constraint conditions.</a:t>
            </a:r>
          </a:p>
          <a:p>
            <a:pPr>
              <a:buFont typeface="+mj-lt"/>
              <a:buAutoNum type="arabicPeriod"/>
            </a:pPr>
            <a:r>
              <a:rPr lang="en-US" altLang="ja-JP" b="1" dirty="0"/>
              <a:t>Unroll(factor=2) / Unroll(factor=4)</a:t>
            </a:r>
            <a:br>
              <a:rPr lang="en-US" altLang="ja-JP" dirty="0"/>
            </a:br>
            <a:r>
              <a:rPr lang="ja-JP" altLang="en-US" dirty="0"/>
              <a:t>　</a:t>
            </a:r>
            <a:r>
              <a:rPr lang="en-US" altLang="ja-JP" dirty="0"/>
              <a:t>To test loop unrolling alone with different unroll factors, and see how increasing parallelism impacts speedup and area growth.</a:t>
            </a:r>
          </a:p>
          <a:p>
            <a:pPr>
              <a:buFont typeface="+mj-lt"/>
              <a:buAutoNum type="arabicPeriod"/>
            </a:pPr>
            <a:r>
              <a:rPr lang="en-US" altLang="ja-JP" b="1" dirty="0"/>
              <a:t>Pipeline</a:t>
            </a:r>
            <a:br>
              <a:rPr lang="en-US" altLang="ja-JP" dirty="0"/>
            </a:br>
            <a:r>
              <a:rPr lang="ja-JP" altLang="en-US" dirty="0"/>
              <a:t>　</a:t>
            </a:r>
            <a:r>
              <a:rPr lang="en-US" altLang="ja-JP" dirty="0"/>
              <a:t>To apply basic pipelining only, evaluating the throughput improvement and the resource/area balance.</a:t>
            </a:r>
          </a:p>
          <a:p>
            <a:pPr>
              <a:buFont typeface="+mj-lt"/>
              <a:buAutoNum type="arabicPeriod"/>
            </a:pPr>
            <a:r>
              <a:rPr lang="en-US" altLang="ja-JP" b="1" dirty="0"/>
              <a:t>Pipeline + Unroll(factor=2) / Pipeline + Unroll(factor=4)</a:t>
            </a:r>
            <a:br>
              <a:rPr lang="en-US" altLang="ja-JP" dirty="0"/>
            </a:br>
            <a:r>
              <a:rPr lang="ja-JP" altLang="en-US" dirty="0"/>
              <a:t>　</a:t>
            </a:r>
            <a:r>
              <a:rPr lang="en-US" altLang="ja-JP" dirty="0"/>
              <a:t>To combine pipelining and unrolling, and observe the effects of further parallelization on maximum throughput and resource usage.</a:t>
            </a:r>
          </a:p>
          <a:p>
            <a:pPr>
              <a:buFont typeface="+mj-lt"/>
              <a:buAutoNum type="arabicPeriod"/>
            </a:pPr>
            <a:r>
              <a:rPr lang="en-US" altLang="ja-JP" b="1" dirty="0"/>
              <a:t>Pipeline + Unroll + Latency</a:t>
            </a:r>
            <a:br>
              <a:rPr lang="en-US" altLang="ja-JP" dirty="0"/>
            </a:br>
            <a:r>
              <a:rPr lang="ja-JP" altLang="en-US" dirty="0"/>
              <a:t>　</a:t>
            </a:r>
            <a:r>
              <a:rPr lang="en-US" altLang="ja-JP" dirty="0"/>
              <a:t>To apply all optimizations together (pipeline, unroll, and latency constraint) and confirm the absolute limits of performance and resource usage in the highest-speed design.</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15</a:t>
            </a:fld>
            <a:endParaRPr kumimoji="1" lang="ja-JP" altLang="en-US"/>
          </a:p>
        </p:txBody>
      </p:sp>
    </p:spTree>
    <p:extLst>
      <p:ext uri="{BB962C8B-B14F-4D97-AF65-F5344CB8AC3E}">
        <p14:creationId xmlns:p14="http://schemas.microsoft.com/office/powerpoint/2010/main" val="3094730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en-US" altLang="ja-JP" b="1" dirty="0"/>
              <a:t>This slide shows the synthesis results.</a:t>
            </a:r>
          </a:p>
          <a:p>
            <a:pPr>
              <a:buNone/>
            </a:pPr>
            <a:endParaRPr lang="en-US" altLang="ja-JP" b="1" dirty="0"/>
          </a:p>
          <a:p>
            <a:pPr>
              <a:buNone/>
            </a:pPr>
            <a:r>
              <a:rPr lang="en-US" altLang="ja-JP" b="1" dirty="0"/>
              <a:t>First is the pipeline, which greatly improves throughput by processing data in parallel at each stage. </a:t>
            </a:r>
          </a:p>
          <a:p>
            <a:pPr>
              <a:buNone/>
            </a:pPr>
            <a:r>
              <a:rPr lang="en-US" altLang="ja-JP" b="1" dirty="0"/>
              <a:t>Simply applying this optimization reduces execution time by about 44% compared to the baseline. </a:t>
            </a:r>
          </a:p>
          <a:p>
            <a:pPr>
              <a:buNone/>
            </a:pPr>
            <a:r>
              <a:rPr lang="en-US" altLang="ja-JP" b="1" dirty="0"/>
              <a:t>As for resources, there is a slight increase in registers and mux, but the area increase is relatively mild, about 10-15%.</a:t>
            </a:r>
          </a:p>
          <a:p>
            <a:pPr>
              <a:buNone/>
            </a:pPr>
            <a:endParaRPr lang="en-US" altLang="ja-JP" b="1" dirty="0"/>
          </a:p>
          <a:p>
            <a:pPr>
              <a:buNone/>
            </a:pPr>
            <a:r>
              <a:rPr lang="en-US" altLang="ja-JP" b="1" dirty="0"/>
              <a:t>Next is unrolling, which is a method of executing loop processing in multiple arithmetic units simultaneously and in parallel. </a:t>
            </a:r>
          </a:p>
          <a:p>
            <a:pPr>
              <a:buNone/>
            </a:pPr>
            <a:r>
              <a:rPr lang="en-US" altLang="ja-JP" b="1" dirty="0"/>
              <a:t>When the unroll factor is set to 2 or 4, resource consumption increases linearly or even more than linearly, for example, with Unroll (f=4), the circuit area may more than double. </a:t>
            </a:r>
          </a:p>
          <a:p>
            <a:pPr>
              <a:buNone/>
            </a:pPr>
            <a:endParaRPr lang="en-US" altLang="ja-JP" b="1" dirty="0"/>
          </a:p>
          <a:p>
            <a:pPr>
              <a:buNone/>
            </a:pPr>
            <a:r>
              <a:rPr lang="en-US" altLang="ja-JP" b="1" dirty="0"/>
              <a:t>Latency constraints explicitly tell the synthesis tool “how many cycles to process within. </a:t>
            </a:r>
          </a:p>
          <a:p>
            <a:pPr>
              <a:buNone/>
            </a:pPr>
            <a:r>
              <a:rPr lang="en-US" altLang="ja-JP" b="1" dirty="0"/>
              <a:t>This can dramatically reduce execution time, but strict constraints can lead to an explosion of registers and control logic and a significant increase in circuit area.</a:t>
            </a:r>
          </a:p>
          <a:p>
            <a:pPr>
              <a:buNone/>
            </a:pPr>
            <a:r>
              <a:rPr lang="en-US" altLang="ja-JP" b="1" dirty="0"/>
              <a:t>And the combination of Pipeline and Unroll is particularly useful, as Pipeline increases throughput while Unroll adds parallelism, resulting in the fastest circuits possible. However, resource consumption and area will be very large, so appropriate parameters must be selected according to the balance of the design and the scale of the implementation target.</a:t>
            </a:r>
          </a:p>
          <a:p>
            <a:pPr>
              <a:buNone/>
            </a:pPr>
            <a:r>
              <a:rPr lang="en-US" altLang="ja-JP" b="1" dirty="0"/>
              <a:t>In general, the table shows that “Pipeline alone can have a great effect, while Unroll and Latency will increase the area if overdone.</a:t>
            </a:r>
          </a:p>
          <a:p>
            <a:pPr>
              <a:buNone/>
            </a:pPr>
            <a:endParaRPr lang="en-US" altLang="ja-JP" b="1" dirty="0"/>
          </a:p>
          <a:p>
            <a:pPr>
              <a:buNone/>
            </a:pPr>
            <a:endParaRPr lang="en-US" altLang="ja-JP" b="1" dirty="0"/>
          </a:p>
          <a:p>
            <a:pPr>
              <a:buNone/>
            </a:pPr>
            <a:r>
              <a:rPr lang="ja-JP" altLang="en-US" b="1" dirty="0"/>
              <a:t>日本語</a:t>
            </a:r>
          </a:p>
          <a:p>
            <a:pPr>
              <a:buNone/>
            </a:pPr>
            <a:r>
              <a:rPr lang="ja-JP" altLang="en-US" dirty="0"/>
              <a:t>「このスライドは、さまざまな最適化手法を適用した場合の合成結果を一覧表にまとめたものです。</a:t>
            </a:r>
            <a:br>
              <a:rPr lang="ja-JP" altLang="en-US" dirty="0"/>
            </a:br>
            <a:r>
              <a:rPr lang="ja-JP" altLang="en-US" dirty="0"/>
              <a:t>ここでは主に</a:t>
            </a:r>
            <a:r>
              <a:rPr lang="en-US" altLang="ja-JP" dirty="0"/>
              <a:t>3</a:t>
            </a:r>
            <a:r>
              <a:rPr lang="ja-JP" altLang="en-US" dirty="0"/>
              <a:t>つの最適化手法</a:t>
            </a:r>
            <a:r>
              <a:rPr lang="en-US" altLang="ja-JP" dirty="0"/>
              <a:t>――</a:t>
            </a:r>
            <a:r>
              <a:rPr lang="ja-JP" altLang="en-US" b="1" dirty="0"/>
              <a:t>パイプライン（</a:t>
            </a:r>
            <a:r>
              <a:rPr lang="en-US" altLang="ja-JP" b="1" dirty="0"/>
              <a:t>Pipeline</a:t>
            </a:r>
            <a:r>
              <a:rPr lang="ja-JP" altLang="en-US" b="1" dirty="0"/>
              <a:t>）</a:t>
            </a:r>
            <a:r>
              <a:rPr lang="ja-JP" altLang="en-US" dirty="0"/>
              <a:t>、</a:t>
            </a:r>
            <a:r>
              <a:rPr lang="ja-JP" altLang="en-US" b="1" dirty="0"/>
              <a:t>アンロール（</a:t>
            </a:r>
            <a:r>
              <a:rPr lang="en-US" altLang="ja-JP" b="1" dirty="0"/>
              <a:t>Unroll</a:t>
            </a:r>
            <a:r>
              <a:rPr lang="ja-JP" altLang="en-US" b="1" dirty="0"/>
              <a:t>）</a:t>
            </a:r>
            <a:r>
              <a:rPr lang="ja-JP" altLang="en-US" dirty="0"/>
              <a:t>、</a:t>
            </a:r>
            <a:r>
              <a:rPr lang="ja-JP" altLang="en-US" b="1" dirty="0"/>
              <a:t>レイテンシ制約（</a:t>
            </a:r>
            <a:r>
              <a:rPr lang="en-US" altLang="ja-JP" b="1" dirty="0"/>
              <a:t>Latency Constraint</a:t>
            </a:r>
            <a:r>
              <a:rPr lang="ja-JP" altLang="en-US" b="1" dirty="0"/>
              <a:t>）</a:t>
            </a:r>
            <a:r>
              <a:rPr lang="en-US" altLang="ja-JP" dirty="0"/>
              <a:t>――</a:t>
            </a:r>
            <a:r>
              <a:rPr lang="ja-JP" altLang="en-US" dirty="0"/>
              <a:t>が回路面積や実行時間、リソース消費に与える影響を比較しています。</a:t>
            </a:r>
          </a:p>
          <a:p>
            <a:pPr>
              <a:buNone/>
            </a:pPr>
            <a:endParaRPr lang="en-US" altLang="ja-JP" dirty="0"/>
          </a:p>
          <a:p>
            <a:pPr>
              <a:buNone/>
            </a:pPr>
            <a:r>
              <a:rPr lang="ja-JP" altLang="en-US" dirty="0"/>
              <a:t>まず</a:t>
            </a:r>
            <a:r>
              <a:rPr lang="ja-JP" altLang="en-US" b="1" dirty="0"/>
              <a:t>パイプライン</a:t>
            </a:r>
            <a:r>
              <a:rPr lang="ja-JP" altLang="en-US" dirty="0"/>
              <a:t>ですが、これは回路を複数段に分割して、各段でデータを並列処理することでスループットを大きく向上させます。</a:t>
            </a:r>
            <a:br>
              <a:rPr lang="ja-JP" altLang="en-US" dirty="0"/>
            </a:br>
            <a:r>
              <a:rPr lang="ja-JP" altLang="en-US" dirty="0"/>
              <a:t>この最適化を適用するだけで、実行時間はベースラインに比べて約</a:t>
            </a:r>
            <a:r>
              <a:rPr lang="en-US" altLang="ja-JP" dirty="0"/>
              <a:t>44</a:t>
            </a:r>
            <a:r>
              <a:rPr lang="ja-JP" altLang="en-US" dirty="0"/>
              <a:t>％も短縮されます。</a:t>
            </a:r>
            <a:br>
              <a:rPr lang="ja-JP" altLang="en-US" dirty="0"/>
            </a:br>
            <a:r>
              <a:rPr lang="ja-JP" altLang="en-US" dirty="0"/>
              <a:t>リソースとしてはレジスタや制御信号（</a:t>
            </a:r>
            <a:r>
              <a:rPr lang="en-US" altLang="ja-JP" dirty="0"/>
              <a:t>Mux</a:t>
            </a:r>
            <a:r>
              <a:rPr lang="ja-JP" altLang="en-US" dirty="0"/>
              <a:t>）が少し増えますが、面積増加は</a:t>
            </a:r>
            <a:r>
              <a:rPr lang="en-US" altLang="ja-JP" dirty="0"/>
              <a:t>10〜15</a:t>
            </a:r>
            <a:r>
              <a:rPr lang="ja-JP" altLang="en-US" dirty="0"/>
              <a:t>％程度で比較的穏やかです。</a:t>
            </a:r>
          </a:p>
          <a:p>
            <a:pPr>
              <a:buNone/>
            </a:pPr>
            <a:endParaRPr lang="en-US" altLang="ja-JP" dirty="0"/>
          </a:p>
          <a:p>
            <a:pPr>
              <a:buNone/>
            </a:pPr>
            <a:r>
              <a:rPr lang="ja-JP" altLang="en-US" dirty="0"/>
              <a:t>次に</a:t>
            </a:r>
            <a:r>
              <a:rPr lang="ja-JP" altLang="en-US" b="1" dirty="0"/>
              <a:t>アンロール</a:t>
            </a:r>
            <a:r>
              <a:rPr lang="ja-JP" altLang="en-US" dirty="0"/>
              <a:t>ですが、これはループ処理を複数の演算ユニットで同時並列に実行する手法です。</a:t>
            </a:r>
            <a:br>
              <a:rPr lang="ja-JP" altLang="en-US" dirty="0"/>
            </a:br>
            <a:r>
              <a:rPr lang="ja-JP" altLang="en-US" dirty="0"/>
              <a:t>アンロール係数（</a:t>
            </a:r>
            <a:r>
              <a:rPr lang="en-US" altLang="ja-JP" dirty="0"/>
              <a:t>factor</a:t>
            </a:r>
            <a:r>
              <a:rPr lang="ja-JP" altLang="en-US" dirty="0"/>
              <a:t>）を</a:t>
            </a:r>
            <a:r>
              <a:rPr lang="en-US" altLang="ja-JP" dirty="0"/>
              <a:t>2</a:t>
            </a:r>
            <a:r>
              <a:rPr lang="ja-JP" altLang="en-US" dirty="0"/>
              <a:t>や</a:t>
            </a:r>
            <a:r>
              <a:rPr lang="en-US" altLang="ja-JP" dirty="0"/>
              <a:t>4</a:t>
            </a:r>
            <a:r>
              <a:rPr lang="ja-JP" altLang="en-US" dirty="0"/>
              <a:t>に設定すると、リソース消費は直線的、あるいはそれ以上に増加し、例えば</a:t>
            </a:r>
            <a:r>
              <a:rPr lang="en-US" altLang="ja-JP" dirty="0"/>
              <a:t>Unroll(f=4)</a:t>
            </a:r>
            <a:r>
              <a:rPr lang="ja-JP" altLang="en-US" dirty="0"/>
              <a:t>では回路面積が</a:t>
            </a:r>
            <a:r>
              <a:rPr lang="en-US" altLang="ja-JP" dirty="0"/>
              <a:t>2</a:t>
            </a:r>
            <a:r>
              <a:rPr lang="ja-JP" altLang="en-US" dirty="0"/>
              <a:t>倍以上になる場合もあります。</a:t>
            </a:r>
            <a:br>
              <a:rPr lang="ja-JP" altLang="en-US" dirty="0"/>
            </a:br>
            <a:r>
              <a:rPr lang="ja-JP" altLang="en-US" dirty="0"/>
              <a:t>理論的には実行時間も短縮できますが、メモリ帯域やリソース競合による限界があり、表からもアンロール単独では期待ほどの短縮が得られない場合も見てとれます。</a:t>
            </a:r>
          </a:p>
          <a:p>
            <a:pPr>
              <a:buNone/>
            </a:pPr>
            <a:endParaRPr lang="en-US" altLang="ja-JP" b="1" dirty="0"/>
          </a:p>
          <a:p>
            <a:pPr>
              <a:buNone/>
            </a:pPr>
            <a:r>
              <a:rPr lang="ja-JP" altLang="en-US" b="1" dirty="0"/>
              <a:t>レイテンシ制約</a:t>
            </a:r>
            <a:r>
              <a:rPr lang="ja-JP" altLang="en-US" dirty="0"/>
              <a:t>は、合成ツールに「何サイクル以内で処理する」と明示的に指示するものです。</a:t>
            </a:r>
            <a:br>
              <a:rPr lang="ja-JP" altLang="en-US" dirty="0"/>
            </a:br>
            <a:r>
              <a:rPr lang="ja-JP" altLang="en-US" dirty="0"/>
              <a:t>これにより実行時間は劇的に短縮できますが、厳しい制約をかけるとレジスタや制御ロジックが爆発的に増え、回路面積が大幅に増加することがあります。</a:t>
            </a:r>
          </a:p>
          <a:p>
            <a:pPr>
              <a:buNone/>
            </a:pPr>
            <a:r>
              <a:rPr lang="ja-JP" altLang="en-US" dirty="0"/>
              <a:t>そして</a:t>
            </a:r>
            <a:r>
              <a:rPr lang="en-US" altLang="ja-JP" b="1" dirty="0"/>
              <a:t>Pipeline</a:t>
            </a:r>
            <a:r>
              <a:rPr lang="ja-JP" altLang="en-US" b="1" dirty="0"/>
              <a:t>と</a:t>
            </a:r>
            <a:r>
              <a:rPr lang="en-US" altLang="ja-JP" b="1" dirty="0"/>
              <a:t>Unroll</a:t>
            </a:r>
            <a:r>
              <a:rPr lang="ja-JP" altLang="en-US" b="1" dirty="0"/>
              <a:t>の組み合わせ</a:t>
            </a:r>
            <a:r>
              <a:rPr lang="ja-JP" altLang="en-US" dirty="0"/>
              <a:t>は特に有効で、</a:t>
            </a:r>
            <a:r>
              <a:rPr lang="en-US" altLang="ja-JP" dirty="0"/>
              <a:t>Pipeline</a:t>
            </a:r>
            <a:r>
              <a:rPr lang="ja-JP" altLang="en-US" dirty="0"/>
              <a:t>でスループットを上げつつ、</a:t>
            </a:r>
            <a:r>
              <a:rPr lang="en-US" altLang="ja-JP" dirty="0"/>
              <a:t>Unroll</a:t>
            </a:r>
            <a:r>
              <a:rPr lang="ja-JP" altLang="en-US" dirty="0"/>
              <a:t>で並列性を追加することで、最速の回路が実現できます。</a:t>
            </a:r>
            <a:br>
              <a:rPr lang="ja-JP" altLang="en-US" dirty="0"/>
            </a:br>
            <a:r>
              <a:rPr lang="ja-JP" altLang="en-US" dirty="0"/>
              <a:t>ただしリソース消費や面積は非常に大きくなるため、設計のバランスや実装対象の</a:t>
            </a:r>
            <a:r>
              <a:rPr lang="en-US" altLang="ja-JP" dirty="0"/>
              <a:t>FPGA/ASIC</a:t>
            </a:r>
            <a:r>
              <a:rPr lang="ja-JP" altLang="en-US" dirty="0"/>
              <a:t>の規模に応じて適切なパラメータを選択する必要があります。</a:t>
            </a:r>
          </a:p>
          <a:p>
            <a:r>
              <a:rPr lang="ja-JP" altLang="en-US" dirty="0"/>
              <a:t>総じて、表からは「</a:t>
            </a:r>
            <a:r>
              <a:rPr lang="en-US" altLang="ja-JP" dirty="0"/>
              <a:t>Pipeline</a:t>
            </a:r>
            <a:r>
              <a:rPr lang="ja-JP" altLang="en-US" dirty="0"/>
              <a:t>のみでも大きな効果が得られ、</a:t>
            </a:r>
            <a:r>
              <a:rPr lang="en-US" altLang="ja-JP" dirty="0"/>
              <a:t>Unroll</a:t>
            </a:r>
            <a:r>
              <a:rPr lang="ja-JP" altLang="en-US" dirty="0"/>
              <a:t>や</a:t>
            </a:r>
            <a:r>
              <a:rPr lang="en-US" altLang="ja-JP" dirty="0"/>
              <a:t>Latency</a:t>
            </a:r>
            <a:r>
              <a:rPr lang="ja-JP" altLang="en-US" dirty="0"/>
              <a:t>はやりすぎると面積が跳ね上がる」ことが読み取れます。</a:t>
            </a:r>
            <a:br>
              <a:rPr lang="ja-JP" altLang="en-US" dirty="0"/>
            </a:br>
            <a:r>
              <a:rPr lang="ja-JP" altLang="en-US" dirty="0"/>
              <a:t>設計指針としてはまず</a:t>
            </a:r>
            <a:r>
              <a:rPr lang="en-US" altLang="ja-JP" dirty="0"/>
              <a:t>Pipeline</a:t>
            </a:r>
            <a:r>
              <a:rPr lang="ja-JP" altLang="en-US" dirty="0"/>
              <a:t>を導入し、その後リソースや速度要件に応じて</a:t>
            </a:r>
            <a:r>
              <a:rPr lang="en-US" altLang="ja-JP" dirty="0"/>
              <a:t>Unroll</a:t>
            </a:r>
            <a:r>
              <a:rPr lang="ja-JP" altLang="en-US" dirty="0"/>
              <a:t>や</a:t>
            </a:r>
            <a:r>
              <a:rPr lang="en-US" altLang="ja-JP" dirty="0"/>
              <a:t>Latency</a:t>
            </a:r>
            <a:r>
              <a:rPr lang="ja-JP" altLang="en-US" dirty="0"/>
              <a:t>を組み合わせて最適化するのが実践的です。」</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t>Theoretically, execution time can also be reduced, but there are limitations due to memory bandwidth and resource contention, and it can be seen from the table that Unroll alone may not provide as much reduction as expected.</a:t>
            </a:r>
          </a:p>
          <a:p>
            <a:endParaRPr lang="en-US" altLang="ja-JP" dirty="0"/>
          </a:p>
          <a:p>
            <a:endParaRPr lang="en-US" altLang="ja-JP" dirty="0"/>
          </a:p>
          <a:p>
            <a:r>
              <a:rPr lang="en-US" altLang="ja-JP" dirty="0"/>
              <a:t>================================</a:t>
            </a:r>
          </a:p>
          <a:p>
            <a:pPr>
              <a:buNone/>
            </a:pPr>
            <a:r>
              <a:rPr lang="ja-JP" altLang="en-US" b="1" dirty="0"/>
              <a:t>日本語</a:t>
            </a:r>
            <a:br>
              <a:rPr lang="ja-JP" altLang="en-US" dirty="0"/>
            </a:br>
            <a:r>
              <a:rPr lang="ja-JP" altLang="en-US" dirty="0"/>
              <a:t>「</a:t>
            </a:r>
            <a:r>
              <a:rPr lang="en-US" altLang="ja-JP" dirty="0"/>
              <a:t>Pipeline + Unroll + Latency</a:t>
            </a:r>
            <a:r>
              <a:rPr lang="ja-JP" altLang="en-US" dirty="0"/>
              <a:t>の“全部盛り”構成は、面積が非常に大きく現実的ではないのでは？実際の</a:t>
            </a:r>
            <a:r>
              <a:rPr lang="en-US" altLang="ja-JP" dirty="0"/>
              <a:t>FPGA</a:t>
            </a:r>
            <a:r>
              <a:rPr lang="ja-JP" altLang="en-US" dirty="0"/>
              <a:t>や</a:t>
            </a:r>
            <a:r>
              <a:rPr lang="en-US" altLang="ja-JP" dirty="0"/>
              <a:t>ASIC</a:t>
            </a:r>
            <a:r>
              <a:rPr lang="ja-JP" altLang="en-US" dirty="0"/>
              <a:t>製品で本当に使えますか？」</a:t>
            </a:r>
          </a:p>
          <a:p>
            <a:pPr>
              <a:buNone/>
            </a:pPr>
            <a:r>
              <a:rPr lang="ja-JP" altLang="en-US" b="1" dirty="0"/>
              <a:t>英語</a:t>
            </a:r>
            <a:br>
              <a:rPr lang="ja-JP" altLang="en-US" dirty="0"/>
            </a:br>
            <a:r>
              <a:rPr lang="ja-JP" altLang="en-US" dirty="0"/>
              <a:t>“</a:t>
            </a:r>
            <a:r>
              <a:rPr lang="en-US" altLang="ja-JP" dirty="0"/>
              <a:t>For the Pipeline + Unroll + Latency ‘all-in’ configuration, isn’t the area overhead too large for practical use? Can such designs actually be implemented in real FPGA or ASIC products?”</a:t>
            </a:r>
          </a:p>
          <a:p>
            <a:pPr>
              <a:buNone/>
            </a:pPr>
            <a:r>
              <a:rPr lang="en-US" altLang="ja-JP" b="1" dirty="0"/>
              <a:t>A:</a:t>
            </a:r>
          </a:p>
          <a:p>
            <a:pPr>
              <a:buNone/>
            </a:pPr>
            <a:r>
              <a:rPr lang="ja-JP" altLang="en-US" b="1" dirty="0"/>
              <a:t>日本語</a:t>
            </a:r>
            <a:br>
              <a:rPr lang="ja-JP" altLang="en-US" dirty="0"/>
            </a:br>
            <a:r>
              <a:rPr lang="ja-JP" altLang="en-US" dirty="0"/>
              <a:t>「ご指摘の通り、“全部盛り”の最適化は面積や消費電力が急増し、特に小型デバイスでは非現実的です。表の目的は理論限界値の提示であり、実運用では</a:t>
            </a:r>
            <a:r>
              <a:rPr lang="en-US" altLang="ja-JP" dirty="0"/>
              <a:t>Pipeline</a:t>
            </a:r>
            <a:r>
              <a:rPr lang="ja-JP" altLang="en-US" dirty="0"/>
              <a:t>単独や</a:t>
            </a:r>
            <a:r>
              <a:rPr lang="en-US" altLang="ja-JP" dirty="0"/>
              <a:t>Unroll factor</a:t>
            </a:r>
            <a:r>
              <a:rPr lang="ja-JP" altLang="en-US" dirty="0"/>
              <a:t>を抑えた構成が現実的です。実際の製品導入時には、</a:t>
            </a:r>
            <a:r>
              <a:rPr lang="en-US" altLang="ja-JP" dirty="0"/>
              <a:t>FPGA/ASIC</a:t>
            </a:r>
            <a:r>
              <a:rPr lang="ja-JP" altLang="en-US" dirty="0"/>
              <a:t>のリソースや消費電力、必要なスループットに合わせて最適なバランスを選ぶことが重要です。」</a:t>
            </a:r>
          </a:p>
          <a:p>
            <a:r>
              <a:rPr lang="ja-JP" altLang="en-US" b="1" dirty="0"/>
              <a:t>英語</a:t>
            </a:r>
            <a:br>
              <a:rPr lang="ja-JP" altLang="en-US" dirty="0"/>
            </a:br>
            <a:r>
              <a:rPr lang="ja-JP" altLang="en-US" dirty="0"/>
              <a:t>“</a:t>
            </a:r>
            <a:r>
              <a:rPr lang="en-US" altLang="ja-JP" dirty="0"/>
              <a:t>You’re absolutely right; the ‘all-in’ optimization leads to excessive area and power usage, which is impractical for small devices. This configuration is shown in the table to illustrate the theoretical limits, but in practice, it is more realistic to use only pipeline optimization or a moderate unroll factor. For real FPGA or ASIC deployment, it’s important to balance resources, power consumption, and required throughput when selecting the optimal configuration.”</a:t>
            </a:r>
          </a:p>
          <a:p>
            <a:endParaRPr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16</a:t>
            </a:fld>
            <a:endParaRPr kumimoji="1" lang="ja-JP" altLang="en-US"/>
          </a:p>
        </p:txBody>
      </p:sp>
    </p:spTree>
    <p:extLst>
      <p:ext uri="{BB962C8B-B14F-4D97-AF65-F5344CB8AC3E}">
        <p14:creationId xmlns:p14="http://schemas.microsoft.com/office/powerpoint/2010/main" val="4079692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「こちらがシミュレーションの出力結果です。モデルが正しく動作していることがわかります。」</a:t>
            </a:r>
            <a:endParaRPr lang="en-US" altLang="ja-JP" dirty="0"/>
          </a:p>
          <a:p>
            <a:pPr>
              <a:buNone/>
            </a:pPr>
            <a:endParaRPr lang="ja-JP" altLang="en-US" dirty="0"/>
          </a:p>
          <a:p>
            <a:r>
              <a:rPr lang="en-US" altLang="ja-JP" b="1" dirty="0"/>
              <a:t>English</a:t>
            </a:r>
            <a:br>
              <a:rPr lang="en-US" altLang="ja-JP" dirty="0"/>
            </a:br>
            <a:r>
              <a:rPr lang="en-US" altLang="ja-JP" dirty="0"/>
              <a:t>“These are the simulation outputs, confirming that the model operates correctly.”</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17</a:t>
            </a:fld>
            <a:endParaRPr kumimoji="1" lang="ja-JP" altLang="en-US"/>
          </a:p>
        </p:txBody>
      </p:sp>
    </p:spTree>
    <p:extLst>
      <p:ext uri="{BB962C8B-B14F-4D97-AF65-F5344CB8AC3E}">
        <p14:creationId xmlns:p14="http://schemas.microsoft.com/office/powerpoint/2010/main" val="9347388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「まとめです。効率的な量子化により、メモリや計算量を削減しつつ、ハードウェア実装が可能となりました。今後は</a:t>
            </a:r>
            <a:r>
              <a:rPr lang="en-US" altLang="ja-JP" dirty="0"/>
              <a:t>Edge AI</a:t>
            </a:r>
            <a:r>
              <a:rPr lang="ja-JP" altLang="en-US" dirty="0"/>
              <a:t>や</a:t>
            </a:r>
            <a:r>
              <a:rPr lang="en-US" altLang="ja-JP" dirty="0" err="1"/>
              <a:t>ViT</a:t>
            </a:r>
            <a:r>
              <a:rPr lang="ja-JP" altLang="en-US" dirty="0"/>
              <a:t>（</a:t>
            </a:r>
            <a:r>
              <a:rPr lang="en-US" altLang="ja-JP" dirty="0"/>
              <a:t>Vision Transformer</a:t>
            </a:r>
            <a:r>
              <a:rPr lang="ja-JP" altLang="en-US" dirty="0"/>
              <a:t>）への応用にも挑戦したいです。」</a:t>
            </a:r>
          </a:p>
          <a:p>
            <a:r>
              <a:rPr lang="en-US" altLang="ja-JP" b="1" dirty="0"/>
              <a:t>English</a:t>
            </a:r>
            <a:br>
              <a:rPr lang="en-US" altLang="ja-JP" dirty="0"/>
            </a:br>
            <a:r>
              <a:rPr lang="en-US" altLang="ja-JP" dirty="0"/>
              <a:t>“In summary, efficient quantization allows us to reduce memory and computational complexity, making hardware implementation feasible. For the future, I’d like to try applications in Edge AI and Vision Transformers.”</a:t>
            </a:r>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18</a:t>
            </a:fld>
            <a:endParaRPr kumimoji="1" lang="ja-JP" altLang="en-US"/>
          </a:p>
        </p:txBody>
      </p:sp>
    </p:spTree>
    <p:extLst>
      <p:ext uri="{BB962C8B-B14F-4D97-AF65-F5344CB8AC3E}">
        <p14:creationId xmlns:p14="http://schemas.microsoft.com/office/powerpoint/2010/main" val="15119603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b="1" dirty="0"/>
              <a:t>日本語</a:t>
            </a:r>
            <a:br>
              <a:rPr lang="ja-JP" altLang="en-US" dirty="0"/>
            </a:br>
            <a:r>
              <a:rPr lang="ja-JP" altLang="en-US" dirty="0"/>
              <a:t>「最後に、今回のプロジェクトにかかった時間は約</a:t>
            </a:r>
            <a:r>
              <a:rPr lang="en-US" altLang="ja-JP" dirty="0"/>
              <a:t>35</a:t>
            </a:r>
            <a:r>
              <a:rPr lang="ja-JP" altLang="en-US" dirty="0"/>
              <a:t>時間でした。ご清聴ありがとうございました。」</a:t>
            </a:r>
            <a:endParaRPr lang="en-US" altLang="ja-JP" dirty="0"/>
          </a:p>
          <a:p>
            <a:pPr>
              <a:buNone/>
            </a:pPr>
            <a:endParaRPr lang="ja-JP" altLang="en-US" dirty="0"/>
          </a:p>
          <a:p>
            <a:r>
              <a:rPr lang="en-US" altLang="ja-JP" b="1" dirty="0"/>
              <a:t>English</a:t>
            </a:r>
            <a:br>
              <a:rPr lang="en-US" altLang="ja-JP" dirty="0"/>
            </a:br>
            <a:r>
              <a:rPr lang="en-US" altLang="ja-JP" dirty="0"/>
              <a:t>“Finally, it took about 35 hours to complete this project. Thank you very much for your attention.”</a:t>
            </a:r>
          </a:p>
          <a:p>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F354CBDF-46C9-4B02-8C53-F3128EE42D12}" type="slidenum">
              <a:rPr kumimoji="1" lang="ja-JP" altLang="en-US" smtClean="0"/>
              <a:t>19</a:t>
            </a:fld>
            <a:endParaRPr kumimoji="1" lang="ja-JP" altLang="en-US"/>
          </a:p>
        </p:txBody>
      </p:sp>
    </p:spTree>
    <p:extLst>
      <p:ext uri="{BB962C8B-B14F-4D97-AF65-F5344CB8AC3E}">
        <p14:creationId xmlns:p14="http://schemas.microsoft.com/office/powerpoint/2010/main" val="1146919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09689E-A175-04C2-FECB-31ACF98C338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BC45A91-7BC3-C40D-C077-D47AEBFC7E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1B79B96-6371-97F0-D0D3-77886C403609}"/>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5" name="フッター プレースホルダー 4">
            <a:extLst>
              <a:ext uri="{FF2B5EF4-FFF2-40B4-BE49-F238E27FC236}">
                <a16:creationId xmlns:a16="http://schemas.microsoft.com/office/drawing/2014/main" id="{2E4CF383-0A2F-C491-D483-11BA5A6867B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6CD3A2-D3C6-4965-E486-3440C4EA67B7}"/>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489405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F87F0D-0D71-B779-C6E8-BC46EFE99CF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DD4F32E-F575-19D9-0656-CDF0EF29FD8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F5DE3B7-8273-DB49-4E77-6CDB64A3933F}"/>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5" name="フッター プレースホルダー 4">
            <a:extLst>
              <a:ext uri="{FF2B5EF4-FFF2-40B4-BE49-F238E27FC236}">
                <a16:creationId xmlns:a16="http://schemas.microsoft.com/office/drawing/2014/main" id="{DC179EDF-1C66-3A07-8AE3-41F2E078707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81A79AD-DF15-7515-5577-1DF96AE15D23}"/>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3703957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4444D4-3ABD-7B24-A5A3-B51FD879CDE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177CCDE-9513-94F5-2D95-B633E8A494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E8E65F1-DECB-8E1E-15FA-472903CCEB9D}"/>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5" name="フッター プレースホルダー 4">
            <a:extLst>
              <a:ext uri="{FF2B5EF4-FFF2-40B4-BE49-F238E27FC236}">
                <a16:creationId xmlns:a16="http://schemas.microsoft.com/office/drawing/2014/main" id="{5E522D97-063F-2888-8DEC-90D911CDC9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25D89F-53D6-1295-AAFF-967402434159}"/>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2323682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EA3A48-353D-F26F-1220-7FDC9A13A04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58671A-85C3-C7E1-F9B1-4D64267575E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E2841FF-C8CD-9A27-A809-EC0DC64EEB5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B07D71A-766E-8C0E-7F4A-3481363DF033}"/>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6" name="フッター プレースホルダー 5">
            <a:extLst>
              <a:ext uri="{FF2B5EF4-FFF2-40B4-BE49-F238E27FC236}">
                <a16:creationId xmlns:a16="http://schemas.microsoft.com/office/drawing/2014/main" id="{561D8EF6-5129-5C19-3635-496E6C286F1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7065F1-F077-DC60-64D1-581BDBB72946}"/>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2253245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289C13-E263-2C68-0520-50692386145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19EA88-BD29-2D44-48A2-D5D1F4D788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A6873CA-815F-2941-7895-04E4056A042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4E5CE09-A55C-D640-FC25-B4D2F08B12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88D126E-EB96-4B50-B6EC-AB177106F40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A7DF7FA-27AF-F8FA-8799-39F9CD41D595}"/>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8" name="フッター プレースホルダー 7">
            <a:extLst>
              <a:ext uri="{FF2B5EF4-FFF2-40B4-BE49-F238E27FC236}">
                <a16:creationId xmlns:a16="http://schemas.microsoft.com/office/drawing/2014/main" id="{D3258B32-D4A8-E87B-3079-CF7984746AA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A83B044-5A55-2D27-0C1C-AB04C53DF1C4}"/>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2710140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367E88-2422-9D8E-62CD-B99A5B0E166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2BB98D4-88FB-15F3-BA7E-CFB52552DF62}"/>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4" name="フッター プレースホルダー 3">
            <a:extLst>
              <a:ext uri="{FF2B5EF4-FFF2-40B4-BE49-F238E27FC236}">
                <a16:creationId xmlns:a16="http://schemas.microsoft.com/office/drawing/2014/main" id="{64FD5577-D417-2CD4-1D08-063193770C8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0D4DD03-33D6-2BF6-8933-850BB0116469}"/>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3409904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2C5BF97-F6CC-DD52-C64D-83D7A375F6F6}"/>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3" name="フッター プレースホルダー 2">
            <a:extLst>
              <a:ext uri="{FF2B5EF4-FFF2-40B4-BE49-F238E27FC236}">
                <a16:creationId xmlns:a16="http://schemas.microsoft.com/office/drawing/2014/main" id="{2F8F254B-BF2D-10C8-4411-AFBA269C5F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DBCA200-1E77-FF68-C430-1220231D0973}"/>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204360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C1AD8A-D4A0-2C45-BA82-A7302E4D3C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D7A8E1F-C22B-696F-62D9-74DED6B13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B2F2E6F-D32A-EDEA-80E2-AD768881C7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7DB5252-BAE4-5095-890C-6ABD79EEAF4A}"/>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6" name="フッター プレースホルダー 5">
            <a:extLst>
              <a:ext uri="{FF2B5EF4-FFF2-40B4-BE49-F238E27FC236}">
                <a16:creationId xmlns:a16="http://schemas.microsoft.com/office/drawing/2014/main" id="{6892988E-F57C-ACE8-CA04-289E15633AC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99A38E-32E6-0795-9B09-D6DCA4A2CB83}"/>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345611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97368-F894-E453-BBFD-46A1058E3A1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E729173-751D-C60F-4A86-AC2314C881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46FCE2D-499A-DDCA-F9E7-BBEE4921CB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FB1ABDB-6443-09E6-271B-331E17CFD294}"/>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6" name="フッター プレースホルダー 5">
            <a:extLst>
              <a:ext uri="{FF2B5EF4-FFF2-40B4-BE49-F238E27FC236}">
                <a16:creationId xmlns:a16="http://schemas.microsoft.com/office/drawing/2014/main" id="{EEFF4655-5D35-F773-2E6F-9C779CCB659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547D1D6-A64A-C949-D8CB-CCC69432F25B}"/>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945235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78EE5-596F-1B6C-C3DC-612D4E61CE9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4360C7F-5772-6315-DE57-64505D8793F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856D7EA-898E-A528-9803-84C578224EBB}"/>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5" name="フッター プレースホルダー 4">
            <a:extLst>
              <a:ext uri="{FF2B5EF4-FFF2-40B4-BE49-F238E27FC236}">
                <a16:creationId xmlns:a16="http://schemas.microsoft.com/office/drawing/2014/main" id="{23C74B5E-A832-0FF5-0390-1B0F490790D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5988FAA-A2AA-FDCF-D104-29A6DDB32BA1}"/>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1600236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36CA3C1-7E15-03FD-027E-2FBED7AF650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943CF87-3BE6-8A1E-89D8-18170A2BC97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675AB5-1201-2CFF-61A8-5955B361E9A8}"/>
              </a:ext>
            </a:extLst>
          </p:cNvPr>
          <p:cNvSpPr>
            <a:spLocks noGrp="1"/>
          </p:cNvSpPr>
          <p:nvPr>
            <p:ph type="dt" sz="half" idx="10"/>
          </p:nvPr>
        </p:nvSpPr>
        <p:spPr/>
        <p:txBody>
          <a:bodyPr/>
          <a:lstStyle/>
          <a:p>
            <a:fld id="{43FA1E7F-7B36-4CD6-9544-FA8797518DB9}" type="datetimeFigureOut">
              <a:rPr kumimoji="1" lang="ja-JP" altLang="en-US" smtClean="0"/>
              <a:t>2025/5/29</a:t>
            </a:fld>
            <a:endParaRPr kumimoji="1" lang="ja-JP" altLang="en-US"/>
          </a:p>
        </p:txBody>
      </p:sp>
      <p:sp>
        <p:nvSpPr>
          <p:cNvPr id="5" name="フッター プレースホルダー 4">
            <a:extLst>
              <a:ext uri="{FF2B5EF4-FFF2-40B4-BE49-F238E27FC236}">
                <a16:creationId xmlns:a16="http://schemas.microsoft.com/office/drawing/2014/main" id="{FB568FC8-15C7-AFEC-098A-5276E8F41A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6C07307-3792-622F-EC6D-2F58B9404F9B}"/>
              </a:ext>
            </a:extLst>
          </p:cNvPr>
          <p:cNvSpPr>
            <a:spLocks noGrp="1"/>
          </p:cNvSpPr>
          <p:nvPr>
            <p:ph type="sldNum" sz="quarter" idx="12"/>
          </p:nvPr>
        </p:nvSpPr>
        <p:spPr/>
        <p:txBody>
          <a:body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1433370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9443409-56D0-2E32-9173-9D942459C2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BE4F157-4506-430F-1C75-842BF7AB94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8FD96BF-C139-4087-D34A-565BB4F492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FA1E7F-7B36-4CD6-9544-FA8797518DB9}" type="datetimeFigureOut">
              <a:rPr kumimoji="1" lang="ja-JP" altLang="en-US" smtClean="0"/>
              <a:t>2025/5/29</a:t>
            </a:fld>
            <a:endParaRPr kumimoji="1" lang="ja-JP" altLang="en-US"/>
          </a:p>
        </p:txBody>
      </p:sp>
      <p:sp>
        <p:nvSpPr>
          <p:cNvPr id="5" name="フッター プレースホルダー 4">
            <a:extLst>
              <a:ext uri="{FF2B5EF4-FFF2-40B4-BE49-F238E27FC236}">
                <a16:creationId xmlns:a16="http://schemas.microsoft.com/office/drawing/2014/main" id="{1CB441F7-FBD5-1195-1D79-5480E6150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BC83A20-5A75-ED0E-A7E0-335CC2CE1D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E8F8F0-B7CF-45F9-977B-B41B5A57CAFF}" type="slidenum">
              <a:rPr kumimoji="1" lang="ja-JP" altLang="en-US" smtClean="0"/>
              <a:t>‹#›</a:t>
            </a:fld>
            <a:endParaRPr kumimoji="1" lang="ja-JP" altLang="en-US"/>
          </a:p>
        </p:txBody>
      </p:sp>
    </p:spTree>
    <p:extLst>
      <p:ext uri="{BB962C8B-B14F-4D97-AF65-F5344CB8AC3E}">
        <p14:creationId xmlns:p14="http://schemas.microsoft.com/office/powerpoint/2010/main" val="2888031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p"/>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n"/>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p"/>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pixta.jp/illustration/103733724"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367905-BB46-8388-1D2F-B6795DA87285}"/>
              </a:ext>
            </a:extLst>
          </p:cNvPr>
          <p:cNvSpPr>
            <a:spLocks noGrp="1"/>
          </p:cNvSpPr>
          <p:nvPr>
            <p:ph type="ctrTitle"/>
          </p:nvPr>
        </p:nvSpPr>
        <p:spPr/>
        <p:txBody>
          <a:bodyPr/>
          <a:lstStyle/>
          <a:p>
            <a:r>
              <a:rPr lang="en-US" altLang="ja-JP"/>
              <a:t>Q</a:t>
            </a:r>
            <a:r>
              <a:rPr kumimoji="1" lang="en-US" altLang="ja-JP"/>
              <a:t>uantized CNN models</a:t>
            </a:r>
            <a:endParaRPr kumimoji="1" lang="ja-JP" altLang="en-US"/>
          </a:p>
        </p:txBody>
      </p:sp>
      <p:sp>
        <p:nvSpPr>
          <p:cNvPr id="3" name="字幕 2">
            <a:extLst>
              <a:ext uri="{FF2B5EF4-FFF2-40B4-BE49-F238E27FC236}">
                <a16:creationId xmlns:a16="http://schemas.microsoft.com/office/drawing/2014/main" id="{8698E515-3F02-032E-374C-D90F905262B9}"/>
              </a:ext>
            </a:extLst>
          </p:cNvPr>
          <p:cNvSpPr>
            <a:spLocks noGrp="1"/>
          </p:cNvSpPr>
          <p:nvPr>
            <p:ph type="subTitle" idx="1"/>
          </p:nvPr>
        </p:nvSpPr>
        <p:spPr/>
        <p:txBody>
          <a:bodyPr/>
          <a:lstStyle/>
          <a:p>
            <a:r>
              <a:rPr kumimoji="1" lang="en-US" altLang="ja-JP"/>
              <a:t>m5291005 Kyoji </a:t>
            </a:r>
            <a:r>
              <a:rPr kumimoji="1" lang="en-US" altLang="ja-JP" err="1"/>
              <a:t>Awaki</a:t>
            </a:r>
            <a:endParaRPr kumimoji="1" lang="ja-JP" altLang="en-US"/>
          </a:p>
        </p:txBody>
      </p:sp>
    </p:spTree>
    <p:extLst>
      <p:ext uri="{BB962C8B-B14F-4D97-AF65-F5344CB8AC3E}">
        <p14:creationId xmlns:p14="http://schemas.microsoft.com/office/powerpoint/2010/main" val="1971009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AA2CD6-9B7D-CB88-B12C-3DBB88CF5E1B}"/>
              </a:ext>
            </a:extLst>
          </p:cNvPr>
          <p:cNvSpPr>
            <a:spLocks noGrp="1"/>
          </p:cNvSpPr>
          <p:nvPr>
            <p:ph type="title"/>
          </p:nvPr>
        </p:nvSpPr>
        <p:spPr/>
        <p:txBody>
          <a:bodyPr/>
          <a:lstStyle/>
          <a:p>
            <a:r>
              <a:rPr kumimoji="1" lang="en-US" altLang="ja-JP"/>
              <a:t>Motivation</a:t>
            </a:r>
            <a:endParaRPr kumimoji="1" lang="ja-JP" altLang="en-US"/>
          </a:p>
        </p:txBody>
      </p:sp>
      <p:sp>
        <p:nvSpPr>
          <p:cNvPr id="3" name="コンテンツ プレースホルダー 2">
            <a:extLst>
              <a:ext uri="{FF2B5EF4-FFF2-40B4-BE49-F238E27FC236}">
                <a16:creationId xmlns:a16="http://schemas.microsoft.com/office/drawing/2014/main" id="{ADB72354-3B5E-1D5A-37DE-68E20D9A3331}"/>
              </a:ext>
            </a:extLst>
          </p:cNvPr>
          <p:cNvSpPr>
            <a:spLocks noGrp="1"/>
          </p:cNvSpPr>
          <p:nvPr>
            <p:ph idx="1"/>
          </p:nvPr>
        </p:nvSpPr>
        <p:spPr/>
        <p:txBody>
          <a:bodyPr>
            <a:normAutofit fontScale="92500" lnSpcReduction="20000"/>
          </a:bodyPr>
          <a:lstStyle/>
          <a:p>
            <a:r>
              <a:rPr kumimoji="1" lang="en-US" altLang="ja-JP" b="1"/>
              <a:t>Usefulness of CNN</a:t>
            </a:r>
            <a:r>
              <a:rPr kumimoji="1" lang="en-US" altLang="ja-JP"/>
              <a:t>:</a:t>
            </a:r>
          </a:p>
          <a:p>
            <a:pPr lvl="1"/>
            <a:r>
              <a:rPr kumimoji="1" lang="en-US" altLang="ja-JP"/>
              <a:t>It is widely used in the fields of self-driving cars, image recognition, medical image analysis, and AI assistive technologies. Its powerful feature extraction capabilities are particularly noteworthy in image processing.</a:t>
            </a:r>
          </a:p>
          <a:p>
            <a:pPr lvl="1"/>
            <a:r>
              <a:rPr kumimoji="1" lang="en-US" altLang="ja-JP"/>
              <a:t>However, CNNs are computationally very expensive and often become a bottleneck, especially in systems with limited resources.</a:t>
            </a:r>
          </a:p>
          <a:p>
            <a:r>
              <a:rPr kumimoji="1" lang="en-US" altLang="ja-JP" b="1"/>
              <a:t>Computational Bottleneck</a:t>
            </a:r>
            <a:r>
              <a:rPr kumimoji="1" lang="en-US" altLang="ja-JP"/>
              <a:t>:</a:t>
            </a:r>
          </a:p>
          <a:p>
            <a:pPr lvl="1"/>
            <a:r>
              <a:rPr kumimoji="1" lang="en-US" altLang="ja-JP"/>
              <a:t>Computational resource requirements for CNN models are high, and optimization becomes increasingly important, especially when implemented in FPGAs and ASICs.</a:t>
            </a:r>
          </a:p>
          <a:p>
            <a:r>
              <a:rPr kumimoji="1" lang="en-US" altLang="ja-JP" b="1"/>
              <a:t>Quantization Aware Training (QAT)</a:t>
            </a:r>
            <a:r>
              <a:rPr kumimoji="1" lang="en-US" altLang="ja-JP"/>
              <a:t>:</a:t>
            </a:r>
          </a:p>
          <a:p>
            <a:pPr lvl="1"/>
            <a:r>
              <a:rPr kumimoji="1" lang="en-US" altLang="ja-JP"/>
              <a:t>To reduce model size and computational complexity without significantly compromising model accuracy, QAT techniques can be used to improve the efficiency of hardware implementations.</a:t>
            </a:r>
          </a:p>
        </p:txBody>
      </p:sp>
    </p:spTree>
    <p:extLst>
      <p:ext uri="{BB962C8B-B14F-4D97-AF65-F5344CB8AC3E}">
        <p14:creationId xmlns:p14="http://schemas.microsoft.com/office/powerpoint/2010/main" val="1053642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3F7114-E3CD-161D-B14D-88A23CF2799E}"/>
              </a:ext>
            </a:extLst>
          </p:cNvPr>
          <p:cNvSpPr>
            <a:spLocks noGrp="1"/>
          </p:cNvSpPr>
          <p:nvPr>
            <p:ph type="title"/>
          </p:nvPr>
        </p:nvSpPr>
        <p:spPr/>
        <p:txBody>
          <a:bodyPr/>
          <a:lstStyle/>
          <a:p>
            <a:r>
              <a:rPr kumimoji="1" lang="en-US" altLang="ja-JP"/>
              <a:t>Purpose</a:t>
            </a:r>
            <a:endParaRPr kumimoji="1" lang="ja-JP" altLang="en-US"/>
          </a:p>
        </p:txBody>
      </p:sp>
      <p:sp>
        <p:nvSpPr>
          <p:cNvPr id="3" name="コンテンツ プレースホルダー 2">
            <a:extLst>
              <a:ext uri="{FF2B5EF4-FFF2-40B4-BE49-F238E27FC236}">
                <a16:creationId xmlns:a16="http://schemas.microsoft.com/office/drawing/2014/main" id="{2140E3D3-D48F-4742-E81B-30427E4FE710}"/>
              </a:ext>
            </a:extLst>
          </p:cNvPr>
          <p:cNvSpPr>
            <a:spLocks noGrp="1"/>
          </p:cNvSpPr>
          <p:nvPr>
            <p:ph idx="1"/>
          </p:nvPr>
        </p:nvSpPr>
        <p:spPr/>
        <p:txBody>
          <a:bodyPr>
            <a:normAutofit/>
          </a:bodyPr>
          <a:lstStyle/>
          <a:p>
            <a:r>
              <a:rPr kumimoji="1" lang="en-US" altLang="ja-JP"/>
              <a:t>To efficiently implement a CNN model with QAT applied using HLS to generate an optimized hardware model.</a:t>
            </a:r>
          </a:p>
          <a:p>
            <a:endParaRPr kumimoji="1" lang="en-US" altLang="ja-JP"/>
          </a:p>
          <a:p>
            <a:r>
              <a:rPr kumimoji="1" lang="en-US" altLang="ja-JP"/>
              <a:t>This implementation provides improved performance and efficient use of computational resources compared to conventional CPUs.</a:t>
            </a:r>
            <a:endParaRPr kumimoji="1" lang="ja-JP" altLang="en-US"/>
          </a:p>
        </p:txBody>
      </p:sp>
    </p:spTree>
    <p:extLst>
      <p:ext uri="{BB962C8B-B14F-4D97-AF65-F5344CB8AC3E}">
        <p14:creationId xmlns:p14="http://schemas.microsoft.com/office/powerpoint/2010/main" val="47706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0707946-4D4E-7A28-60CC-A0AD6AAF7F28}"/>
              </a:ext>
            </a:extLst>
          </p:cNvPr>
          <p:cNvSpPr>
            <a:spLocks noGrp="1"/>
          </p:cNvSpPr>
          <p:nvPr>
            <p:ph idx="1"/>
          </p:nvPr>
        </p:nvSpPr>
        <p:spPr>
          <a:xfrm>
            <a:off x="838200" y="1825625"/>
            <a:ext cx="10515600" cy="2345322"/>
          </a:xfrm>
        </p:spPr>
        <p:txBody>
          <a:bodyPr/>
          <a:lstStyle/>
          <a:p>
            <a:r>
              <a:rPr kumimoji="1" lang="en-US" altLang="ja-JP"/>
              <a:t>Input: Grayscale image(28x28, int8)</a:t>
            </a:r>
          </a:p>
          <a:p>
            <a:r>
              <a:rPr kumimoji="1" lang="en-US" altLang="ja-JP"/>
              <a:t>Output:</a:t>
            </a:r>
            <a:r>
              <a:rPr lang="ja-JP" altLang="en-US"/>
              <a:t> </a:t>
            </a:r>
            <a:r>
              <a:rPr lang="en-US" altLang="ja-JP"/>
              <a:t>Classification of 0-9 (handwritten numbers)</a:t>
            </a:r>
            <a:endParaRPr kumimoji="1" lang="en-US" altLang="ja-JP"/>
          </a:p>
          <a:p>
            <a:r>
              <a:rPr kumimoji="1" lang="en-US" altLang="ja-JP"/>
              <a:t>CNN architecture: </a:t>
            </a:r>
          </a:p>
          <a:p>
            <a:pPr lvl="1"/>
            <a:r>
              <a:rPr kumimoji="1" lang="en-US" altLang="ja-JP"/>
              <a:t>Conv2D→ReLU→MaxPooling</a:t>
            </a:r>
            <a:r>
              <a:rPr kumimoji="1" lang="ja-JP" altLang="en-US"/>
              <a:t>→</a:t>
            </a:r>
            <a:r>
              <a:rPr kumimoji="1" lang="en-US" altLang="ja-JP"/>
              <a:t>Conv2D→ReLU→MaxPooling</a:t>
            </a:r>
            <a:br>
              <a:rPr kumimoji="1" lang="en-US" altLang="ja-JP"/>
            </a:br>
            <a:r>
              <a:rPr kumimoji="1" lang="en-US" altLang="ja-JP"/>
              <a:t>→Flatten</a:t>
            </a:r>
            <a:r>
              <a:rPr kumimoji="1" lang="ja-JP" altLang="en-US"/>
              <a:t>→</a:t>
            </a:r>
            <a:r>
              <a:rPr lang="en-US" altLang="ja-JP"/>
              <a:t>Fully </a:t>
            </a:r>
            <a:r>
              <a:rPr lang="en-US" altLang="ja-JP" err="1"/>
              <a:t>Connected</a:t>
            </a:r>
            <a:r>
              <a:rPr kumimoji="1" lang="en-US" altLang="ja-JP" err="1"/>
              <a:t>→Argmax</a:t>
            </a:r>
            <a:endParaRPr kumimoji="1" lang="en-US" altLang="ja-JP"/>
          </a:p>
          <a:p>
            <a:endParaRPr kumimoji="1" lang="ja-JP" altLang="en-US"/>
          </a:p>
        </p:txBody>
      </p:sp>
      <p:pic>
        <p:nvPicPr>
          <p:cNvPr id="11" name="図 10" descr="アイコン&#10;&#10;AI によって生成されたコンテンツは間違っている可能性があります。">
            <a:extLst>
              <a:ext uri="{FF2B5EF4-FFF2-40B4-BE49-F238E27FC236}">
                <a16:creationId xmlns:a16="http://schemas.microsoft.com/office/drawing/2014/main" id="{2BE6BC10-2903-D73D-B91F-DF58C05156D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605246" y="4797810"/>
            <a:ext cx="1490754" cy="1553697"/>
          </a:xfrm>
          <a:prstGeom prst="rect">
            <a:avLst/>
          </a:prstGeom>
          <a:ln w="38100">
            <a:solidFill>
              <a:schemeClr val="accent5"/>
            </a:solidFill>
            <a:prstDash val="sysDash"/>
          </a:ln>
        </p:spPr>
      </p:pic>
      <p:sp>
        <p:nvSpPr>
          <p:cNvPr id="2" name="タイトル 1">
            <a:extLst>
              <a:ext uri="{FF2B5EF4-FFF2-40B4-BE49-F238E27FC236}">
                <a16:creationId xmlns:a16="http://schemas.microsoft.com/office/drawing/2014/main" id="{6AA92E48-15D1-E890-19D5-D0CA5BA31711}"/>
              </a:ext>
            </a:extLst>
          </p:cNvPr>
          <p:cNvSpPr>
            <a:spLocks noGrp="1"/>
          </p:cNvSpPr>
          <p:nvPr>
            <p:ph type="title"/>
          </p:nvPr>
        </p:nvSpPr>
        <p:spPr/>
        <p:txBody>
          <a:bodyPr/>
          <a:lstStyle/>
          <a:p>
            <a:r>
              <a:rPr kumimoji="1" lang="en-US" altLang="ja-JP"/>
              <a:t>Overview</a:t>
            </a:r>
            <a:endParaRPr kumimoji="1" lang="ja-JP" altLang="en-US"/>
          </a:p>
        </p:txBody>
      </p:sp>
      <p:pic>
        <p:nvPicPr>
          <p:cNvPr id="4" name="図 3">
            <a:extLst>
              <a:ext uri="{FF2B5EF4-FFF2-40B4-BE49-F238E27FC236}">
                <a16:creationId xmlns:a16="http://schemas.microsoft.com/office/drawing/2014/main" id="{BD8606FD-F1A4-7DA0-AE9D-1A860565F8FD}"/>
              </a:ext>
            </a:extLst>
          </p:cNvPr>
          <p:cNvPicPr>
            <a:picLocks noChangeAspect="1"/>
          </p:cNvPicPr>
          <p:nvPr/>
        </p:nvPicPr>
        <p:blipFill>
          <a:blip r:embed="rId5"/>
          <a:stretch>
            <a:fillRect/>
          </a:stretch>
        </p:blipFill>
        <p:spPr>
          <a:xfrm>
            <a:off x="1622002" y="5085715"/>
            <a:ext cx="1047896" cy="1047896"/>
          </a:xfrm>
          <a:prstGeom prst="rect">
            <a:avLst/>
          </a:prstGeom>
        </p:spPr>
      </p:pic>
      <p:sp>
        <p:nvSpPr>
          <p:cNvPr id="6" name="矢印: 上 5">
            <a:extLst>
              <a:ext uri="{FF2B5EF4-FFF2-40B4-BE49-F238E27FC236}">
                <a16:creationId xmlns:a16="http://schemas.microsoft.com/office/drawing/2014/main" id="{2B1EA297-C5FC-15A2-B689-7546A40AF6E7}"/>
              </a:ext>
            </a:extLst>
          </p:cNvPr>
          <p:cNvSpPr/>
          <p:nvPr/>
        </p:nvSpPr>
        <p:spPr>
          <a:xfrm rot="5400000">
            <a:off x="3205489" y="5250623"/>
            <a:ext cx="657226" cy="64807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691F05FD-57D6-B727-2023-79CD3A31B9EB}"/>
              </a:ext>
            </a:extLst>
          </p:cNvPr>
          <p:cNvSpPr txBox="1"/>
          <p:nvPr/>
        </p:nvSpPr>
        <p:spPr>
          <a:xfrm>
            <a:off x="1622002" y="6170025"/>
            <a:ext cx="1381125" cy="369332"/>
          </a:xfrm>
          <a:prstGeom prst="rect">
            <a:avLst/>
          </a:prstGeom>
          <a:noFill/>
        </p:spPr>
        <p:txBody>
          <a:bodyPr wrap="square" rtlCol="0">
            <a:spAutoFit/>
          </a:bodyPr>
          <a:lstStyle/>
          <a:p>
            <a:r>
              <a:rPr kumimoji="1" lang="en-US" altLang="ja-JP"/>
              <a:t>28x28</a:t>
            </a:r>
            <a:endParaRPr kumimoji="1" lang="ja-JP" altLang="en-US"/>
          </a:p>
        </p:txBody>
      </p:sp>
      <p:sp>
        <p:nvSpPr>
          <p:cNvPr id="14" name="四角形: 角を丸くする 13">
            <a:extLst>
              <a:ext uri="{FF2B5EF4-FFF2-40B4-BE49-F238E27FC236}">
                <a16:creationId xmlns:a16="http://schemas.microsoft.com/office/drawing/2014/main" id="{E1BE39D7-B3EA-4F58-8883-19E478DA3842}"/>
              </a:ext>
            </a:extLst>
          </p:cNvPr>
          <p:cNvSpPr/>
          <p:nvPr/>
        </p:nvSpPr>
        <p:spPr>
          <a:xfrm>
            <a:off x="1319514" y="3229337"/>
            <a:ext cx="9213448" cy="800343"/>
          </a:xfrm>
          <a:prstGeom prst="roundRect">
            <a:avLst/>
          </a:prstGeom>
          <a:noFill/>
          <a:ln>
            <a:solidFill>
              <a:schemeClr val="accent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9E160142-FBD6-B40C-5BEE-D6D2C549C7D7}"/>
              </a:ext>
            </a:extLst>
          </p:cNvPr>
          <p:cNvCxnSpPr>
            <a:cxnSpLocks/>
            <a:endCxn id="11" idx="0"/>
          </p:cNvCxnSpPr>
          <p:nvPr/>
        </p:nvCxnSpPr>
        <p:spPr>
          <a:xfrm>
            <a:off x="1421381" y="3987054"/>
            <a:ext cx="3929242" cy="810756"/>
          </a:xfrm>
          <a:prstGeom prst="line">
            <a:avLst/>
          </a:prstGeom>
          <a:ln>
            <a:solidFill>
              <a:schemeClr val="accent5"/>
            </a:solidFill>
            <a:prstDash val="sysDash"/>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43465351-C637-A657-394F-5294D808AF2D}"/>
              </a:ext>
            </a:extLst>
          </p:cNvPr>
          <p:cNvCxnSpPr>
            <a:cxnSpLocks/>
            <a:endCxn id="11" idx="0"/>
          </p:cNvCxnSpPr>
          <p:nvPr/>
        </p:nvCxnSpPr>
        <p:spPr>
          <a:xfrm flipH="1">
            <a:off x="5350623" y="4023468"/>
            <a:ext cx="5182339" cy="774342"/>
          </a:xfrm>
          <a:prstGeom prst="line">
            <a:avLst/>
          </a:prstGeom>
          <a:ln>
            <a:solidFill>
              <a:schemeClr val="accent5"/>
            </a:solidFill>
            <a:prstDash val="sysDash"/>
          </a:ln>
        </p:spPr>
        <p:style>
          <a:lnRef idx="2">
            <a:schemeClr val="accent1"/>
          </a:lnRef>
          <a:fillRef idx="0">
            <a:schemeClr val="accent1"/>
          </a:fillRef>
          <a:effectRef idx="1">
            <a:schemeClr val="accent1"/>
          </a:effectRef>
          <a:fontRef idx="minor">
            <a:schemeClr val="tx1"/>
          </a:fontRef>
        </p:style>
      </p:cxnSp>
      <p:sp>
        <p:nvSpPr>
          <p:cNvPr id="23" name="矢印: 上 22">
            <a:extLst>
              <a:ext uri="{FF2B5EF4-FFF2-40B4-BE49-F238E27FC236}">
                <a16:creationId xmlns:a16="http://schemas.microsoft.com/office/drawing/2014/main" id="{93CF9D5F-899E-845E-D8AA-1C9E7316A734}"/>
              </a:ext>
            </a:extLst>
          </p:cNvPr>
          <p:cNvSpPr/>
          <p:nvPr/>
        </p:nvSpPr>
        <p:spPr>
          <a:xfrm rot="5400000">
            <a:off x="6713390" y="5250622"/>
            <a:ext cx="657226" cy="648072"/>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EF784634-EDBF-2DF3-4B32-ED35D743761C}"/>
              </a:ext>
            </a:extLst>
          </p:cNvPr>
          <p:cNvSpPr txBox="1"/>
          <p:nvPr/>
        </p:nvSpPr>
        <p:spPr>
          <a:xfrm>
            <a:off x="7698119" y="5433392"/>
            <a:ext cx="1793122" cy="369332"/>
          </a:xfrm>
          <a:prstGeom prst="rect">
            <a:avLst/>
          </a:prstGeom>
          <a:noFill/>
        </p:spPr>
        <p:txBody>
          <a:bodyPr wrap="square" rtlCol="0">
            <a:spAutoFit/>
          </a:bodyPr>
          <a:lstStyle/>
          <a:p>
            <a:r>
              <a:rPr kumimoji="1" lang="en-US" altLang="ja-JP"/>
              <a:t>Estimate: 5</a:t>
            </a:r>
            <a:endParaRPr kumimoji="1" lang="ja-JP" altLang="en-US"/>
          </a:p>
        </p:txBody>
      </p:sp>
    </p:spTree>
    <p:extLst>
      <p:ext uri="{BB962C8B-B14F-4D97-AF65-F5344CB8AC3E}">
        <p14:creationId xmlns:p14="http://schemas.microsoft.com/office/powerpoint/2010/main" val="478868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11D8B7-8FF7-D3E4-AA88-A5D549D29E43}"/>
              </a:ext>
            </a:extLst>
          </p:cNvPr>
          <p:cNvSpPr>
            <a:spLocks noGrp="1"/>
          </p:cNvSpPr>
          <p:nvPr>
            <p:ph type="title"/>
          </p:nvPr>
        </p:nvSpPr>
        <p:spPr>
          <a:xfrm>
            <a:off x="518250" y="132347"/>
            <a:ext cx="10515600" cy="1325563"/>
          </a:xfrm>
        </p:spPr>
        <p:txBody>
          <a:bodyPr/>
          <a:lstStyle/>
          <a:p>
            <a:r>
              <a:rPr lang="en-US" altLang="ja-JP"/>
              <a:t>Flow</a:t>
            </a:r>
            <a:endParaRPr kumimoji="1" lang="ja-JP" altLang="en-US"/>
          </a:p>
        </p:txBody>
      </p:sp>
      <p:sp>
        <p:nvSpPr>
          <p:cNvPr id="5" name="フローチャート: 磁気ディスク 4">
            <a:extLst>
              <a:ext uri="{FF2B5EF4-FFF2-40B4-BE49-F238E27FC236}">
                <a16:creationId xmlns:a16="http://schemas.microsoft.com/office/drawing/2014/main" id="{3BE7CC70-C7EF-3512-44FB-EAD90AB338FB}"/>
              </a:ext>
            </a:extLst>
          </p:cNvPr>
          <p:cNvSpPr/>
          <p:nvPr/>
        </p:nvSpPr>
        <p:spPr>
          <a:xfrm>
            <a:off x="337652" y="3247718"/>
            <a:ext cx="1449888" cy="949234"/>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100" dirty="0">
              <a:solidFill>
                <a:schemeClr val="tx1"/>
              </a:solidFill>
            </a:endParaRPr>
          </a:p>
          <a:p>
            <a:pPr algn="ctr"/>
            <a:r>
              <a:rPr kumimoji="1" lang="en-US" altLang="ja-JP" dirty="0">
                <a:solidFill>
                  <a:schemeClr val="tx1"/>
                </a:solidFill>
              </a:rPr>
              <a:t>Technology</a:t>
            </a:r>
            <a:br>
              <a:rPr kumimoji="1" lang="en-US" altLang="ja-JP" dirty="0">
                <a:solidFill>
                  <a:schemeClr val="tx1"/>
                </a:solidFill>
              </a:rPr>
            </a:br>
            <a:r>
              <a:rPr kumimoji="1" lang="en-US" altLang="ja-JP" dirty="0">
                <a:solidFill>
                  <a:schemeClr val="tx1"/>
                </a:solidFill>
              </a:rPr>
              <a:t>library</a:t>
            </a:r>
            <a:endParaRPr kumimoji="1" lang="ja-JP" altLang="en-US" dirty="0">
              <a:solidFill>
                <a:schemeClr val="tx1"/>
              </a:solidFill>
            </a:endParaRPr>
          </a:p>
        </p:txBody>
      </p:sp>
      <p:sp>
        <p:nvSpPr>
          <p:cNvPr id="6" name="正方形/長方形 5">
            <a:extLst>
              <a:ext uri="{FF2B5EF4-FFF2-40B4-BE49-F238E27FC236}">
                <a16:creationId xmlns:a16="http://schemas.microsoft.com/office/drawing/2014/main" id="{0E319A80-0DB6-44DF-DCE0-9EE0CE70D0CC}"/>
              </a:ext>
            </a:extLst>
          </p:cNvPr>
          <p:cNvSpPr/>
          <p:nvPr/>
        </p:nvSpPr>
        <p:spPr>
          <a:xfrm>
            <a:off x="337652" y="4933603"/>
            <a:ext cx="1449888" cy="83602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Design</a:t>
            </a:r>
          </a:p>
          <a:p>
            <a:pPr algn="ctr"/>
            <a:r>
              <a:rPr lang="en-US" altLang="ja-JP" dirty="0">
                <a:solidFill>
                  <a:schemeClr val="tx1"/>
                </a:solidFill>
              </a:rPr>
              <a:t>Constraints</a:t>
            </a:r>
            <a:endParaRPr kumimoji="1" lang="ja-JP" altLang="en-US" dirty="0">
              <a:solidFill>
                <a:schemeClr val="tx1"/>
              </a:solidFill>
            </a:endParaRPr>
          </a:p>
        </p:txBody>
      </p:sp>
      <p:sp>
        <p:nvSpPr>
          <p:cNvPr id="7" name="正方形/長方形 6">
            <a:extLst>
              <a:ext uri="{FF2B5EF4-FFF2-40B4-BE49-F238E27FC236}">
                <a16:creationId xmlns:a16="http://schemas.microsoft.com/office/drawing/2014/main" id="{E00FCEBB-123F-1B04-766D-708E90B4F844}"/>
              </a:ext>
            </a:extLst>
          </p:cNvPr>
          <p:cNvSpPr/>
          <p:nvPr/>
        </p:nvSpPr>
        <p:spPr>
          <a:xfrm>
            <a:off x="2347050" y="579584"/>
            <a:ext cx="1989906" cy="5739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Target</a:t>
            </a:r>
          </a:p>
          <a:p>
            <a:pPr algn="ctr"/>
            <a:r>
              <a:rPr lang="en-US" altLang="ja-JP" dirty="0" err="1">
                <a:solidFill>
                  <a:schemeClr val="tx1"/>
                </a:solidFill>
              </a:rPr>
              <a:t>Apprication</a:t>
            </a:r>
            <a:r>
              <a:rPr lang="en-US" altLang="ja-JP" dirty="0">
                <a:solidFill>
                  <a:schemeClr val="tx1"/>
                </a:solidFill>
              </a:rPr>
              <a:t>(C)</a:t>
            </a:r>
            <a:endParaRPr kumimoji="1" lang="ja-JP" altLang="en-US" dirty="0">
              <a:solidFill>
                <a:schemeClr val="tx1"/>
              </a:solidFill>
            </a:endParaRPr>
          </a:p>
        </p:txBody>
      </p:sp>
      <p:sp>
        <p:nvSpPr>
          <p:cNvPr id="8" name="四角形: 角を丸くする 7">
            <a:extLst>
              <a:ext uri="{FF2B5EF4-FFF2-40B4-BE49-F238E27FC236}">
                <a16:creationId xmlns:a16="http://schemas.microsoft.com/office/drawing/2014/main" id="{CECE465C-89CA-0F4D-7D4C-D4A8E180C7A8}"/>
              </a:ext>
            </a:extLst>
          </p:cNvPr>
          <p:cNvSpPr/>
          <p:nvPr/>
        </p:nvSpPr>
        <p:spPr>
          <a:xfrm>
            <a:off x="2347048" y="1535773"/>
            <a:ext cx="1989906" cy="60089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Modeling by</a:t>
            </a:r>
          </a:p>
          <a:p>
            <a:pPr algn="ctr"/>
            <a:r>
              <a:rPr lang="en-US" altLang="ja-JP" dirty="0" err="1">
                <a:solidFill>
                  <a:schemeClr val="tx1"/>
                </a:solidFill>
              </a:rPr>
              <a:t>SystemC</a:t>
            </a:r>
            <a:endParaRPr kumimoji="1" lang="ja-JP" altLang="en-US" dirty="0">
              <a:solidFill>
                <a:schemeClr val="tx1"/>
              </a:solidFill>
            </a:endParaRPr>
          </a:p>
        </p:txBody>
      </p:sp>
      <p:sp>
        <p:nvSpPr>
          <p:cNvPr id="9" name="正方形/長方形 8">
            <a:extLst>
              <a:ext uri="{FF2B5EF4-FFF2-40B4-BE49-F238E27FC236}">
                <a16:creationId xmlns:a16="http://schemas.microsoft.com/office/drawing/2014/main" id="{CC3BA68F-16E8-6189-A4BA-EADDE74DF9AC}"/>
              </a:ext>
            </a:extLst>
          </p:cNvPr>
          <p:cNvSpPr/>
          <p:nvPr/>
        </p:nvSpPr>
        <p:spPr>
          <a:xfrm>
            <a:off x="2347047" y="2491886"/>
            <a:ext cx="1989906" cy="5739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tx1"/>
                </a:solidFill>
              </a:rPr>
              <a:t>SystemC</a:t>
            </a:r>
            <a:endParaRPr kumimoji="1" lang="en-US" altLang="ja-JP" dirty="0">
              <a:solidFill>
                <a:schemeClr val="tx1"/>
              </a:solidFill>
            </a:endParaRPr>
          </a:p>
          <a:p>
            <a:pPr algn="ctr"/>
            <a:r>
              <a:rPr lang="en-US" altLang="ja-JP" dirty="0">
                <a:solidFill>
                  <a:schemeClr val="tx1"/>
                </a:solidFill>
              </a:rPr>
              <a:t>Model</a:t>
            </a:r>
            <a:endParaRPr kumimoji="1" lang="ja-JP" altLang="en-US" dirty="0">
              <a:solidFill>
                <a:schemeClr val="tx1"/>
              </a:solidFill>
            </a:endParaRPr>
          </a:p>
        </p:txBody>
      </p:sp>
      <p:sp>
        <p:nvSpPr>
          <p:cNvPr id="10" name="四角形: 角を丸くする 9">
            <a:extLst>
              <a:ext uri="{FF2B5EF4-FFF2-40B4-BE49-F238E27FC236}">
                <a16:creationId xmlns:a16="http://schemas.microsoft.com/office/drawing/2014/main" id="{1DEFD13B-DC86-14AD-F6CE-B967D6900B6F}"/>
              </a:ext>
            </a:extLst>
          </p:cNvPr>
          <p:cNvSpPr/>
          <p:nvPr/>
        </p:nvSpPr>
        <p:spPr>
          <a:xfrm>
            <a:off x="2347047" y="3382830"/>
            <a:ext cx="1989907" cy="60089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STRATUS</a:t>
            </a:r>
            <a:r>
              <a:rPr lang="en-US" altLang="ja-JP" dirty="0">
                <a:solidFill>
                  <a:schemeClr val="tx1"/>
                </a:solidFill>
              </a:rPr>
              <a:t>(HLS)</a:t>
            </a:r>
            <a:endParaRPr kumimoji="1" lang="en-US" altLang="ja-JP" dirty="0">
              <a:solidFill>
                <a:schemeClr val="tx1"/>
              </a:solidFill>
            </a:endParaRPr>
          </a:p>
        </p:txBody>
      </p:sp>
      <p:sp>
        <p:nvSpPr>
          <p:cNvPr id="11" name="正方形/長方形 10">
            <a:extLst>
              <a:ext uri="{FF2B5EF4-FFF2-40B4-BE49-F238E27FC236}">
                <a16:creationId xmlns:a16="http://schemas.microsoft.com/office/drawing/2014/main" id="{594EBC95-1F9A-4E74-DE6E-93DD5F10049D}"/>
              </a:ext>
            </a:extLst>
          </p:cNvPr>
          <p:cNvSpPr/>
          <p:nvPr/>
        </p:nvSpPr>
        <p:spPr>
          <a:xfrm>
            <a:off x="2347047" y="4335732"/>
            <a:ext cx="1989907" cy="48099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RTL model</a:t>
            </a:r>
            <a:endParaRPr kumimoji="1" lang="ja-JP" altLang="en-US" dirty="0">
              <a:solidFill>
                <a:schemeClr val="tx1"/>
              </a:solidFill>
            </a:endParaRPr>
          </a:p>
        </p:txBody>
      </p:sp>
      <p:sp>
        <p:nvSpPr>
          <p:cNvPr id="12" name="正方形/長方形 11">
            <a:extLst>
              <a:ext uri="{FF2B5EF4-FFF2-40B4-BE49-F238E27FC236}">
                <a16:creationId xmlns:a16="http://schemas.microsoft.com/office/drawing/2014/main" id="{6818522D-F683-9C85-F8B3-7700E3E9FA69}"/>
              </a:ext>
            </a:extLst>
          </p:cNvPr>
          <p:cNvSpPr/>
          <p:nvPr/>
        </p:nvSpPr>
        <p:spPr>
          <a:xfrm>
            <a:off x="2347047" y="6121637"/>
            <a:ext cx="1989906" cy="48099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Verilog Netlist</a:t>
            </a:r>
            <a:endParaRPr kumimoji="1" lang="ja-JP" altLang="en-US" dirty="0">
              <a:solidFill>
                <a:schemeClr val="tx1"/>
              </a:solidFill>
            </a:endParaRPr>
          </a:p>
        </p:txBody>
      </p:sp>
      <p:sp>
        <p:nvSpPr>
          <p:cNvPr id="13" name="四角形: 角を丸くする 12">
            <a:extLst>
              <a:ext uri="{FF2B5EF4-FFF2-40B4-BE49-F238E27FC236}">
                <a16:creationId xmlns:a16="http://schemas.microsoft.com/office/drawing/2014/main" id="{DC61D6E4-37CB-B158-20B5-170B7374E39E}"/>
              </a:ext>
            </a:extLst>
          </p:cNvPr>
          <p:cNvSpPr/>
          <p:nvPr/>
        </p:nvSpPr>
        <p:spPr>
          <a:xfrm>
            <a:off x="2347047" y="5168735"/>
            <a:ext cx="1989907" cy="60089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GENUS</a:t>
            </a:r>
            <a:br>
              <a:rPr kumimoji="1" lang="en-US" altLang="ja-JP" dirty="0">
                <a:solidFill>
                  <a:schemeClr val="tx1"/>
                </a:solidFill>
              </a:rPr>
            </a:br>
            <a:r>
              <a:rPr kumimoji="1" lang="en-US" altLang="ja-JP" dirty="0">
                <a:solidFill>
                  <a:schemeClr val="tx1"/>
                </a:solidFill>
              </a:rPr>
              <a:t>(logic synth)</a:t>
            </a:r>
          </a:p>
        </p:txBody>
      </p:sp>
      <p:sp>
        <p:nvSpPr>
          <p:cNvPr id="14" name="四角形: 角を丸くする 13">
            <a:extLst>
              <a:ext uri="{FF2B5EF4-FFF2-40B4-BE49-F238E27FC236}">
                <a16:creationId xmlns:a16="http://schemas.microsoft.com/office/drawing/2014/main" id="{09A1A712-A75A-4969-4E2C-4C3C967E594F}"/>
              </a:ext>
            </a:extLst>
          </p:cNvPr>
          <p:cNvSpPr/>
          <p:nvPr/>
        </p:nvSpPr>
        <p:spPr>
          <a:xfrm>
            <a:off x="4715862" y="553457"/>
            <a:ext cx="1881051" cy="60089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Test input</a:t>
            </a:r>
          </a:p>
          <a:p>
            <a:pPr algn="ctr"/>
            <a:r>
              <a:rPr lang="en-US" altLang="ja-JP" dirty="0">
                <a:solidFill>
                  <a:schemeClr val="tx1"/>
                </a:solidFill>
              </a:rPr>
              <a:t>preparation</a:t>
            </a:r>
            <a:endParaRPr kumimoji="1" lang="ja-JP" altLang="en-US" dirty="0">
              <a:solidFill>
                <a:schemeClr val="tx1"/>
              </a:solidFill>
            </a:endParaRPr>
          </a:p>
        </p:txBody>
      </p:sp>
      <p:sp>
        <p:nvSpPr>
          <p:cNvPr id="15" name="正方形/長方形 14">
            <a:extLst>
              <a:ext uri="{FF2B5EF4-FFF2-40B4-BE49-F238E27FC236}">
                <a16:creationId xmlns:a16="http://schemas.microsoft.com/office/drawing/2014/main" id="{6A352411-452F-7A9B-941E-755F9F126B3B}"/>
              </a:ext>
            </a:extLst>
          </p:cNvPr>
          <p:cNvSpPr/>
          <p:nvPr/>
        </p:nvSpPr>
        <p:spPr>
          <a:xfrm>
            <a:off x="7134583" y="566207"/>
            <a:ext cx="1863546" cy="5739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C with test</a:t>
            </a:r>
          </a:p>
          <a:p>
            <a:pPr algn="ctr"/>
            <a:r>
              <a:rPr lang="en-US" altLang="ja-JP" dirty="0">
                <a:solidFill>
                  <a:schemeClr val="tx1"/>
                </a:solidFill>
              </a:rPr>
              <a:t>inputs</a:t>
            </a:r>
            <a:endParaRPr kumimoji="1" lang="ja-JP" altLang="en-US" dirty="0">
              <a:solidFill>
                <a:schemeClr val="tx1"/>
              </a:solidFill>
            </a:endParaRPr>
          </a:p>
        </p:txBody>
      </p:sp>
      <p:sp>
        <p:nvSpPr>
          <p:cNvPr id="16" name="四角形: 角を丸くする 15">
            <a:extLst>
              <a:ext uri="{FF2B5EF4-FFF2-40B4-BE49-F238E27FC236}">
                <a16:creationId xmlns:a16="http://schemas.microsoft.com/office/drawing/2014/main" id="{90E2F2FC-074B-7BFE-AF6F-078E2AB1BE04}"/>
              </a:ext>
            </a:extLst>
          </p:cNvPr>
          <p:cNvSpPr/>
          <p:nvPr/>
        </p:nvSpPr>
        <p:spPr>
          <a:xfrm>
            <a:off x="7134583" y="1578852"/>
            <a:ext cx="1881051" cy="38932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Simulation</a:t>
            </a:r>
            <a:endParaRPr kumimoji="1" lang="ja-JP" altLang="en-US" dirty="0">
              <a:solidFill>
                <a:schemeClr val="tx1"/>
              </a:solidFill>
            </a:endParaRPr>
          </a:p>
        </p:txBody>
      </p:sp>
      <p:sp>
        <p:nvSpPr>
          <p:cNvPr id="17" name="正方形/長方形 16">
            <a:extLst>
              <a:ext uri="{FF2B5EF4-FFF2-40B4-BE49-F238E27FC236}">
                <a16:creationId xmlns:a16="http://schemas.microsoft.com/office/drawing/2014/main" id="{E0454295-FEE2-EE71-BF6B-22D1968268D5}"/>
              </a:ext>
            </a:extLst>
          </p:cNvPr>
          <p:cNvSpPr/>
          <p:nvPr/>
        </p:nvSpPr>
        <p:spPr>
          <a:xfrm>
            <a:off x="9697088" y="1486518"/>
            <a:ext cx="1863546" cy="5739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Simulated</a:t>
            </a:r>
          </a:p>
          <a:p>
            <a:pPr algn="ctr"/>
            <a:r>
              <a:rPr lang="en-US" altLang="ja-JP" dirty="0">
                <a:solidFill>
                  <a:schemeClr val="tx1"/>
                </a:solidFill>
              </a:rPr>
              <a:t>values</a:t>
            </a:r>
            <a:endParaRPr kumimoji="1" lang="ja-JP" altLang="en-US" dirty="0">
              <a:solidFill>
                <a:schemeClr val="tx1"/>
              </a:solidFill>
            </a:endParaRPr>
          </a:p>
        </p:txBody>
      </p:sp>
      <p:sp>
        <p:nvSpPr>
          <p:cNvPr id="18" name="正方形/長方形 17">
            <a:extLst>
              <a:ext uri="{FF2B5EF4-FFF2-40B4-BE49-F238E27FC236}">
                <a16:creationId xmlns:a16="http://schemas.microsoft.com/office/drawing/2014/main" id="{38058A5A-0CBB-6DEB-F64B-6DAB32612479}"/>
              </a:ext>
            </a:extLst>
          </p:cNvPr>
          <p:cNvSpPr/>
          <p:nvPr/>
        </p:nvSpPr>
        <p:spPr>
          <a:xfrm>
            <a:off x="9697088" y="3734841"/>
            <a:ext cx="1863546" cy="57398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Simulated</a:t>
            </a:r>
          </a:p>
          <a:p>
            <a:pPr algn="ctr"/>
            <a:r>
              <a:rPr lang="en-US" altLang="ja-JP" dirty="0">
                <a:solidFill>
                  <a:schemeClr val="tx1"/>
                </a:solidFill>
              </a:rPr>
              <a:t>values</a:t>
            </a:r>
            <a:endParaRPr kumimoji="1" lang="ja-JP" altLang="en-US" dirty="0">
              <a:solidFill>
                <a:schemeClr val="tx1"/>
              </a:solidFill>
            </a:endParaRPr>
          </a:p>
        </p:txBody>
      </p:sp>
      <p:sp>
        <p:nvSpPr>
          <p:cNvPr id="19" name="正方形/長方形 18">
            <a:extLst>
              <a:ext uri="{FF2B5EF4-FFF2-40B4-BE49-F238E27FC236}">
                <a16:creationId xmlns:a16="http://schemas.microsoft.com/office/drawing/2014/main" id="{827880BD-99A4-9BA3-C42B-EBB148D79BE8}"/>
              </a:ext>
            </a:extLst>
          </p:cNvPr>
          <p:cNvSpPr/>
          <p:nvPr/>
        </p:nvSpPr>
        <p:spPr>
          <a:xfrm>
            <a:off x="9766666" y="3823866"/>
            <a:ext cx="1863546" cy="57398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Simulated</a:t>
            </a:r>
          </a:p>
          <a:p>
            <a:pPr algn="ctr"/>
            <a:r>
              <a:rPr lang="en-US" altLang="ja-JP" dirty="0">
                <a:solidFill>
                  <a:schemeClr val="tx1"/>
                </a:solidFill>
              </a:rPr>
              <a:t>values</a:t>
            </a:r>
            <a:endParaRPr kumimoji="1" lang="ja-JP" altLang="en-US" dirty="0">
              <a:solidFill>
                <a:schemeClr val="tx1"/>
              </a:solidFill>
            </a:endParaRPr>
          </a:p>
        </p:txBody>
      </p:sp>
      <p:sp>
        <p:nvSpPr>
          <p:cNvPr id="20" name="正方形/長方形 19">
            <a:extLst>
              <a:ext uri="{FF2B5EF4-FFF2-40B4-BE49-F238E27FC236}">
                <a16:creationId xmlns:a16="http://schemas.microsoft.com/office/drawing/2014/main" id="{625E9A5A-313F-40DC-4A92-1CB83A9FF093}"/>
              </a:ext>
            </a:extLst>
          </p:cNvPr>
          <p:cNvSpPr/>
          <p:nvPr/>
        </p:nvSpPr>
        <p:spPr>
          <a:xfrm>
            <a:off x="9844953" y="3939018"/>
            <a:ext cx="1863546" cy="57398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Simulated</a:t>
            </a:r>
          </a:p>
          <a:p>
            <a:pPr algn="ctr"/>
            <a:r>
              <a:rPr lang="en-US" altLang="ja-JP" dirty="0">
                <a:solidFill>
                  <a:schemeClr val="tx1"/>
                </a:solidFill>
              </a:rPr>
              <a:t>values</a:t>
            </a:r>
            <a:endParaRPr kumimoji="1" lang="ja-JP" altLang="en-US" dirty="0">
              <a:solidFill>
                <a:schemeClr val="tx1"/>
              </a:solidFill>
            </a:endParaRPr>
          </a:p>
        </p:txBody>
      </p:sp>
      <p:sp>
        <p:nvSpPr>
          <p:cNvPr id="21" name="四角形: 角を丸くする 20">
            <a:extLst>
              <a:ext uri="{FF2B5EF4-FFF2-40B4-BE49-F238E27FC236}">
                <a16:creationId xmlns:a16="http://schemas.microsoft.com/office/drawing/2014/main" id="{005DD1AF-A45E-4ED4-C6AE-B384DB58CC1C}"/>
              </a:ext>
            </a:extLst>
          </p:cNvPr>
          <p:cNvSpPr/>
          <p:nvPr/>
        </p:nvSpPr>
        <p:spPr>
          <a:xfrm>
            <a:off x="7134583" y="3734841"/>
            <a:ext cx="1989907" cy="60089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XCELIUM</a:t>
            </a:r>
          </a:p>
          <a:p>
            <a:pPr algn="ctr"/>
            <a:r>
              <a:rPr lang="en-US" altLang="ja-JP" dirty="0">
                <a:solidFill>
                  <a:schemeClr val="tx1"/>
                </a:solidFill>
              </a:rPr>
              <a:t>(logic sim)</a:t>
            </a:r>
            <a:endParaRPr kumimoji="1" lang="en-US" altLang="ja-JP" dirty="0">
              <a:solidFill>
                <a:schemeClr val="tx1"/>
              </a:solidFill>
            </a:endParaRPr>
          </a:p>
        </p:txBody>
      </p:sp>
      <p:sp>
        <p:nvSpPr>
          <p:cNvPr id="23" name="正方形/長方形 22">
            <a:extLst>
              <a:ext uri="{FF2B5EF4-FFF2-40B4-BE49-F238E27FC236}">
                <a16:creationId xmlns:a16="http://schemas.microsoft.com/office/drawing/2014/main" id="{331DE72C-2DF2-B69B-C36B-2BC1AB952890}"/>
              </a:ext>
            </a:extLst>
          </p:cNvPr>
          <p:cNvSpPr/>
          <p:nvPr/>
        </p:nvSpPr>
        <p:spPr>
          <a:xfrm>
            <a:off x="7197763" y="2484601"/>
            <a:ext cx="1863546" cy="57398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Test bench</a:t>
            </a:r>
          </a:p>
          <a:p>
            <a:pPr algn="ctr"/>
            <a:r>
              <a:rPr lang="en-US" altLang="ja-JP" dirty="0" err="1">
                <a:solidFill>
                  <a:schemeClr val="tx1"/>
                </a:solidFill>
              </a:rPr>
              <a:t>withwrapper</a:t>
            </a:r>
            <a:endParaRPr kumimoji="1" lang="ja-JP" altLang="en-US" dirty="0">
              <a:solidFill>
                <a:schemeClr val="tx1"/>
              </a:solidFill>
            </a:endParaRPr>
          </a:p>
        </p:txBody>
      </p:sp>
      <p:sp>
        <p:nvSpPr>
          <p:cNvPr id="25" name="四角形: 角を丸くする 24">
            <a:extLst>
              <a:ext uri="{FF2B5EF4-FFF2-40B4-BE49-F238E27FC236}">
                <a16:creationId xmlns:a16="http://schemas.microsoft.com/office/drawing/2014/main" id="{DCC36022-E667-741D-ADD7-C51CCE33570C}"/>
              </a:ext>
            </a:extLst>
          </p:cNvPr>
          <p:cNvSpPr/>
          <p:nvPr/>
        </p:nvSpPr>
        <p:spPr>
          <a:xfrm>
            <a:off x="4715862" y="2478434"/>
            <a:ext cx="1881051" cy="600891"/>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Test bench</a:t>
            </a:r>
          </a:p>
          <a:p>
            <a:pPr algn="ctr"/>
            <a:r>
              <a:rPr lang="en-US" altLang="ja-JP" dirty="0">
                <a:solidFill>
                  <a:schemeClr val="tx1"/>
                </a:solidFill>
              </a:rPr>
              <a:t>modeling</a:t>
            </a:r>
            <a:endParaRPr kumimoji="1" lang="ja-JP" altLang="en-US" dirty="0">
              <a:solidFill>
                <a:schemeClr val="tx1"/>
              </a:solidFill>
            </a:endParaRPr>
          </a:p>
        </p:txBody>
      </p:sp>
      <p:cxnSp>
        <p:nvCxnSpPr>
          <p:cNvPr id="27" name="直線矢印コネクタ 26">
            <a:extLst>
              <a:ext uri="{FF2B5EF4-FFF2-40B4-BE49-F238E27FC236}">
                <a16:creationId xmlns:a16="http://schemas.microsoft.com/office/drawing/2014/main" id="{1DFE3213-8DA5-3F52-C861-94FFEBC3FBE0}"/>
              </a:ext>
            </a:extLst>
          </p:cNvPr>
          <p:cNvCxnSpPr>
            <a:stCxn id="7" idx="2"/>
            <a:endCxn id="8" idx="0"/>
          </p:cNvCxnSpPr>
          <p:nvPr/>
        </p:nvCxnSpPr>
        <p:spPr>
          <a:xfrm flipH="1">
            <a:off x="3342001" y="1153572"/>
            <a:ext cx="2" cy="3822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線矢印コネクタ 27">
            <a:extLst>
              <a:ext uri="{FF2B5EF4-FFF2-40B4-BE49-F238E27FC236}">
                <a16:creationId xmlns:a16="http://schemas.microsoft.com/office/drawing/2014/main" id="{C0D2ADF1-C0F4-5036-6179-7076824BEA6C}"/>
              </a:ext>
            </a:extLst>
          </p:cNvPr>
          <p:cNvCxnSpPr>
            <a:cxnSpLocks/>
            <a:stCxn id="8" idx="2"/>
            <a:endCxn id="9" idx="0"/>
          </p:cNvCxnSpPr>
          <p:nvPr/>
        </p:nvCxnSpPr>
        <p:spPr>
          <a:xfrm flipH="1">
            <a:off x="3342000" y="2136664"/>
            <a:ext cx="1" cy="35522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線矢印コネクタ 30">
            <a:extLst>
              <a:ext uri="{FF2B5EF4-FFF2-40B4-BE49-F238E27FC236}">
                <a16:creationId xmlns:a16="http://schemas.microsoft.com/office/drawing/2014/main" id="{CF080134-55B7-4A9F-6058-263B564068F8}"/>
              </a:ext>
            </a:extLst>
          </p:cNvPr>
          <p:cNvCxnSpPr>
            <a:cxnSpLocks/>
            <a:stCxn id="9" idx="2"/>
            <a:endCxn id="10" idx="0"/>
          </p:cNvCxnSpPr>
          <p:nvPr/>
        </p:nvCxnSpPr>
        <p:spPr>
          <a:xfrm>
            <a:off x="3342000" y="3065874"/>
            <a:ext cx="1" cy="3169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直線矢印コネクタ 34">
            <a:extLst>
              <a:ext uri="{FF2B5EF4-FFF2-40B4-BE49-F238E27FC236}">
                <a16:creationId xmlns:a16="http://schemas.microsoft.com/office/drawing/2014/main" id="{742482F9-C992-7FA1-12FF-20D48DBD0DE4}"/>
              </a:ext>
            </a:extLst>
          </p:cNvPr>
          <p:cNvCxnSpPr>
            <a:cxnSpLocks/>
            <a:stCxn id="10" idx="2"/>
            <a:endCxn id="11" idx="0"/>
          </p:cNvCxnSpPr>
          <p:nvPr/>
        </p:nvCxnSpPr>
        <p:spPr>
          <a:xfrm>
            <a:off x="3342001" y="3983721"/>
            <a:ext cx="0" cy="3520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直線矢印コネクタ 38">
            <a:extLst>
              <a:ext uri="{FF2B5EF4-FFF2-40B4-BE49-F238E27FC236}">
                <a16:creationId xmlns:a16="http://schemas.microsoft.com/office/drawing/2014/main" id="{B51B6E05-7F0A-8757-F549-BEE44BAF00A2}"/>
              </a:ext>
            </a:extLst>
          </p:cNvPr>
          <p:cNvCxnSpPr>
            <a:cxnSpLocks/>
            <a:stCxn id="11" idx="2"/>
            <a:endCxn id="13" idx="0"/>
          </p:cNvCxnSpPr>
          <p:nvPr/>
        </p:nvCxnSpPr>
        <p:spPr>
          <a:xfrm>
            <a:off x="3342001" y="4816724"/>
            <a:ext cx="0" cy="3520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直線矢印コネクタ 41">
            <a:extLst>
              <a:ext uri="{FF2B5EF4-FFF2-40B4-BE49-F238E27FC236}">
                <a16:creationId xmlns:a16="http://schemas.microsoft.com/office/drawing/2014/main" id="{F64DCA80-F394-DE5A-6AEA-B1657531C68D}"/>
              </a:ext>
            </a:extLst>
          </p:cNvPr>
          <p:cNvCxnSpPr>
            <a:cxnSpLocks/>
            <a:stCxn id="13" idx="2"/>
            <a:endCxn id="12" idx="0"/>
          </p:cNvCxnSpPr>
          <p:nvPr/>
        </p:nvCxnSpPr>
        <p:spPr>
          <a:xfrm flipH="1">
            <a:off x="3342000" y="5769626"/>
            <a:ext cx="1" cy="3520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直線矢印コネクタ 45">
            <a:extLst>
              <a:ext uri="{FF2B5EF4-FFF2-40B4-BE49-F238E27FC236}">
                <a16:creationId xmlns:a16="http://schemas.microsoft.com/office/drawing/2014/main" id="{A7A8763C-5293-659A-8710-BED749362861}"/>
              </a:ext>
            </a:extLst>
          </p:cNvPr>
          <p:cNvCxnSpPr>
            <a:cxnSpLocks/>
            <a:stCxn id="7" idx="3"/>
            <a:endCxn id="14" idx="1"/>
          </p:cNvCxnSpPr>
          <p:nvPr/>
        </p:nvCxnSpPr>
        <p:spPr>
          <a:xfrm flipV="1">
            <a:off x="4336956" y="853903"/>
            <a:ext cx="378906" cy="126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直線矢印コネクタ 50">
            <a:extLst>
              <a:ext uri="{FF2B5EF4-FFF2-40B4-BE49-F238E27FC236}">
                <a16:creationId xmlns:a16="http://schemas.microsoft.com/office/drawing/2014/main" id="{3FB7E132-2A28-B7D6-7D48-D31A90ECA5F9}"/>
              </a:ext>
            </a:extLst>
          </p:cNvPr>
          <p:cNvCxnSpPr>
            <a:cxnSpLocks/>
            <a:stCxn id="14" idx="3"/>
            <a:endCxn id="15" idx="1"/>
          </p:cNvCxnSpPr>
          <p:nvPr/>
        </p:nvCxnSpPr>
        <p:spPr>
          <a:xfrm flipV="1">
            <a:off x="6596913" y="853201"/>
            <a:ext cx="537670" cy="7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5" name="直線矢印コネクタ 54">
            <a:extLst>
              <a:ext uri="{FF2B5EF4-FFF2-40B4-BE49-F238E27FC236}">
                <a16:creationId xmlns:a16="http://schemas.microsoft.com/office/drawing/2014/main" id="{56FFF2E4-8972-1BA7-2969-3D4E7FD56C2D}"/>
              </a:ext>
            </a:extLst>
          </p:cNvPr>
          <p:cNvCxnSpPr>
            <a:cxnSpLocks/>
            <a:stCxn id="15" idx="2"/>
            <a:endCxn id="16" idx="0"/>
          </p:cNvCxnSpPr>
          <p:nvPr/>
        </p:nvCxnSpPr>
        <p:spPr>
          <a:xfrm>
            <a:off x="8066356" y="1140195"/>
            <a:ext cx="8753" cy="43865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直線矢印コネクタ 57">
            <a:extLst>
              <a:ext uri="{FF2B5EF4-FFF2-40B4-BE49-F238E27FC236}">
                <a16:creationId xmlns:a16="http://schemas.microsoft.com/office/drawing/2014/main" id="{D198596B-D49D-06F0-74D1-67BC99558E10}"/>
              </a:ext>
            </a:extLst>
          </p:cNvPr>
          <p:cNvCxnSpPr>
            <a:cxnSpLocks/>
            <a:stCxn id="16" idx="3"/>
            <a:endCxn id="17" idx="1"/>
          </p:cNvCxnSpPr>
          <p:nvPr/>
        </p:nvCxnSpPr>
        <p:spPr>
          <a:xfrm>
            <a:off x="9015634" y="1773512"/>
            <a:ext cx="68145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2" name="直線矢印コネクタ 61">
            <a:extLst>
              <a:ext uri="{FF2B5EF4-FFF2-40B4-BE49-F238E27FC236}">
                <a16:creationId xmlns:a16="http://schemas.microsoft.com/office/drawing/2014/main" id="{E9655786-D879-984F-9EF8-A0B20D500CF5}"/>
              </a:ext>
            </a:extLst>
          </p:cNvPr>
          <p:cNvCxnSpPr>
            <a:cxnSpLocks/>
            <a:stCxn id="25" idx="3"/>
            <a:endCxn id="23" idx="1"/>
          </p:cNvCxnSpPr>
          <p:nvPr/>
        </p:nvCxnSpPr>
        <p:spPr>
          <a:xfrm flipV="1">
            <a:off x="6596913" y="2771595"/>
            <a:ext cx="600850" cy="72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直線矢印コネクタ 65">
            <a:extLst>
              <a:ext uri="{FF2B5EF4-FFF2-40B4-BE49-F238E27FC236}">
                <a16:creationId xmlns:a16="http://schemas.microsoft.com/office/drawing/2014/main" id="{19208998-F7E2-B21F-BC1C-7C2A018095E6}"/>
              </a:ext>
            </a:extLst>
          </p:cNvPr>
          <p:cNvCxnSpPr>
            <a:cxnSpLocks/>
            <a:stCxn id="9" idx="3"/>
            <a:endCxn id="25" idx="1"/>
          </p:cNvCxnSpPr>
          <p:nvPr/>
        </p:nvCxnSpPr>
        <p:spPr>
          <a:xfrm>
            <a:off x="4336953" y="2778880"/>
            <a:ext cx="37890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9" name="直線矢印コネクタ 68">
            <a:extLst>
              <a:ext uri="{FF2B5EF4-FFF2-40B4-BE49-F238E27FC236}">
                <a16:creationId xmlns:a16="http://schemas.microsoft.com/office/drawing/2014/main" id="{8549DE93-234A-89AB-9774-5EFB7FD01B22}"/>
              </a:ext>
            </a:extLst>
          </p:cNvPr>
          <p:cNvCxnSpPr>
            <a:cxnSpLocks/>
            <a:stCxn id="23" idx="2"/>
            <a:endCxn id="21" idx="0"/>
          </p:cNvCxnSpPr>
          <p:nvPr/>
        </p:nvCxnSpPr>
        <p:spPr>
          <a:xfrm>
            <a:off x="8129536" y="3058589"/>
            <a:ext cx="1" cy="6762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4" name="直線矢印コネクタ 73">
            <a:extLst>
              <a:ext uri="{FF2B5EF4-FFF2-40B4-BE49-F238E27FC236}">
                <a16:creationId xmlns:a16="http://schemas.microsoft.com/office/drawing/2014/main" id="{CD25DDB8-20DE-98F7-0AFD-27A9CDC5D25B}"/>
              </a:ext>
            </a:extLst>
          </p:cNvPr>
          <p:cNvCxnSpPr>
            <a:cxnSpLocks/>
            <a:stCxn id="21" idx="3"/>
            <a:endCxn id="18" idx="1"/>
          </p:cNvCxnSpPr>
          <p:nvPr/>
        </p:nvCxnSpPr>
        <p:spPr>
          <a:xfrm flipV="1">
            <a:off x="9124490" y="4021835"/>
            <a:ext cx="572598" cy="134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7" name="直線矢印コネクタ 76">
            <a:extLst>
              <a:ext uri="{FF2B5EF4-FFF2-40B4-BE49-F238E27FC236}">
                <a16:creationId xmlns:a16="http://schemas.microsoft.com/office/drawing/2014/main" id="{A59D6942-14F4-01D2-20D1-77484B7F5864}"/>
              </a:ext>
            </a:extLst>
          </p:cNvPr>
          <p:cNvCxnSpPr>
            <a:cxnSpLocks/>
            <a:stCxn id="11" idx="3"/>
            <a:endCxn id="23" idx="1"/>
          </p:cNvCxnSpPr>
          <p:nvPr/>
        </p:nvCxnSpPr>
        <p:spPr>
          <a:xfrm flipV="1">
            <a:off x="4336954" y="2771595"/>
            <a:ext cx="2860809" cy="180463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0" name="直線矢印コネクタ 79">
            <a:extLst>
              <a:ext uri="{FF2B5EF4-FFF2-40B4-BE49-F238E27FC236}">
                <a16:creationId xmlns:a16="http://schemas.microsoft.com/office/drawing/2014/main" id="{BB422751-FD05-5A2F-95C2-3BA763FC6C90}"/>
              </a:ext>
            </a:extLst>
          </p:cNvPr>
          <p:cNvCxnSpPr>
            <a:cxnSpLocks/>
            <a:stCxn id="12" idx="3"/>
            <a:endCxn id="23" idx="1"/>
          </p:cNvCxnSpPr>
          <p:nvPr/>
        </p:nvCxnSpPr>
        <p:spPr>
          <a:xfrm flipV="1">
            <a:off x="4336953" y="2771595"/>
            <a:ext cx="2860810" cy="35905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6" name="直線矢印コネクタ 85">
            <a:extLst>
              <a:ext uri="{FF2B5EF4-FFF2-40B4-BE49-F238E27FC236}">
                <a16:creationId xmlns:a16="http://schemas.microsoft.com/office/drawing/2014/main" id="{E0911FE0-A46A-4328-6B15-04B00852DA94}"/>
              </a:ext>
            </a:extLst>
          </p:cNvPr>
          <p:cNvCxnSpPr>
            <a:stCxn id="17" idx="2"/>
            <a:endCxn id="18" idx="0"/>
          </p:cNvCxnSpPr>
          <p:nvPr/>
        </p:nvCxnSpPr>
        <p:spPr>
          <a:xfrm>
            <a:off x="10628861" y="2060506"/>
            <a:ext cx="0" cy="1674335"/>
          </a:xfrm>
          <a:prstGeom prst="straightConnector1">
            <a:avLst/>
          </a:prstGeom>
          <a:ln>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90" name="テキスト ボックス 89">
            <a:extLst>
              <a:ext uri="{FF2B5EF4-FFF2-40B4-BE49-F238E27FC236}">
                <a16:creationId xmlns:a16="http://schemas.microsoft.com/office/drawing/2014/main" id="{FE3BD22D-B721-7E30-EB61-296BADB46BB1}"/>
              </a:ext>
            </a:extLst>
          </p:cNvPr>
          <p:cNvSpPr txBox="1"/>
          <p:nvPr/>
        </p:nvSpPr>
        <p:spPr>
          <a:xfrm>
            <a:off x="10628860" y="2709993"/>
            <a:ext cx="1206088" cy="369332"/>
          </a:xfrm>
          <a:prstGeom prst="rect">
            <a:avLst/>
          </a:prstGeom>
          <a:noFill/>
        </p:spPr>
        <p:txBody>
          <a:bodyPr wrap="square">
            <a:spAutoFit/>
          </a:bodyPr>
          <a:lstStyle/>
          <a:p>
            <a:r>
              <a:rPr kumimoji="1" lang="en-US" altLang="ja-JP" dirty="0">
                <a:solidFill>
                  <a:schemeClr val="tx1"/>
                </a:solidFill>
              </a:rPr>
              <a:t>Compare</a:t>
            </a:r>
            <a:endParaRPr lang="ja-JP" altLang="en-US" dirty="0"/>
          </a:p>
        </p:txBody>
      </p:sp>
      <p:cxnSp>
        <p:nvCxnSpPr>
          <p:cNvPr id="91" name="直線矢印コネクタ 90">
            <a:extLst>
              <a:ext uri="{FF2B5EF4-FFF2-40B4-BE49-F238E27FC236}">
                <a16:creationId xmlns:a16="http://schemas.microsoft.com/office/drawing/2014/main" id="{165F6F43-7BA1-1074-1A12-28DE559C2C4E}"/>
              </a:ext>
            </a:extLst>
          </p:cNvPr>
          <p:cNvCxnSpPr>
            <a:cxnSpLocks/>
            <a:stCxn id="5" idx="4"/>
            <a:endCxn id="13" idx="1"/>
          </p:cNvCxnSpPr>
          <p:nvPr/>
        </p:nvCxnSpPr>
        <p:spPr>
          <a:xfrm>
            <a:off x="1787540" y="3722335"/>
            <a:ext cx="559507" cy="17468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5" name="直線矢印コネクタ 94">
            <a:extLst>
              <a:ext uri="{FF2B5EF4-FFF2-40B4-BE49-F238E27FC236}">
                <a16:creationId xmlns:a16="http://schemas.microsoft.com/office/drawing/2014/main" id="{66204F70-0D8D-02C1-85DF-C79F325B6A89}"/>
              </a:ext>
            </a:extLst>
          </p:cNvPr>
          <p:cNvCxnSpPr>
            <a:cxnSpLocks/>
            <a:stCxn id="5" idx="4"/>
            <a:endCxn id="10" idx="1"/>
          </p:cNvCxnSpPr>
          <p:nvPr/>
        </p:nvCxnSpPr>
        <p:spPr>
          <a:xfrm flipV="1">
            <a:off x="1787540" y="3683276"/>
            <a:ext cx="559507" cy="3905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8" name="直線矢印コネクタ 97">
            <a:extLst>
              <a:ext uri="{FF2B5EF4-FFF2-40B4-BE49-F238E27FC236}">
                <a16:creationId xmlns:a16="http://schemas.microsoft.com/office/drawing/2014/main" id="{1AEEE2C2-1E57-FB4D-7F13-370DD23D0E32}"/>
              </a:ext>
            </a:extLst>
          </p:cNvPr>
          <p:cNvCxnSpPr>
            <a:cxnSpLocks/>
            <a:stCxn id="6" idx="3"/>
            <a:endCxn id="10" idx="1"/>
          </p:cNvCxnSpPr>
          <p:nvPr/>
        </p:nvCxnSpPr>
        <p:spPr>
          <a:xfrm flipV="1">
            <a:off x="1787540" y="3683276"/>
            <a:ext cx="559507" cy="16683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1" name="直線矢印コネクタ 100">
            <a:extLst>
              <a:ext uri="{FF2B5EF4-FFF2-40B4-BE49-F238E27FC236}">
                <a16:creationId xmlns:a16="http://schemas.microsoft.com/office/drawing/2014/main" id="{8E712541-2951-001F-639B-B6574A2739BA}"/>
              </a:ext>
            </a:extLst>
          </p:cNvPr>
          <p:cNvCxnSpPr>
            <a:cxnSpLocks/>
            <a:stCxn id="6" idx="3"/>
            <a:endCxn id="13" idx="1"/>
          </p:cNvCxnSpPr>
          <p:nvPr/>
        </p:nvCxnSpPr>
        <p:spPr>
          <a:xfrm>
            <a:off x="1787540" y="5351615"/>
            <a:ext cx="559507" cy="1175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82138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1C7AF4-27A8-4F34-3929-2DE67F91B4A8}"/>
              </a:ext>
            </a:extLst>
          </p:cNvPr>
          <p:cNvSpPr>
            <a:spLocks noGrp="1"/>
          </p:cNvSpPr>
          <p:nvPr>
            <p:ph type="title"/>
          </p:nvPr>
        </p:nvSpPr>
        <p:spPr/>
        <p:txBody>
          <a:bodyPr/>
          <a:lstStyle/>
          <a:p>
            <a:r>
              <a:rPr kumimoji="1" lang="en-US" altLang="ja-JP"/>
              <a:t>Tools </a:t>
            </a:r>
            <a:endParaRPr kumimoji="1" lang="ja-JP" altLang="en-US"/>
          </a:p>
        </p:txBody>
      </p:sp>
      <p:sp>
        <p:nvSpPr>
          <p:cNvPr id="3" name="コンテンツ プレースホルダー 2">
            <a:extLst>
              <a:ext uri="{FF2B5EF4-FFF2-40B4-BE49-F238E27FC236}">
                <a16:creationId xmlns:a16="http://schemas.microsoft.com/office/drawing/2014/main" id="{880E2728-ED5A-3C5A-2870-FB468BA12E45}"/>
              </a:ext>
            </a:extLst>
          </p:cNvPr>
          <p:cNvSpPr>
            <a:spLocks noGrp="1"/>
          </p:cNvSpPr>
          <p:nvPr>
            <p:ph idx="1"/>
          </p:nvPr>
        </p:nvSpPr>
        <p:spPr/>
        <p:txBody>
          <a:bodyPr/>
          <a:lstStyle/>
          <a:p>
            <a:r>
              <a:rPr kumimoji="1" lang="en-US" altLang="ja-JP" err="1"/>
              <a:t>Pytorch</a:t>
            </a:r>
            <a:r>
              <a:rPr kumimoji="1" lang="en-US" altLang="ja-JP"/>
              <a:t>(2.1)</a:t>
            </a:r>
          </a:p>
          <a:p>
            <a:r>
              <a:rPr lang="en-US" altLang="ja-JP"/>
              <a:t>Python(3.10)</a:t>
            </a:r>
          </a:p>
          <a:p>
            <a:r>
              <a:rPr kumimoji="1" lang="en-US" altLang="ja-JP"/>
              <a:t>Google </a:t>
            </a:r>
            <a:r>
              <a:rPr kumimoji="1" lang="en-US" altLang="ja-JP" err="1"/>
              <a:t>Colab</a:t>
            </a:r>
            <a:endParaRPr kumimoji="1" lang="en-US" altLang="ja-JP"/>
          </a:p>
          <a:p>
            <a:r>
              <a:rPr kumimoji="1" lang="en-US" altLang="ja-JP" err="1"/>
              <a:t>gcc</a:t>
            </a:r>
            <a:r>
              <a:rPr kumimoji="1" lang="en-US" altLang="ja-JP"/>
              <a:t>/g++ (11)</a:t>
            </a:r>
            <a:endParaRPr kumimoji="1" lang="ja-JP" altLang="en-US"/>
          </a:p>
        </p:txBody>
      </p:sp>
    </p:spTree>
    <p:extLst>
      <p:ext uri="{BB962C8B-B14F-4D97-AF65-F5344CB8AC3E}">
        <p14:creationId xmlns:p14="http://schemas.microsoft.com/office/powerpoint/2010/main" val="2028791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1ABEF0-8653-70E6-86CA-A9328CBC1852}"/>
              </a:ext>
            </a:extLst>
          </p:cNvPr>
          <p:cNvSpPr>
            <a:spLocks noGrp="1"/>
          </p:cNvSpPr>
          <p:nvPr>
            <p:ph type="title"/>
          </p:nvPr>
        </p:nvSpPr>
        <p:spPr/>
        <p:txBody>
          <a:bodyPr/>
          <a:lstStyle/>
          <a:p>
            <a:r>
              <a:rPr kumimoji="1" lang="en-US" altLang="ja-JP"/>
              <a:t>Original C code(1/5)</a:t>
            </a:r>
            <a:endParaRPr kumimoji="1" lang="ja-JP" altLang="en-US"/>
          </a:p>
        </p:txBody>
      </p:sp>
      <p:sp>
        <p:nvSpPr>
          <p:cNvPr id="3" name="コンテンツ プレースホルダー 2">
            <a:extLst>
              <a:ext uri="{FF2B5EF4-FFF2-40B4-BE49-F238E27FC236}">
                <a16:creationId xmlns:a16="http://schemas.microsoft.com/office/drawing/2014/main" id="{6CF82203-CA5C-603A-B4E4-1B93F0EDA077}"/>
              </a:ext>
            </a:extLst>
          </p:cNvPr>
          <p:cNvSpPr>
            <a:spLocks noGrp="1"/>
          </p:cNvSpPr>
          <p:nvPr>
            <p:ph idx="1"/>
          </p:nvPr>
        </p:nvSpPr>
        <p:spPr>
          <a:xfrm>
            <a:off x="838199" y="1825625"/>
            <a:ext cx="10354519" cy="1241666"/>
          </a:xfrm>
        </p:spPr>
        <p:txBody>
          <a:bodyPr/>
          <a:lstStyle/>
          <a:p>
            <a:r>
              <a:rPr kumimoji="1" lang="en-US" altLang="ja-JP"/>
              <a:t>Include Header Files</a:t>
            </a:r>
          </a:p>
          <a:p>
            <a:r>
              <a:rPr kumimoji="1" lang="en-US" altLang="ja-JP"/>
              <a:t>Parameter Declaration</a:t>
            </a:r>
            <a:endParaRPr kumimoji="1" lang="ja-JP" altLang="en-US"/>
          </a:p>
        </p:txBody>
      </p:sp>
      <p:sp>
        <p:nvSpPr>
          <p:cNvPr id="5" name="テキスト ボックス 4">
            <a:extLst>
              <a:ext uri="{FF2B5EF4-FFF2-40B4-BE49-F238E27FC236}">
                <a16:creationId xmlns:a16="http://schemas.microsoft.com/office/drawing/2014/main" id="{A368A119-EF7C-4BBD-DF6F-DA81CD4B34EC}"/>
              </a:ext>
            </a:extLst>
          </p:cNvPr>
          <p:cNvSpPr txBox="1"/>
          <p:nvPr/>
        </p:nvSpPr>
        <p:spPr>
          <a:xfrm>
            <a:off x="555585" y="2951943"/>
            <a:ext cx="11412638" cy="3883692"/>
          </a:xfrm>
          <a:prstGeom prst="rect">
            <a:avLst/>
          </a:prstGeom>
          <a:solidFill>
            <a:schemeClr val="tx1"/>
          </a:solidFill>
        </p:spPr>
        <p:txBody>
          <a:bodyPr wrap="square">
            <a:spAutoFit/>
          </a:bodyPr>
          <a:lstStyle/>
          <a:p>
            <a:pPr>
              <a:lnSpc>
                <a:spcPts val="1425"/>
              </a:lnSpc>
              <a:buNone/>
            </a:pPr>
            <a:r>
              <a:rPr lang="en-US" altLang="ja-JP" sz="2000" b="0">
                <a:solidFill>
                  <a:srgbClr val="C586C0"/>
                </a:solidFill>
                <a:effectLst/>
                <a:latin typeface="Consolas" panose="020B0609020204030204" pitchFamily="49" charset="0"/>
              </a:rPr>
              <a:t>#include</a:t>
            </a:r>
            <a:r>
              <a:rPr lang="en-US" altLang="ja-JP" sz="2000" b="0">
                <a:solidFill>
                  <a:srgbClr val="569CD6"/>
                </a:solidFill>
                <a:effectLst/>
                <a:latin typeface="Consolas" panose="020B0609020204030204" pitchFamily="49" charset="0"/>
              </a:rPr>
              <a:t> </a:t>
            </a:r>
            <a:r>
              <a:rPr lang="en-US" altLang="ja-JP" sz="2000" b="0">
                <a:solidFill>
                  <a:srgbClr val="CE9178"/>
                </a:solidFill>
                <a:effectLst/>
                <a:latin typeface="Consolas" panose="020B0609020204030204" pitchFamily="49" charset="0"/>
              </a:rPr>
              <a:t>&lt;</a:t>
            </a:r>
            <a:r>
              <a:rPr lang="en-US" altLang="ja-JP" sz="2000" b="0" err="1">
                <a:solidFill>
                  <a:srgbClr val="CE9178"/>
                </a:solidFill>
                <a:effectLst/>
                <a:latin typeface="Consolas" panose="020B0609020204030204" pitchFamily="49" charset="0"/>
              </a:rPr>
              <a:t>stdio.h</a:t>
            </a:r>
            <a:r>
              <a:rPr lang="en-US" altLang="ja-JP" sz="2000" b="0">
                <a:solidFill>
                  <a:srgbClr val="CE9178"/>
                </a:solidFill>
                <a:effectLst/>
                <a:latin typeface="Consolas" panose="020B0609020204030204" pitchFamily="49" charset="0"/>
              </a:rPr>
              <a:t>&gt;</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#include</a:t>
            </a:r>
            <a:r>
              <a:rPr lang="en-US" altLang="ja-JP" sz="2000" b="0">
                <a:solidFill>
                  <a:srgbClr val="569CD6"/>
                </a:solidFill>
                <a:effectLst/>
                <a:latin typeface="Consolas" panose="020B0609020204030204" pitchFamily="49" charset="0"/>
              </a:rPr>
              <a:t> </a:t>
            </a:r>
            <a:r>
              <a:rPr lang="en-US" altLang="ja-JP" sz="2000" b="0">
                <a:solidFill>
                  <a:srgbClr val="CE9178"/>
                </a:solidFill>
                <a:effectLst/>
                <a:latin typeface="Consolas" panose="020B0609020204030204" pitchFamily="49" charset="0"/>
              </a:rPr>
              <a:t>&lt;</a:t>
            </a:r>
            <a:r>
              <a:rPr lang="en-US" altLang="ja-JP" sz="2000" b="0" err="1">
                <a:solidFill>
                  <a:srgbClr val="CE9178"/>
                </a:solidFill>
                <a:effectLst/>
                <a:latin typeface="Consolas" panose="020B0609020204030204" pitchFamily="49" charset="0"/>
              </a:rPr>
              <a:t>stdint.h</a:t>
            </a:r>
            <a:r>
              <a:rPr lang="en-US" altLang="ja-JP" sz="2000" b="0">
                <a:solidFill>
                  <a:srgbClr val="CE9178"/>
                </a:solidFill>
                <a:effectLst/>
                <a:latin typeface="Consolas" panose="020B0609020204030204" pitchFamily="49" charset="0"/>
              </a:rPr>
              <a:t>&gt;</a:t>
            </a:r>
            <a:endParaRPr lang="en-US" altLang="ja-JP" sz="2000" b="0">
              <a:solidFill>
                <a:srgbClr val="CCCCCC"/>
              </a:solidFill>
              <a:effectLst/>
              <a:latin typeface="Consolas" panose="020B0609020204030204" pitchFamily="49" charset="0"/>
            </a:endParaRPr>
          </a:p>
          <a:p>
            <a:pPr>
              <a:lnSpc>
                <a:spcPts val="1425"/>
              </a:lnSpc>
              <a:buNone/>
            </a:pPr>
            <a:br>
              <a:rPr lang="en-US" altLang="ja-JP" sz="2000" b="0">
                <a:solidFill>
                  <a:srgbClr val="CCCCCC"/>
                </a:solidFill>
                <a:effectLst/>
                <a:latin typeface="Consolas" panose="020B0609020204030204" pitchFamily="49" charset="0"/>
              </a:rPr>
            </a:b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DATA_NUM </a:t>
            </a:r>
            <a:r>
              <a:rPr lang="en-US" altLang="ja-JP" sz="2000" b="0">
                <a:solidFill>
                  <a:srgbClr val="B5CEA8"/>
                </a:solidFill>
                <a:effectLst/>
                <a:latin typeface="Consolas" panose="020B0609020204030204" pitchFamily="49" charset="0"/>
              </a:rPr>
              <a:t>10</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IMG_H </a:t>
            </a:r>
            <a:r>
              <a:rPr lang="en-US" altLang="ja-JP" sz="2000" b="0">
                <a:solidFill>
                  <a:srgbClr val="B5CEA8"/>
                </a:solidFill>
                <a:effectLst/>
                <a:latin typeface="Consolas" panose="020B0609020204030204" pitchFamily="49" charset="0"/>
              </a:rPr>
              <a:t>28</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IMG_W </a:t>
            </a:r>
            <a:r>
              <a:rPr lang="en-US" altLang="ja-JP" sz="2000" b="0">
                <a:solidFill>
                  <a:srgbClr val="B5CEA8"/>
                </a:solidFill>
                <a:effectLst/>
                <a:latin typeface="Consolas" panose="020B0609020204030204" pitchFamily="49" charset="0"/>
              </a:rPr>
              <a:t>28</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IMG_CH </a:t>
            </a:r>
            <a:r>
              <a:rPr lang="en-US" altLang="ja-JP" sz="2000" b="0">
                <a:solidFill>
                  <a:srgbClr val="B5CEA8"/>
                </a:solidFill>
                <a:effectLst/>
                <a:latin typeface="Consolas" panose="020B0609020204030204" pitchFamily="49" charset="0"/>
              </a:rPr>
              <a:t>1</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KERNEL </a:t>
            </a:r>
            <a:r>
              <a:rPr lang="en-US" altLang="ja-JP" sz="2000" b="0">
                <a:solidFill>
                  <a:srgbClr val="B5CEA8"/>
                </a:solidFill>
                <a:effectLst/>
                <a:latin typeface="Consolas" panose="020B0609020204030204" pitchFamily="49" charset="0"/>
              </a:rPr>
              <a:t>3</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POOL </a:t>
            </a:r>
            <a:r>
              <a:rPr lang="en-US" altLang="ja-JP" sz="2000" b="0">
                <a:solidFill>
                  <a:srgbClr val="B5CEA8"/>
                </a:solidFill>
                <a:effectLst/>
                <a:latin typeface="Consolas" panose="020B0609020204030204" pitchFamily="49" charset="0"/>
              </a:rPr>
              <a:t>2</a:t>
            </a:r>
            <a:endParaRPr lang="en-US" altLang="ja-JP" sz="2000" b="0">
              <a:solidFill>
                <a:srgbClr val="CCCCCC"/>
              </a:solidFill>
              <a:effectLst/>
              <a:latin typeface="Consolas" panose="020B0609020204030204" pitchFamily="49" charset="0"/>
            </a:endParaRPr>
          </a:p>
          <a:p>
            <a:pPr>
              <a:lnSpc>
                <a:spcPts val="1425"/>
              </a:lnSpc>
              <a:buNone/>
            </a:pPr>
            <a:br>
              <a:rPr lang="en-US" altLang="ja-JP" sz="2000" b="0">
                <a:solidFill>
                  <a:srgbClr val="CCCCCC"/>
                </a:solidFill>
                <a:effectLst/>
                <a:latin typeface="Consolas" panose="020B0609020204030204" pitchFamily="49" charset="0"/>
              </a:rPr>
            </a:b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CONV1_SCALE_MULT </a:t>
            </a:r>
            <a:r>
              <a:rPr lang="en-US" altLang="ja-JP" sz="2000" b="0">
                <a:solidFill>
                  <a:srgbClr val="B5CEA8"/>
                </a:solidFill>
                <a:effectLst/>
                <a:latin typeface="Consolas" panose="020B0609020204030204" pitchFamily="49" charset="0"/>
              </a:rPr>
              <a:t>41</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CONV1_SHIFT </a:t>
            </a:r>
            <a:r>
              <a:rPr lang="en-US" altLang="ja-JP" sz="2000" b="0">
                <a:solidFill>
                  <a:srgbClr val="B5CEA8"/>
                </a:solidFill>
                <a:effectLst/>
                <a:latin typeface="Consolas" panose="020B0609020204030204" pitchFamily="49" charset="0"/>
              </a:rPr>
              <a:t>13</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CONV2_SCALE_MULT </a:t>
            </a:r>
            <a:r>
              <a:rPr lang="en-US" altLang="ja-JP" sz="2000" b="0">
                <a:solidFill>
                  <a:srgbClr val="B5CEA8"/>
                </a:solidFill>
                <a:effectLst/>
                <a:latin typeface="Consolas" panose="020B0609020204030204" pitchFamily="49" charset="0"/>
              </a:rPr>
              <a:t>29</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CONV2_SHIFT </a:t>
            </a:r>
            <a:r>
              <a:rPr lang="en-US" altLang="ja-JP" sz="2000" b="0">
                <a:solidFill>
                  <a:srgbClr val="B5CEA8"/>
                </a:solidFill>
                <a:effectLst/>
                <a:latin typeface="Consolas" panose="020B0609020204030204" pitchFamily="49" charset="0"/>
              </a:rPr>
              <a:t>13</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FC1_SCALE_MULT </a:t>
            </a:r>
            <a:r>
              <a:rPr lang="en-US" altLang="ja-JP" sz="2000" b="0">
                <a:solidFill>
                  <a:srgbClr val="B5CEA8"/>
                </a:solidFill>
                <a:effectLst/>
                <a:latin typeface="Consolas" panose="020B0609020204030204" pitchFamily="49" charset="0"/>
              </a:rPr>
              <a:t>23</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FC1_SHIFT </a:t>
            </a:r>
            <a:r>
              <a:rPr lang="en-US" altLang="ja-JP" sz="2000" b="0">
                <a:solidFill>
                  <a:srgbClr val="B5CEA8"/>
                </a:solidFill>
                <a:effectLst/>
                <a:latin typeface="Consolas" panose="020B0609020204030204" pitchFamily="49" charset="0"/>
              </a:rPr>
              <a:t>13</a:t>
            </a:r>
            <a:endParaRPr lang="en-US" altLang="ja-JP" sz="2000" b="0">
              <a:solidFill>
                <a:srgbClr val="CCCCCC"/>
              </a:solidFill>
              <a:effectLst/>
              <a:latin typeface="Consolas" panose="020B0609020204030204" pitchFamily="49" charset="0"/>
            </a:endParaRPr>
          </a:p>
          <a:p>
            <a:pPr>
              <a:lnSpc>
                <a:spcPts val="1425"/>
              </a:lnSpc>
              <a:buNone/>
            </a:pPr>
            <a:br>
              <a:rPr lang="en-US" altLang="ja-JP" sz="2000" b="0">
                <a:solidFill>
                  <a:srgbClr val="CCCCCC"/>
                </a:solidFill>
                <a:effectLst/>
                <a:latin typeface="Consolas" panose="020B0609020204030204" pitchFamily="49" charset="0"/>
              </a:rPr>
            </a:b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CONV1_OUT_CH </a:t>
            </a:r>
            <a:r>
              <a:rPr lang="en-US" altLang="ja-JP" sz="2000" b="0">
                <a:solidFill>
                  <a:srgbClr val="B5CEA8"/>
                </a:solidFill>
                <a:effectLst/>
                <a:latin typeface="Consolas" panose="020B0609020204030204" pitchFamily="49" charset="0"/>
              </a:rPr>
              <a:t>8</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CONV2_OUT_CH </a:t>
            </a:r>
            <a:r>
              <a:rPr lang="en-US" altLang="ja-JP" sz="2000" b="0">
                <a:solidFill>
                  <a:srgbClr val="B5CEA8"/>
                </a:solidFill>
                <a:effectLst/>
                <a:latin typeface="Consolas" panose="020B0609020204030204" pitchFamily="49" charset="0"/>
              </a:rPr>
              <a:t>16</a:t>
            </a:r>
            <a:endParaRPr lang="en-US" altLang="ja-JP" sz="2000" b="0">
              <a:solidFill>
                <a:srgbClr val="CCCCCC"/>
              </a:solidFill>
              <a:effectLst/>
              <a:latin typeface="Consolas" panose="020B0609020204030204" pitchFamily="49" charset="0"/>
            </a:endParaRPr>
          </a:p>
          <a:p>
            <a:pPr>
              <a:lnSpc>
                <a:spcPts val="1425"/>
              </a:lnSpc>
              <a:buNone/>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FC1_IN (CONV2_OUT_CH </a:t>
            </a:r>
            <a:r>
              <a:rPr lang="en-US" altLang="ja-JP" sz="2000" b="0">
                <a:solidFill>
                  <a:srgbClr val="D4D4D4"/>
                </a:solidFill>
                <a:effectLst/>
                <a:latin typeface="Consolas" panose="020B0609020204030204" pitchFamily="49" charset="0"/>
              </a:rPr>
              <a:t>*</a:t>
            </a:r>
            <a:r>
              <a:rPr lang="en-US" altLang="ja-JP" sz="2000" b="0">
                <a:solidFill>
                  <a:srgbClr val="569CD6"/>
                </a:solidFill>
                <a:effectLst/>
                <a:latin typeface="Consolas" panose="020B0609020204030204" pitchFamily="49" charset="0"/>
              </a:rPr>
              <a:t> (IMG_H </a:t>
            </a:r>
            <a:r>
              <a:rPr lang="en-US" altLang="ja-JP" sz="2000" b="0">
                <a:solidFill>
                  <a:srgbClr val="D4D4D4"/>
                </a:solidFill>
                <a:effectLst/>
                <a:latin typeface="Consolas" panose="020B0609020204030204" pitchFamily="49" charset="0"/>
              </a:rPr>
              <a:t>/</a:t>
            </a:r>
            <a:r>
              <a:rPr lang="en-US" altLang="ja-JP" sz="2000" b="0">
                <a:solidFill>
                  <a:srgbClr val="569CD6"/>
                </a:solidFill>
                <a:effectLst/>
                <a:latin typeface="Consolas" panose="020B0609020204030204" pitchFamily="49" charset="0"/>
              </a:rPr>
              <a:t> POOL </a:t>
            </a:r>
            <a:r>
              <a:rPr lang="en-US" altLang="ja-JP" sz="2000" b="0">
                <a:solidFill>
                  <a:srgbClr val="D4D4D4"/>
                </a:solidFill>
                <a:effectLst/>
                <a:latin typeface="Consolas" panose="020B0609020204030204" pitchFamily="49" charset="0"/>
              </a:rPr>
              <a:t>/</a:t>
            </a:r>
            <a:r>
              <a:rPr lang="en-US" altLang="ja-JP" sz="2000" b="0">
                <a:solidFill>
                  <a:srgbClr val="569CD6"/>
                </a:solidFill>
                <a:effectLst/>
                <a:latin typeface="Consolas" panose="020B0609020204030204" pitchFamily="49" charset="0"/>
              </a:rPr>
              <a:t> POOL) </a:t>
            </a:r>
            <a:r>
              <a:rPr lang="en-US" altLang="ja-JP" sz="2000" b="0">
                <a:solidFill>
                  <a:srgbClr val="D4D4D4"/>
                </a:solidFill>
                <a:effectLst/>
                <a:latin typeface="Consolas" panose="020B0609020204030204" pitchFamily="49" charset="0"/>
              </a:rPr>
              <a:t>*</a:t>
            </a:r>
            <a:r>
              <a:rPr lang="en-US" altLang="ja-JP" sz="2000" b="0">
                <a:solidFill>
                  <a:srgbClr val="569CD6"/>
                </a:solidFill>
                <a:effectLst/>
                <a:latin typeface="Consolas" panose="020B0609020204030204" pitchFamily="49" charset="0"/>
              </a:rPr>
              <a:t> (IMG_W </a:t>
            </a:r>
            <a:r>
              <a:rPr lang="en-US" altLang="ja-JP" sz="2000" b="0">
                <a:solidFill>
                  <a:srgbClr val="D4D4D4"/>
                </a:solidFill>
                <a:effectLst/>
                <a:latin typeface="Consolas" panose="020B0609020204030204" pitchFamily="49" charset="0"/>
              </a:rPr>
              <a:t>/</a:t>
            </a:r>
            <a:r>
              <a:rPr lang="en-US" altLang="ja-JP" sz="2000" b="0">
                <a:solidFill>
                  <a:srgbClr val="569CD6"/>
                </a:solidFill>
                <a:effectLst/>
                <a:latin typeface="Consolas" panose="020B0609020204030204" pitchFamily="49" charset="0"/>
              </a:rPr>
              <a:t> POOL </a:t>
            </a:r>
            <a:r>
              <a:rPr lang="en-US" altLang="ja-JP" sz="2000" b="0">
                <a:solidFill>
                  <a:srgbClr val="D4D4D4"/>
                </a:solidFill>
                <a:effectLst/>
                <a:latin typeface="Consolas" panose="020B0609020204030204" pitchFamily="49" charset="0"/>
              </a:rPr>
              <a:t>/</a:t>
            </a:r>
            <a:r>
              <a:rPr lang="en-US" altLang="ja-JP" sz="2000" b="0">
                <a:solidFill>
                  <a:srgbClr val="569CD6"/>
                </a:solidFill>
                <a:effectLst/>
                <a:latin typeface="Consolas" panose="020B0609020204030204" pitchFamily="49" charset="0"/>
              </a:rPr>
              <a:t> POOL))</a:t>
            </a:r>
            <a:endParaRPr lang="en-US" altLang="ja-JP" sz="2000" b="0">
              <a:solidFill>
                <a:srgbClr val="CCCCCC"/>
              </a:solidFill>
              <a:effectLst/>
              <a:latin typeface="Consolas" panose="020B0609020204030204" pitchFamily="49" charset="0"/>
            </a:endParaRPr>
          </a:p>
          <a:p>
            <a:pPr>
              <a:lnSpc>
                <a:spcPts val="1425"/>
              </a:lnSpc>
            </a:pPr>
            <a:r>
              <a:rPr lang="en-US" altLang="ja-JP" sz="2000" b="0">
                <a:solidFill>
                  <a:srgbClr val="C586C0"/>
                </a:solidFill>
                <a:effectLst/>
                <a:latin typeface="Consolas" panose="020B0609020204030204" pitchFamily="49" charset="0"/>
              </a:rPr>
              <a:t>#define</a:t>
            </a:r>
            <a:r>
              <a:rPr lang="en-US" altLang="ja-JP" sz="2000" b="0">
                <a:solidFill>
                  <a:srgbClr val="569CD6"/>
                </a:solidFill>
                <a:effectLst/>
                <a:latin typeface="Consolas" panose="020B0609020204030204" pitchFamily="49" charset="0"/>
              </a:rPr>
              <a:t> FC1_OUT </a:t>
            </a:r>
            <a:r>
              <a:rPr lang="en-US" altLang="ja-JP" sz="2000" b="0">
                <a:solidFill>
                  <a:srgbClr val="B5CEA8"/>
                </a:solidFill>
                <a:effectLst/>
                <a:latin typeface="Consolas" panose="020B0609020204030204" pitchFamily="49" charset="0"/>
              </a:rPr>
              <a:t>10</a:t>
            </a:r>
            <a:endParaRPr lang="en-US" altLang="ja-JP" sz="2000" b="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615675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67CF7-5E8D-258F-70C9-B040746BFE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46714F-6A8A-19AD-A9BD-6D10AF557B5E}"/>
              </a:ext>
            </a:extLst>
          </p:cNvPr>
          <p:cNvSpPr>
            <a:spLocks noGrp="1"/>
          </p:cNvSpPr>
          <p:nvPr>
            <p:ph type="title"/>
          </p:nvPr>
        </p:nvSpPr>
        <p:spPr/>
        <p:txBody>
          <a:bodyPr/>
          <a:lstStyle/>
          <a:p>
            <a:r>
              <a:rPr kumimoji="1" lang="en-US" altLang="ja-JP"/>
              <a:t>Original C code(2/</a:t>
            </a:r>
            <a:r>
              <a:rPr lang="en-US" altLang="ja-JP"/>
              <a:t>5</a:t>
            </a:r>
            <a:r>
              <a:rPr kumimoji="1" lang="en-US" altLang="ja-JP"/>
              <a:t>)</a:t>
            </a:r>
            <a:endParaRPr kumimoji="1" lang="ja-JP" altLang="en-US"/>
          </a:p>
        </p:txBody>
      </p:sp>
      <p:sp>
        <p:nvSpPr>
          <p:cNvPr id="3" name="コンテンツ プレースホルダー 2">
            <a:extLst>
              <a:ext uri="{FF2B5EF4-FFF2-40B4-BE49-F238E27FC236}">
                <a16:creationId xmlns:a16="http://schemas.microsoft.com/office/drawing/2014/main" id="{6B856F6D-54B2-A6DE-A028-7E5C30ABE389}"/>
              </a:ext>
            </a:extLst>
          </p:cNvPr>
          <p:cNvSpPr>
            <a:spLocks noGrp="1"/>
          </p:cNvSpPr>
          <p:nvPr>
            <p:ph idx="1"/>
          </p:nvPr>
        </p:nvSpPr>
        <p:spPr>
          <a:xfrm>
            <a:off x="838200" y="1825625"/>
            <a:ext cx="3990474" cy="4351338"/>
          </a:xfrm>
        </p:spPr>
        <p:txBody>
          <a:bodyPr/>
          <a:lstStyle/>
          <a:p>
            <a:r>
              <a:rPr kumimoji="1" lang="en-US" altLang="ja-JP"/>
              <a:t>Declaration of input data (28x28x1)</a:t>
            </a:r>
          </a:p>
          <a:p>
            <a:r>
              <a:rPr lang="en-US" altLang="ja-JP"/>
              <a:t>Class: 0 to 9.</a:t>
            </a:r>
            <a:endParaRPr kumimoji="1" lang="ja-JP" altLang="en-US"/>
          </a:p>
        </p:txBody>
      </p:sp>
      <p:pic>
        <p:nvPicPr>
          <p:cNvPr id="5" name="図 4">
            <a:extLst>
              <a:ext uri="{FF2B5EF4-FFF2-40B4-BE49-F238E27FC236}">
                <a16:creationId xmlns:a16="http://schemas.microsoft.com/office/drawing/2014/main" id="{6AEEFA3B-B480-3A22-E288-4BC914201004}"/>
              </a:ext>
            </a:extLst>
          </p:cNvPr>
          <p:cNvPicPr>
            <a:picLocks noChangeAspect="1"/>
          </p:cNvPicPr>
          <p:nvPr/>
        </p:nvPicPr>
        <p:blipFill>
          <a:blip r:embed="rId3"/>
          <a:stretch>
            <a:fillRect/>
          </a:stretch>
        </p:blipFill>
        <p:spPr>
          <a:xfrm>
            <a:off x="4828674" y="1551791"/>
            <a:ext cx="7277652" cy="5056830"/>
          </a:xfrm>
          <a:prstGeom prst="rect">
            <a:avLst/>
          </a:prstGeom>
        </p:spPr>
      </p:pic>
    </p:spTree>
    <p:extLst>
      <p:ext uri="{BB962C8B-B14F-4D97-AF65-F5344CB8AC3E}">
        <p14:creationId xmlns:p14="http://schemas.microsoft.com/office/powerpoint/2010/main" val="3090598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41A05-A713-E011-C38D-82D6876595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708DA7-F660-D010-21C5-DE1BECAE393B}"/>
              </a:ext>
            </a:extLst>
          </p:cNvPr>
          <p:cNvSpPr>
            <a:spLocks noGrp="1"/>
          </p:cNvSpPr>
          <p:nvPr>
            <p:ph type="title"/>
          </p:nvPr>
        </p:nvSpPr>
        <p:spPr/>
        <p:txBody>
          <a:bodyPr/>
          <a:lstStyle/>
          <a:p>
            <a:r>
              <a:rPr kumimoji="1" lang="en-US" altLang="ja-JP"/>
              <a:t>Original C code(3/</a:t>
            </a:r>
            <a:r>
              <a:rPr lang="en-US" altLang="ja-JP"/>
              <a:t>5</a:t>
            </a:r>
            <a:r>
              <a:rPr kumimoji="1" lang="en-US" altLang="ja-JP"/>
              <a:t>)</a:t>
            </a:r>
            <a:endParaRPr kumimoji="1" lang="ja-JP" altLang="en-US"/>
          </a:p>
        </p:txBody>
      </p:sp>
      <p:sp>
        <p:nvSpPr>
          <p:cNvPr id="3" name="コンテンツ プレースホルダー 2">
            <a:extLst>
              <a:ext uri="{FF2B5EF4-FFF2-40B4-BE49-F238E27FC236}">
                <a16:creationId xmlns:a16="http://schemas.microsoft.com/office/drawing/2014/main" id="{368BBD3E-4B10-448B-3E8B-30FE373DBA08}"/>
              </a:ext>
            </a:extLst>
          </p:cNvPr>
          <p:cNvSpPr>
            <a:spLocks noGrp="1"/>
          </p:cNvSpPr>
          <p:nvPr>
            <p:ph idx="1"/>
          </p:nvPr>
        </p:nvSpPr>
        <p:spPr>
          <a:xfrm>
            <a:off x="676155" y="1570982"/>
            <a:ext cx="10677645" cy="4351338"/>
          </a:xfrm>
        </p:spPr>
        <p:txBody>
          <a:bodyPr/>
          <a:lstStyle/>
          <a:p>
            <a:r>
              <a:rPr kumimoji="1" lang="en-US" altLang="ja-JP"/>
              <a:t>Conv2D &amp; ReLU &amp; </a:t>
            </a:r>
            <a:r>
              <a:rPr kumimoji="1" lang="en-US" altLang="ja-JP" err="1"/>
              <a:t>MaxPooling</a:t>
            </a:r>
            <a:endParaRPr kumimoji="1" lang="ja-JP" altLang="en-US"/>
          </a:p>
        </p:txBody>
      </p:sp>
      <p:sp>
        <p:nvSpPr>
          <p:cNvPr id="5" name="テキスト ボックス 4">
            <a:extLst>
              <a:ext uri="{FF2B5EF4-FFF2-40B4-BE49-F238E27FC236}">
                <a16:creationId xmlns:a16="http://schemas.microsoft.com/office/drawing/2014/main" id="{FECA69F3-3718-10EC-4E69-36418859C7CE}"/>
              </a:ext>
            </a:extLst>
          </p:cNvPr>
          <p:cNvSpPr txBox="1"/>
          <p:nvPr/>
        </p:nvSpPr>
        <p:spPr>
          <a:xfrm>
            <a:off x="-104172" y="2211549"/>
            <a:ext cx="12599346" cy="4761560"/>
          </a:xfrm>
          <a:prstGeom prst="rect">
            <a:avLst/>
          </a:prstGeom>
          <a:solidFill>
            <a:schemeClr val="tx1"/>
          </a:solidFill>
        </p:spPr>
        <p:txBody>
          <a:bodyPr wrap="square">
            <a:spAutoFit/>
          </a:bodyPr>
          <a:lstStyle/>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for</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oc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oc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CONV1_OUT_CH</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oc</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for</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pi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pi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IMG_H</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POOL</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pi</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for</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IMG_W</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POOL</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pj</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4EC9B0"/>
                </a:solidFill>
                <a:effectLst/>
                <a:latin typeface="Consolas" panose="020B0609020204030204" pitchFamily="49" charset="0"/>
              </a:rPr>
              <a:t>int8_t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max_val</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B5CEA8"/>
                </a:solidFill>
                <a:effectLst/>
                <a:latin typeface="Consolas" panose="020B0609020204030204" pitchFamily="49" charset="0"/>
              </a:rPr>
              <a:t>128</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for</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pi_offset</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pi_offset</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POOL</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pi_offset</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for</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pj_offset</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pj_offset</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POOL</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pj_offset</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pi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POOL</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pi_offset</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POOL</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pj_offset</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if</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IMG_H</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&amp;&amp;</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IMG_W</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4EC9B0"/>
                </a:solidFill>
                <a:effectLst/>
                <a:latin typeface="Consolas" panose="020B0609020204030204" pitchFamily="49" charset="0"/>
              </a:rPr>
              <a:t>int32_t</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for</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ic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ic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IMG_CH</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ic</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for</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ki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ki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KERNEL</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ki</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for</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kj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kj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KERNEL</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kj</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ni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ki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KERNEL</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2</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int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nj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kj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KERNEL</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2</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if</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ni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&gt;=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&amp;&amp;</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ni</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IMG_H</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&amp;&amp;</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nj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&gt;=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&amp;&amp;</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nj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IMG_W</a:t>
            </a: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4EC9B0"/>
                </a:solidFill>
                <a:effectLst/>
                <a:latin typeface="Consolas" panose="020B0609020204030204" pitchFamily="49" charset="0"/>
              </a:rPr>
              <a:t>int32_t</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indata</a:t>
            </a:r>
            <a:r>
              <a:rPr lang="en-US" altLang="ja-JP" sz="1400" b="0">
                <a:solidFill>
                  <a:srgbClr val="CCCCCC"/>
                </a:solidFill>
                <a:effectLst/>
                <a:latin typeface="Consolas" panose="020B0609020204030204" pitchFamily="49" charset="0"/>
              </a:rPr>
              <a:t>[</a:t>
            </a:r>
            <a:r>
              <a:rPr lang="en-US" altLang="ja-JP" sz="1400" b="0">
                <a:solidFill>
                  <a:srgbClr val="9CDCFE"/>
                </a:solidFill>
                <a:effectLst/>
                <a:latin typeface="Consolas" panose="020B0609020204030204" pitchFamily="49" charset="0"/>
              </a:rPr>
              <a:t>n</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ic</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ni</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nj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4EC9B0"/>
                </a:solidFill>
                <a:effectLst/>
                <a:latin typeface="Consolas" panose="020B0609020204030204" pitchFamily="49" charset="0"/>
              </a:rPr>
              <a:t>int32_t</a:t>
            </a:r>
            <a:r>
              <a:rPr lang="en-US" altLang="ja-JP" sz="1400" b="0">
                <a:solidFill>
                  <a:srgbClr val="CCCCCC"/>
                </a:solidFill>
                <a:effectLst/>
                <a:latin typeface="Consolas" panose="020B0609020204030204" pitchFamily="49" charset="0"/>
              </a:rPr>
              <a:t>)</a:t>
            </a:r>
            <a:r>
              <a:rPr lang="en-US" altLang="ja-JP" sz="1400" b="0">
                <a:solidFill>
                  <a:srgbClr val="9CDCFE"/>
                </a:solidFill>
                <a:effectLst/>
                <a:latin typeface="Consolas" panose="020B0609020204030204" pitchFamily="49" charset="0"/>
              </a:rPr>
              <a:t>conv1_weight</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oc</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ic</a:t>
            </a:r>
            <a:r>
              <a:rPr lang="en-US" altLang="ja-JP" sz="1400" b="0">
                <a:solidFill>
                  <a:srgbClr val="CCCCCC"/>
                </a:solidFill>
                <a:effectLst/>
                <a:latin typeface="Consolas" panose="020B0609020204030204" pitchFamily="49" charset="0"/>
              </a:rPr>
              <a:t>][</a:t>
            </a:r>
            <a:r>
              <a:rPr lang="en-US" altLang="ja-JP" sz="1400" b="0">
                <a:solidFill>
                  <a:srgbClr val="9CDCFE"/>
                </a:solidFill>
                <a:effectLst/>
                <a:latin typeface="Consolas" panose="020B0609020204030204" pitchFamily="49" charset="0"/>
              </a:rPr>
              <a:t>ki</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kj</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CONV1_SCALE_MULT</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&gt;&gt;</a:t>
            </a:r>
            <a:r>
              <a:rPr lang="en-US" altLang="ja-JP" sz="1400" b="0">
                <a:solidFill>
                  <a:srgbClr val="CCCCCC"/>
                </a:solidFill>
                <a:effectLst/>
                <a:latin typeface="Consolas" panose="020B0609020204030204" pitchFamily="49" charset="0"/>
              </a:rPr>
              <a:t> </a:t>
            </a:r>
            <a:r>
              <a:rPr lang="en-US" altLang="ja-JP" sz="1400" b="0">
                <a:solidFill>
                  <a:srgbClr val="569CD6"/>
                </a:solidFill>
                <a:effectLst/>
                <a:latin typeface="Consolas" panose="020B0609020204030204" pitchFamily="49" charset="0"/>
              </a:rPr>
              <a:t>CONV1_SHIFT</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if</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&lt;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0</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if</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&gt;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127</a:t>
            </a: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B5CEA8"/>
                </a:solidFill>
                <a:effectLst/>
                <a:latin typeface="Consolas" panose="020B0609020204030204" pitchFamily="49" charset="0"/>
              </a:rPr>
              <a:t>127</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4EC9B0"/>
                </a:solidFill>
                <a:effectLst/>
                <a:latin typeface="Consolas" panose="020B0609020204030204" pitchFamily="49" charset="0"/>
              </a:rPr>
              <a:t>int8_t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val</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a:solidFill>
                  <a:srgbClr val="4EC9B0"/>
                </a:solidFill>
                <a:effectLst/>
                <a:latin typeface="Consolas" panose="020B0609020204030204" pitchFamily="49" charset="0"/>
              </a:rPr>
              <a:t>int8_t</a:t>
            </a:r>
            <a:r>
              <a:rPr lang="en-US" altLang="ja-JP" sz="1400" b="0">
                <a:solidFill>
                  <a:srgbClr val="CCCCCC"/>
                </a:solidFill>
                <a:effectLst/>
                <a:latin typeface="Consolas" panose="020B0609020204030204" pitchFamily="49" charset="0"/>
              </a:rPr>
              <a:t>)</a:t>
            </a:r>
            <a:r>
              <a:rPr lang="en-US" altLang="ja-JP" sz="1400" b="0">
                <a:solidFill>
                  <a:srgbClr val="9CDCFE"/>
                </a:solidFill>
                <a:effectLst/>
                <a:latin typeface="Consolas" panose="020B0609020204030204" pitchFamily="49" charset="0"/>
              </a:rPr>
              <a:t>acc</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C586C0"/>
                </a:solidFill>
                <a:effectLst/>
                <a:latin typeface="Consolas" panose="020B0609020204030204" pitchFamily="49" charset="0"/>
              </a:rPr>
              <a:t>if</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val</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&gt;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max_val</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max_val</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val</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p>
          <a:p>
            <a:pPr>
              <a:lnSpc>
                <a:spcPts val="1425"/>
              </a:lnSpc>
              <a:buNone/>
            </a:pPr>
            <a:r>
              <a:rPr lang="en-US" altLang="ja-JP" sz="1400" b="0">
                <a:solidFill>
                  <a:srgbClr val="CCCCCC"/>
                </a:solidFill>
                <a:effectLst/>
                <a:latin typeface="Consolas" panose="020B0609020204030204" pitchFamily="49" charset="0"/>
              </a:rPr>
              <a:t>                </a:t>
            </a:r>
            <a:r>
              <a:rPr lang="en-US" altLang="ja-JP" sz="1400" b="0">
                <a:solidFill>
                  <a:srgbClr val="9CDCFE"/>
                </a:solidFill>
                <a:effectLst/>
                <a:latin typeface="Consolas" panose="020B0609020204030204" pitchFamily="49" charset="0"/>
              </a:rPr>
              <a:t>block1_out</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oc</a:t>
            </a:r>
            <a:r>
              <a:rPr lang="en-US" altLang="ja-JP" sz="1400" b="0">
                <a:solidFill>
                  <a:srgbClr val="CCCCCC"/>
                </a:solidFill>
                <a:effectLst/>
                <a:latin typeface="Consolas" panose="020B0609020204030204" pitchFamily="49" charset="0"/>
              </a:rPr>
              <a:t>][</a:t>
            </a:r>
            <a:r>
              <a:rPr lang="en-US" altLang="ja-JP" sz="1400" b="0">
                <a:solidFill>
                  <a:srgbClr val="9CDCFE"/>
                </a:solidFill>
                <a:effectLst/>
                <a:latin typeface="Consolas" panose="020B0609020204030204" pitchFamily="49" charset="0"/>
              </a:rPr>
              <a:t>pi</a:t>
            </a:r>
            <a:r>
              <a:rPr lang="en-US" altLang="ja-JP" sz="1400" b="0">
                <a:solidFill>
                  <a:srgbClr val="CCCCCC"/>
                </a:solidFill>
                <a:effectLst/>
                <a:latin typeface="Consolas" panose="020B0609020204030204" pitchFamily="49" charset="0"/>
              </a:rPr>
              <a:t>][</a:t>
            </a:r>
            <a:r>
              <a:rPr lang="en-US" altLang="ja-JP" sz="1400" b="0" err="1">
                <a:solidFill>
                  <a:srgbClr val="9CDCFE"/>
                </a:solidFill>
                <a:effectLst/>
                <a:latin typeface="Consolas" panose="020B0609020204030204" pitchFamily="49" charset="0"/>
              </a:rPr>
              <a:t>pj</a:t>
            </a:r>
            <a:r>
              <a:rPr lang="en-US" altLang="ja-JP" sz="1400" b="0">
                <a:solidFill>
                  <a:srgbClr val="CCCCCC"/>
                </a:solidFill>
                <a:effectLst/>
                <a:latin typeface="Consolas" panose="020B0609020204030204" pitchFamily="49" charset="0"/>
              </a:rPr>
              <a:t>] </a:t>
            </a:r>
            <a:r>
              <a:rPr lang="en-US" altLang="ja-JP" sz="1400" b="0">
                <a:solidFill>
                  <a:srgbClr val="D4D4D4"/>
                </a:solidFill>
                <a:effectLst/>
                <a:latin typeface="Consolas" panose="020B0609020204030204" pitchFamily="49" charset="0"/>
              </a:rPr>
              <a:t>=</a:t>
            </a:r>
            <a:r>
              <a:rPr lang="en-US" altLang="ja-JP" sz="1400" b="0">
                <a:solidFill>
                  <a:srgbClr val="CCCCCC"/>
                </a:solidFill>
                <a:effectLst/>
                <a:latin typeface="Consolas" panose="020B0609020204030204" pitchFamily="49" charset="0"/>
              </a:rPr>
              <a:t> </a:t>
            </a:r>
            <a:r>
              <a:rPr lang="en-US" altLang="ja-JP" sz="1400" b="0" err="1">
                <a:solidFill>
                  <a:srgbClr val="9CDCFE"/>
                </a:solidFill>
                <a:effectLst/>
                <a:latin typeface="Consolas" panose="020B0609020204030204" pitchFamily="49" charset="0"/>
              </a:rPr>
              <a:t>max_val</a:t>
            </a:r>
            <a:r>
              <a:rPr lang="en-US" altLang="ja-JP" sz="1400" b="0">
                <a:solidFill>
                  <a:srgbClr val="CCCCCC"/>
                </a:solidFill>
                <a:effectLst/>
                <a:latin typeface="Consolas" panose="020B0609020204030204" pitchFamily="49" charset="0"/>
              </a:rPr>
              <a:t>;</a:t>
            </a:r>
          </a:p>
          <a:p>
            <a:pPr>
              <a:lnSpc>
                <a:spcPts val="1425"/>
              </a:lnSpc>
              <a:buNone/>
            </a:pPr>
            <a:r>
              <a:rPr lang="en-US" altLang="ja-JP" sz="1400" b="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2281438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9BE5F-1A05-16B4-9DA4-072F85E45C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78335FF-828C-C11F-F7A4-874A94B16557}"/>
              </a:ext>
            </a:extLst>
          </p:cNvPr>
          <p:cNvSpPr>
            <a:spLocks noGrp="1"/>
          </p:cNvSpPr>
          <p:nvPr>
            <p:ph type="title"/>
          </p:nvPr>
        </p:nvSpPr>
        <p:spPr/>
        <p:txBody>
          <a:bodyPr/>
          <a:lstStyle/>
          <a:p>
            <a:r>
              <a:rPr kumimoji="1" lang="en-US" altLang="ja-JP"/>
              <a:t>Original C code(4/</a:t>
            </a:r>
            <a:r>
              <a:rPr lang="en-US" altLang="ja-JP"/>
              <a:t>5</a:t>
            </a:r>
            <a:r>
              <a:rPr kumimoji="1" lang="en-US" altLang="ja-JP"/>
              <a:t>)</a:t>
            </a:r>
            <a:endParaRPr kumimoji="1" lang="ja-JP" altLang="en-US"/>
          </a:p>
        </p:txBody>
      </p:sp>
      <p:sp>
        <p:nvSpPr>
          <p:cNvPr id="3" name="コンテンツ プレースホルダー 2">
            <a:extLst>
              <a:ext uri="{FF2B5EF4-FFF2-40B4-BE49-F238E27FC236}">
                <a16:creationId xmlns:a16="http://schemas.microsoft.com/office/drawing/2014/main" id="{891BD017-1762-9137-6799-12C35302377C}"/>
              </a:ext>
            </a:extLst>
          </p:cNvPr>
          <p:cNvSpPr>
            <a:spLocks noGrp="1"/>
          </p:cNvSpPr>
          <p:nvPr>
            <p:ph idx="1"/>
          </p:nvPr>
        </p:nvSpPr>
        <p:spPr>
          <a:xfrm>
            <a:off x="838200" y="1825625"/>
            <a:ext cx="10515600" cy="1077996"/>
          </a:xfrm>
        </p:spPr>
        <p:txBody>
          <a:bodyPr/>
          <a:lstStyle/>
          <a:p>
            <a:r>
              <a:rPr kumimoji="1" lang="en-US" altLang="ja-JP"/>
              <a:t>FC &amp; ReLU</a:t>
            </a:r>
            <a:endParaRPr kumimoji="1" lang="ja-JP" altLang="en-US"/>
          </a:p>
        </p:txBody>
      </p:sp>
      <p:sp>
        <p:nvSpPr>
          <p:cNvPr id="5" name="テキスト ボックス 4">
            <a:extLst>
              <a:ext uri="{FF2B5EF4-FFF2-40B4-BE49-F238E27FC236}">
                <a16:creationId xmlns:a16="http://schemas.microsoft.com/office/drawing/2014/main" id="{C8004981-FC09-F97B-AB76-3BD8DBEDFE8E}"/>
              </a:ext>
            </a:extLst>
          </p:cNvPr>
          <p:cNvSpPr txBox="1"/>
          <p:nvPr/>
        </p:nvSpPr>
        <p:spPr>
          <a:xfrm>
            <a:off x="0" y="3164681"/>
            <a:ext cx="12510608" cy="3693319"/>
          </a:xfrm>
          <a:prstGeom prst="rect">
            <a:avLst/>
          </a:prstGeom>
          <a:solidFill>
            <a:schemeClr val="tx1"/>
          </a:solidFill>
        </p:spPr>
        <p:txBody>
          <a:bodyPr wrap="square">
            <a:spAutoFit/>
          </a:bodyPr>
          <a:lstStyle/>
          <a:p>
            <a:pPr>
              <a:buNone/>
            </a:pPr>
            <a:r>
              <a:rPr lang="en-US" altLang="ja-JP" b="0">
                <a:solidFill>
                  <a:srgbClr val="CCCCCC"/>
                </a:solidFill>
                <a:effectLst/>
                <a:latin typeface="Consolas" panose="020B0609020204030204" pitchFamily="49" charset="0"/>
              </a:rPr>
              <a:t>    </a:t>
            </a:r>
            <a:r>
              <a:rPr lang="en-US" altLang="ja-JP" b="0">
                <a:solidFill>
                  <a:srgbClr val="C586C0"/>
                </a:solidFill>
                <a:effectLst/>
                <a:latin typeface="Consolas" panose="020B0609020204030204" pitchFamily="49" charset="0"/>
              </a:rPr>
              <a:t>for</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int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o</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o</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&lt;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FC1_OUT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o</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4EC9B0"/>
                </a:solidFill>
                <a:effectLst/>
                <a:latin typeface="Consolas" panose="020B0609020204030204" pitchFamily="49" charset="0"/>
              </a:rPr>
              <a:t>int32_t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C586C0"/>
                </a:solidFill>
                <a:effectLst/>
                <a:latin typeface="Consolas" panose="020B0609020204030204" pitchFamily="49" charset="0"/>
              </a:rPr>
              <a:t>for</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int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&lt;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CONV2_OUT_CH</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c</a:t>
            </a:r>
            <a:r>
              <a:rPr lang="en-US" altLang="ja-JP" b="0" err="1">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p>
          <a:p>
            <a:pPr>
              <a:buNone/>
            </a:pPr>
            <a:r>
              <a:rPr lang="en-US" altLang="ja-JP" b="0">
                <a:solidFill>
                  <a:srgbClr val="CCCCCC"/>
                </a:solidFill>
                <a:effectLst/>
                <a:latin typeface="Consolas" panose="020B0609020204030204" pitchFamily="49" charset="0"/>
              </a:rPr>
              <a:t>        </a:t>
            </a:r>
            <a:r>
              <a:rPr lang="en-US" altLang="ja-JP" b="0">
                <a:solidFill>
                  <a:srgbClr val="C586C0"/>
                </a:solidFill>
                <a:effectLst/>
                <a:latin typeface="Consolas" panose="020B0609020204030204" pitchFamily="49" charset="0"/>
              </a:rPr>
              <a:t>for</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int</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i</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i</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&lt;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IMG_H</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POOL</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2</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i</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C586C0"/>
                </a:solidFill>
                <a:effectLst/>
                <a:latin typeface="Consolas" panose="020B0609020204030204" pitchFamily="49" charset="0"/>
              </a:rPr>
              <a:t>for</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int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j</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j</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&lt;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IMG_W</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POOL</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2</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j</a:t>
            </a:r>
            <a:r>
              <a:rPr lang="en-US" altLang="ja-JP" b="0" err="1">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4EC9B0"/>
                </a:solidFill>
                <a:effectLst/>
                <a:latin typeface="Consolas" panose="020B0609020204030204" pitchFamily="49" charset="0"/>
              </a:rPr>
              <a:t>int32_t</a:t>
            </a:r>
            <a:r>
              <a:rPr lang="en-US" altLang="ja-JP" b="0">
                <a:solidFill>
                  <a:srgbClr val="CCCCCC"/>
                </a:solidFill>
                <a:effectLst/>
                <a:latin typeface="Consolas" panose="020B0609020204030204" pitchFamily="49" charset="0"/>
              </a:rPr>
              <a:t>)</a:t>
            </a:r>
            <a:r>
              <a:rPr lang="en-US" altLang="ja-JP" b="0">
                <a:solidFill>
                  <a:srgbClr val="9CDCFE"/>
                </a:solidFill>
                <a:effectLst/>
                <a:latin typeface="Consolas" panose="020B0609020204030204" pitchFamily="49" charset="0"/>
              </a:rPr>
              <a:t>block2_out</a:t>
            </a:r>
            <a:r>
              <a:rPr lang="en-US" altLang="ja-JP" b="0">
                <a:solidFill>
                  <a:srgbClr val="CCCCCC"/>
                </a:solidFill>
                <a:effectLst/>
                <a:latin typeface="Consolas" panose="020B0609020204030204" pitchFamily="49" charset="0"/>
              </a:rPr>
              <a:t>[</a:t>
            </a:r>
            <a:r>
              <a:rPr lang="en-US" altLang="ja-JP" b="0">
                <a:solidFill>
                  <a:srgbClr val="9CDCFE"/>
                </a:solidFill>
                <a:effectLst/>
                <a:latin typeface="Consolas" panose="020B0609020204030204" pitchFamily="49" charset="0"/>
              </a:rPr>
              <a:t>c</a:t>
            </a:r>
            <a:r>
              <a:rPr lang="en-US" altLang="ja-JP" b="0">
                <a:solidFill>
                  <a:srgbClr val="CCCCCC"/>
                </a:solidFill>
                <a:effectLst/>
                <a:latin typeface="Consolas" panose="020B0609020204030204" pitchFamily="49" charset="0"/>
              </a:rPr>
              <a:t>][</a:t>
            </a:r>
            <a:r>
              <a:rPr lang="en-US" altLang="ja-JP" b="0" err="1">
                <a:solidFill>
                  <a:srgbClr val="9CDCFE"/>
                </a:solidFill>
                <a:effectLst/>
                <a:latin typeface="Consolas" panose="020B0609020204030204" pitchFamily="49" charset="0"/>
              </a:rPr>
              <a:t>i</a:t>
            </a:r>
            <a:r>
              <a:rPr lang="en-US" altLang="ja-JP" b="0">
                <a:solidFill>
                  <a:srgbClr val="CCCCCC"/>
                </a:solidFill>
                <a:effectLst/>
                <a:latin typeface="Consolas" panose="020B0609020204030204" pitchFamily="49" charset="0"/>
              </a:rPr>
              <a:t>][</a:t>
            </a:r>
            <a:r>
              <a:rPr lang="en-US" altLang="ja-JP" b="0">
                <a:solidFill>
                  <a:srgbClr val="9CDCFE"/>
                </a:solidFill>
                <a:effectLst/>
                <a:latin typeface="Consolas" panose="020B0609020204030204" pitchFamily="49" charset="0"/>
              </a:rPr>
              <a:t>j</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4EC9B0"/>
                </a:solidFill>
                <a:effectLst/>
                <a:latin typeface="Consolas" panose="020B0609020204030204" pitchFamily="49" charset="0"/>
              </a:rPr>
              <a:t>int32_t</a:t>
            </a:r>
            <a:r>
              <a:rPr lang="en-US" altLang="ja-JP" b="0">
                <a:solidFill>
                  <a:srgbClr val="CCCCCC"/>
                </a:solidFill>
                <a:effectLst/>
                <a:latin typeface="Consolas" panose="020B0609020204030204" pitchFamily="49" charset="0"/>
              </a:rPr>
              <a:t>)</a:t>
            </a:r>
            <a:r>
              <a:rPr lang="en-US" altLang="ja-JP" b="0">
                <a:solidFill>
                  <a:srgbClr val="9CDCFE"/>
                </a:solidFill>
                <a:effectLst/>
                <a:latin typeface="Consolas" panose="020B0609020204030204" pitchFamily="49" charset="0"/>
              </a:rPr>
              <a:t>fc1_weight</a:t>
            </a:r>
            <a:r>
              <a:rPr lang="en-US" altLang="ja-JP" b="0">
                <a:solidFill>
                  <a:srgbClr val="CCCCCC"/>
                </a:solidFill>
                <a:effectLst/>
                <a:latin typeface="Consolas" panose="020B0609020204030204" pitchFamily="49" charset="0"/>
              </a:rPr>
              <a:t>[</a:t>
            </a:r>
            <a:r>
              <a:rPr lang="en-US" altLang="ja-JP" b="0">
                <a:solidFill>
                  <a:srgbClr val="9CDCFE"/>
                </a:solidFill>
                <a:effectLst/>
                <a:latin typeface="Consolas" panose="020B0609020204030204" pitchFamily="49" charset="0"/>
              </a:rPr>
              <a:t>o</a:t>
            </a:r>
            <a:r>
              <a:rPr lang="en-US" altLang="ja-JP" b="0">
                <a:solidFill>
                  <a:srgbClr val="CCCCCC"/>
                </a:solidFill>
                <a:effectLst/>
                <a:latin typeface="Consolas" panose="020B0609020204030204" pitchFamily="49" charset="0"/>
              </a:rPr>
              <a:t>][</a:t>
            </a:r>
            <a:r>
              <a:rPr lang="en-US" altLang="ja-JP" b="0">
                <a:solidFill>
                  <a:srgbClr val="9CDCFE"/>
                </a:solidFill>
                <a:effectLst/>
                <a:latin typeface="Consolas" panose="020B0609020204030204" pitchFamily="49" charset="0"/>
              </a:rPr>
              <a:t>j</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i</a:t>
            </a:r>
            <a:r>
              <a:rPr lang="en-US" altLang="ja-JP" b="0">
                <a:solidFill>
                  <a:srgbClr val="D4D4D4"/>
                </a:solidFill>
                <a:effectLst/>
                <a:latin typeface="Consolas" panose="020B0609020204030204" pitchFamily="49" charset="0"/>
              </a:rPr>
              <a:t>*</a:t>
            </a:r>
            <a:r>
              <a:rPr lang="en-US" altLang="ja-JP" b="0">
                <a:solidFill>
                  <a:srgbClr val="569CD6"/>
                </a:solidFill>
                <a:effectLst/>
                <a:latin typeface="Consolas" panose="020B0609020204030204" pitchFamily="49" charset="0"/>
              </a:rPr>
              <a:t>IMG_W</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a:t>
            </a:r>
            <a:r>
              <a:rPr lang="en-US" altLang="ja-JP" b="0">
                <a:solidFill>
                  <a:srgbClr val="569CD6"/>
                </a:solidFill>
                <a:effectLst/>
                <a:latin typeface="Consolas" panose="020B0609020204030204" pitchFamily="49" charset="0"/>
              </a:rPr>
              <a:t>POOL</a:t>
            </a:r>
            <a:r>
              <a:rPr lang="en-US" altLang="ja-JP" b="0">
                <a:solidFill>
                  <a:srgbClr val="D4D4D4"/>
                </a:solidFill>
                <a:effectLst/>
                <a:latin typeface="Consolas" panose="020B0609020204030204" pitchFamily="49" charset="0"/>
              </a:rPr>
              <a:t>*</a:t>
            </a:r>
            <a:r>
              <a:rPr lang="en-US" altLang="ja-JP" b="0">
                <a:solidFill>
                  <a:srgbClr val="B5CEA8"/>
                </a:solidFill>
                <a:effectLst/>
                <a:latin typeface="Consolas" panose="020B0609020204030204" pitchFamily="49" charset="0"/>
              </a:rPr>
              <a:t>2</a:t>
            </a:r>
            <a:r>
              <a:rPr lang="en-US" altLang="ja-JP" b="0">
                <a:solidFill>
                  <a:srgbClr val="CCCCCC"/>
                </a:solidFill>
                <a:effectLst/>
                <a:latin typeface="Consolas" panose="020B0609020204030204" pitchFamily="49" charset="0"/>
              </a:rPr>
              <a:t>) </a:t>
            </a:r>
            <a:br>
              <a:rPr lang="en-US" altLang="ja-JP" b="0">
                <a:solidFill>
                  <a:srgbClr val="CCCCCC"/>
                </a:solidFill>
                <a:effectLst/>
                <a:latin typeface="Consolas" panose="020B0609020204030204" pitchFamily="49" charset="0"/>
              </a:rPr>
            </a:b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c</a:t>
            </a:r>
            <a:r>
              <a:rPr lang="en-US" altLang="ja-JP" b="0">
                <a:solidFill>
                  <a:srgbClr val="D4D4D4"/>
                </a:solidFill>
                <a:effectLst/>
                <a:latin typeface="Consolas" panose="020B0609020204030204" pitchFamily="49" charset="0"/>
              </a:rPr>
              <a:t>*</a:t>
            </a:r>
            <a:r>
              <a:rPr lang="en-US" altLang="ja-JP" b="0">
                <a:solidFill>
                  <a:srgbClr val="569CD6"/>
                </a:solidFill>
                <a:effectLst/>
                <a:latin typeface="Consolas" panose="020B0609020204030204" pitchFamily="49" charset="0"/>
              </a:rPr>
              <a:t>IMG_W</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a:t>
            </a:r>
            <a:r>
              <a:rPr lang="en-US" altLang="ja-JP" b="0">
                <a:solidFill>
                  <a:srgbClr val="569CD6"/>
                </a:solidFill>
                <a:effectLst/>
                <a:latin typeface="Consolas" panose="020B0609020204030204" pitchFamily="49" charset="0"/>
              </a:rPr>
              <a:t>POOL</a:t>
            </a:r>
            <a:r>
              <a:rPr lang="en-US" altLang="ja-JP" b="0">
                <a:solidFill>
                  <a:srgbClr val="D4D4D4"/>
                </a:solidFill>
                <a:effectLst/>
                <a:latin typeface="Consolas" panose="020B0609020204030204" pitchFamily="49" charset="0"/>
              </a:rPr>
              <a:t>*</a:t>
            </a:r>
            <a:r>
              <a:rPr lang="en-US" altLang="ja-JP" b="0">
                <a:solidFill>
                  <a:srgbClr val="B5CEA8"/>
                </a:solidFill>
                <a:effectLst/>
                <a:latin typeface="Consolas" panose="020B0609020204030204" pitchFamily="49" charset="0"/>
              </a:rPr>
              <a:t>2</a:t>
            </a:r>
            <a:r>
              <a:rPr lang="en-US" altLang="ja-JP" b="0">
                <a:solidFill>
                  <a:srgbClr val="CCCCCC"/>
                </a:solidFill>
                <a:effectLst/>
                <a:latin typeface="Consolas" panose="020B0609020204030204" pitchFamily="49" charset="0"/>
              </a:rPr>
              <a:t>)</a:t>
            </a:r>
            <a:r>
              <a:rPr lang="en-US" altLang="ja-JP" b="0">
                <a:solidFill>
                  <a:srgbClr val="D4D4D4"/>
                </a:solidFill>
                <a:effectLst/>
                <a:latin typeface="Consolas" panose="020B0609020204030204" pitchFamily="49" charset="0"/>
              </a:rPr>
              <a:t>*</a:t>
            </a:r>
            <a:r>
              <a:rPr lang="en-US" altLang="ja-JP" b="0">
                <a:solidFill>
                  <a:srgbClr val="569CD6"/>
                </a:solidFill>
                <a:effectLst/>
                <a:latin typeface="Consolas" panose="020B0609020204030204" pitchFamily="49" charset="0"/>
              </a:rPr>
              <a:t>IMG_H</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a:t>
            </a:r>
            <a:r>
              <a:rPr lang="en-US" altLang="ja-JP" b="0">
                <a:solidFill>
                  <a:srgbClr val="569CD6"/>
                </a:solidFill>
                <a:effectLst/>
                <a:latin typeface="Consolas" panose="020B0609020204030204" pitchFamily="49" charset="0"/>
              </a:rPr>
              <a:t>POOL</a:t>
            </a:r>
            <a:r>
              <a:rPr lang="en-US" altLang="ja-JP" b="0">
                <a:solidFill>
                  <a:srgbClr val="D4D4D4"/>
                </a:solidFill>
                <a:effectLst/>
                <a:latin typeface="Consolas" panose="020B0609020204030204" pitchFamily="49" charset="0"/>
              </a:rPr>
              <a:t>*</a:t>
            </a:r>
            <a:r>
              <a:rPr lang="en-US" altLang="ja-JP" b="0">
                <a:solidFill>
                  <a:srgbClr val="B5CEA8"/>
                </a:solidFill>
                <a:effectLst/>
                <a:latin typeface="Consolas" panose="020B0609020204030204" pitchFamily="49" charset="0"/>
              </a:rPr>
              <a:t>2</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p>
          <a:p>
            <a:pPr>
              <a:buNone/>
            </a:pP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CONV2_SCALE_MULT</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&gt;&gt;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CONV2_SHIFT</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C586C0"/>
                </a:solidFill>
                <a:effectLst/>
                <a:latin typeface="Consolas" panose="020B0609020204030204" pitchFamily="49" charset="0"/>
              </a:rPr>
              <a:t>if</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&lt;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C586C0"/>
                </a:solidFill>
                <a:effectLst/>
                <a:latin typeface="Consolas" panose="020B0609020204030204" pitchFamily="49" charset="0"/>
              </a:rPr>
              <a:t>if</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&gt;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127</a:t>
            </a:r>
            <a:r>
              <a:rPr lang="en-US" altLang="ja-JP" b="0">
                <a:solidFill>
                  <a:srgbClr val="CCCCCC"/>
                </a:solidFill>
                <a:effectLst/>
                <a:latin typeface="Consolas" panose="020B0609020204030204" pitchFamily="49" charset="0"/>
              </a:rPr>
              <a:t>)</a:t>
            </a:r>
            <a:r>
              <a:rPr lang="en-US" altLang="ja-JP">
                <a:solidFill>
                  <a:srgbClr val="CCCCCC"/>
                </a:solidFill>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127</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fc1_out</a:t>
            </a:r>
            <a:r>
              <a:rPr lang="en-US" altLang="ja-JP" b="0">
                <a:solidFill>
                  <a:srgbClr val="CCCCCC"/>
                </a:solidFill>
                <a:effectLst/>
                <a:latin typeface="Consolas" panose="020B0609020204030204" pitchFamily="49" charset="0"/>
              </a:rPr>
              <a:t>[</a:t>
            </a:r>
            <a:r>
              <a:rPr lang="en-US" altLang="ja-JP" b="0">
                <a:solidFill>
                  <a:srgbClr val="9CDCFE"/>
                </a:solidFill>
                <a:effectLst/>
                <a:latin typeface="Consolas" panose="020B0609020204030204" pitchFamily="49" charset="0"/>
              </a:rPr>
              <a:t>o</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acc</a:t>
            </a:r>
            <a:r>
              <a:rPr lang="en-US" altLang="ja-JP" b="0">
                <a:solidFill>
                  <a:srgbClr val="CCCCCC"/>
                </a:solidFill>
                <a:effectLst/>
                <a:latin typeface="Consolas" panose="020B0609020204030204" pitchFamily="49" charset="0"/>
              </a:rPr>
              <a:t>;</a:t>
            </a:r>
          </a:p>
          <a:p>
            <a:r>
              <a:rPr lang="en-US" altLang="ja-JP" b="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1349559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91DB2-3EE6-4820-AA28-B3130CF448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078A16-31B0-8A2C-F50D-13BDDE098A6E}"/>
              </a:ext>
            </a:extLst>
          </p:cNvPr>
          <p:cNvSpPr>
            <a:spLocks noGrp="1"/>
          </p:cNvSpPr>
          <p:nvPr>
            <p:ph type="title"/>
          </p:nvPr>
        </p:nvSpPr>
        <p:spPr/>
        <p:txBody>
          <a:bodyPr/>
          <a:lstStyle/>
          <a:p>
            <a:r>
              <a:rPr kumimoji="1" lang="en-US" altLang="ja-JP"/>
              <a:t>Original C code(5/</a:t>
            </a:r>
            <a:r>
              <a:rPr lang="en-US" altLang="ja-JP"/>
              <a:t>5</a:t>
            </a:r>
            <a:r>
              <a:rPr kumimoji="1" lang="en-US" altLang="ja-JP"/>
              <a:t>)</a:t>
            </a:r>
            <a:endParaRPr kumimoji="1" lang="ja-JP" altLang="en-US"/>
          </a:p>
        </p:txBody>
      </p:sp>
      <p:sp>
        <p:nvSpPr>
          <p:cNvPr id="3" name="コンテンツ プレースホルダー 2">
            <a:extLst>
              <a:ext uri="{FF2B5EF4-FFF2-40B4-BE49-F238E27FC236}">
                <a16:creationId xmlns:a16="http://schemas.microsoft.com/office/drawing/2014/main" id="{80C1421D-ABB9-5A4E-829E-B5C4634071F0}"/>
              </a:ext>
            </a:extLst>
          </p:cNvPr>
          <p:cNvSpPr>
            <a:spLocks noGrp="1"/>
          </p:cNvSpPr>
          <p:nvPr>
            <p:ph idx="1"/>
          </p:nvPr>
        </p:nvSpPr>
        <p:spPr>
          <a:xfrm>
            <a:off x="838200" y="1825625"/>
            <a:ext cx="10515600" cy="1110080"/>
          </a:xfrm>
        </p:spPr>
        <p:txBody>
          <a:bodyPr/>
          <a:lstStyle/>
          <a:p>
            <a:r>
              <a:rPr kumimoji="1" lang="en-US" altLang="ja-JP"/>
              <a:t>Argmax &amp; Display</a:t>
            </a:r>
            <a:endParaRPr kumimoji="1" lang="ja-JP" altLang="en-US"/>
          </a:p>
        </p:txBody>
      </p:sp>
      <p:sp>
        <p:nvSpPr>
          <p:cNvPr id="5" name="テキスト ボックス 4">
            <a:extLst>
              <a:ext uri="{FF2B5EF4-FFF2-40B4-BE49-F238E27FC236}">
                <a16:creationId xmlns:a16="http://schemas.microsoft.com/office/drawing/2014/main" id="{FDD2C85E-7889-EC12-1025-F357378C74F8}"/>
              </a:ext>
            </a:extLst>
          </p:cNvPr>
          <p:cNvSpPr txBox="1"/>
          <p:nvPr/>
        </p:nvSpPr>
        <p:spPr>
          <a:xfrm>
            <a:off x="2655832" y="3571092"/>
            <a:ext cx="6499743" cy="2308324"/>
          </a:xfrm>
          <a:prstGeom prst="rect">
            <a:avLst/>
          </a:prstGeom>
          <a:solidFill>
            <a:schemeClr val="tx1"/>
          </a:solidFill>
        </p:spPr>
        <p:txBody>
          <a:bodyPr wrap="square">
            <a:spAutoFit/>
          </a:bodyPr>
          <a:lstStyle/>
          <a:p>
            <a:pPr>
              <a:buNone/>
            </a:pP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int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prediction</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4EC9B0"/>
                </a:solidFill>
                <a:effectLst/>
                <a:latin typeface="Consolas" panose="020B0609020204030204" pitchFamily="49" charset="0"/>
              </a:rPr>
              <a:t>int8_t</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max_val</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fc1_out</a:t>
            </a:r>
            <a:r>
              <a:rPr lang="en-US" altLang="ja-JP" b="0">
                <a:solidFill>
                  <a:srgbClr val="CCCCCC"/>
                </a:solidFill>
                <a:effectLst/>
                <a:latin typeface="Consolas" panose="020B0609020204030204" pitchFamily="49" charset="0"/>
              </a:rPr>
              <a:t>[</a:t>
            </a:r>
            <a:r>
              <a:rPr lang="en-US" altLang="ja-JP" b="0">
                <a:solidFill>
                  <a:srgbClr val="B5CEA8"/>
                </a:solidFill>
                <a:effectLst/>
                <a:latin typeface="Consolas" panose="020B0609020204030204" pitchFamily="49" charset="0"/>
              </a:rPr>
              <a:t>0</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C586C0"/>
                </a:solidFill>
                <a:effectLst/>
                <a:latin typeface="Consolas" panose="020B0609020204030204" pitchFamily="49" charset="0"/>
              </a:rPr>
              <a:t>for</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int</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i</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B5CEA8"/>
                </a:solidFill>
                <a:effectLst/>
                <a:latin typeface="Consolas" panose="020B0609020204030204" pitchFamily="49" charset="0"/>
              </a:rPr>
              <a:t>1</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i</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&lt;</a:t>
            </a:r>
            <a:r>
              <a:rPr lang="en-US" altLang="ja-JP" b="0">
                <a:solidFill>
                  <a:srgbClr val="CCCCCC"/>
                </a:solidFill>
                <a:effectLst/>
                <a:latin typeface="Consolas" panose="020B0609020204030204" pitchFamily="49" charset="0"/>
              </a:rPr>
              <a:t> </a:t>
            </a:r>
            <a:r>
              <a:rPr lang="en-US" altLang="ja-JP" b="0">
                <a:solidFill>
                  <a:srgbClr val="569CD6"/>
                </a:solidFill>
                <a:effectLst/>
                <a:latin typeface="Consolas" panose="020B0609020204030204" pitchFamily="49" charset="0"/>
              </a:rPr>
              <a:t>FC1_OUT</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i</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p>
          <a:p>
            <a:pPr>
              <a:buNone/>
            </a:pPr>
            <a:r>
              <a:rPr lang="en-US" altLang="ja-JP" b="0">
                <a:solidFill>
                  <a:srgbClr val="CCCCCC"/>
                </a:solidFill>
                <a:effectLst/>
                <a:latin typeface="Consolas" panose="020B0609020204030204" pitchFamily="49" charset="0"/>
              </a:rPr>
              <a:t>        </a:t>
            </a:r>
            <a:r>
              <a:rPr lang="en-US" altLang="ja-JP" b="0">
                <a:solidFill>
                  <a:srgbClr val="C586C0"/>
                </a:solidFill>
                <a:effectLst/>
                <a:latin typeface="Consolas" panose="020B0609020204030204" pitchFamily="49" charset="0"/>
              </a:rPr>
              <a:t>if</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fc1_out</a:t>
            </a:r>
            <a:r>
              <a:rPr lang="en-US" altLang="ja-JP" b="0">
                <a:solidFill>
                  <a:srgbClr val="CCCCCC"/>
                </a:solidFill>
                <a:effectLst/>
                <a:latin typeface="Consolas" panose="020B0609020204030204" pitchFamily="49" charset="0"/>
              </a:rPr>
              <a:t>[</a:t>
            </a:r>
            <a:r>
              <a:rPr lang="en-US" altLang="ja-JP" b="0" err="1">
                <a:solidFill>
                  <a:srgbClr val="9CDCFE"/>
                </a:solidFill>
                <a:effectLst/>
                <a:latin typeface="Consolas" panose="020B0609020204030204" pitchFamily="49" charset="0"/>
              </a:rPr>
              <a:t>i</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&gt;</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max_val</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max_val</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fc1_out</a:t>
            </a:r>
            <a:r>
              <a:rPr lang="en-US" altLang="ja-JP" b="0">
                <a:solidFill>
                  <a:srgbClr val="CCCCCC"/>
                </a:solidFill>
                <a:effectLst/>
                <a:latin typeface="Consolas" panose="020B0609020204030204" pitchFamily="49" charset="0"/>
              </a:rPr>
              <a:t>[</a:t>
            </a:r>
            <a:r>
              <a:rPr lang="en-US" altLang="ja-JP" b="0" err="1">
                <a:solidFill>
                  <a:srgbClr val="9CDCFE"/>
                </a:solidFill>
                <a:effectLst/>
                <a:latin typeface="Consolas" panose="020B0609020204030204" pitchFamily="49" charset="0"/>
              </a:rPr>
              <a:t>i</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prediction</a:t>
            </a:r>
            <a:r>
              <a:rPr lang="en-US" altLang="ja-JP" b="0">
                <a:solidFill>
                  <a:srgbClr val="CCCCCC"/>
                </a:solidFill>
                <a:effectLst/>
                <a:latin typeface="Consolas" panose="020B0609020204030204" pitchFamily="49" charset="0"/>
              </a:rPr>
              <a:t> </a:t>
            </a:r>
            <a:r>
              <a:rPr lang="en-US" altLang="ja-JP" b="0">
                <a:solidFill>
                  <a:srgbClr val="D4D4D4"/>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err="1">
                <a:solidFill>
                  <a:srgbClr val="9CDCFE"/>
                </a:solidFill>
                <a:effectLst/>
                <a:latin typeface="Consolas" panose="020B0609020204030204" pitchFamily="49" charset="0"/>
              </a:rPr>
              <a:t>i</a:t>
            </a:r>
            <a:r>
              <a:rPr lang="en-US" altLang="ja-JP" b="0">
                <a:solidFill>
                  <a:srgbClr val="CCCCCC"/>
                </a:solidFill>
                <a:effectLst/>
                <a:latin typeface="Consolas" panose="020B0609020204030204" pitchFamily="49" charset="0"/>
              </a:rPr>
              <a:t>;</a:t>
            </a:r>
          </a:p>
          <a:p>
            <a:pPr>
              <a:buNone/>
            </a:pPr>
            <a:r>
              <a:rPr lang="en-US" altLang="ja-JP" b="0">
                <a:solidFill>
                  <a:srgbClr val="CCCCCC"/>
                </a:solidFill>
                <a:effectLst/>
                <a:latin typeface="Consolas" panose="020B0609020204030204" pitchFamily="49" charset="0"/>
              </a:rPr>
              <a:t>    }}</a:t>
            </a:r>
          </a:p>
          <a:p>
            <a:r>
              <a:rPr lang="en-US" altLang="ja-JP" b="0">
                <a:solidFill>
                  <a:srgbClr val="CCCCCC"/>
                </a:solidFill>
                <a:effectLst/>
                <a:latin typeface="Consolas" panose="020B0609020204030204" pitchFamily="49" charset="0"/>
              </a:rPr>
              <a:t>    </a:t>
            </a:r>
            <a:r>
              <a:rPr lang="en-US" altLang="ja-JP" b="0" err="1">
                <a:solidFill>
                  <a:srgbClr val="DCDCAA"/>
                </a:solidFill>
                <a:effectLst/>
                <a:latin typeface="Consolas" panose="020B0609020204030204" pitchFamily="49" charset="0"/>
              </a:rPr>
              <a:t>printf</a:t>
            </a:r>
            <a:r>
              <a:rPr lang="en-US" altLang="ja-JP" b="0">
                <a:solidFill>
                  <a:srgbClr val="CCCCCC"/>
                </a:solidFill>
                <a:effectLst/>
                <a:latin typeface="Consolas" panose="020B0609020204030204" pitchFamily="49" charset="0"/>
              </a:rPr>
              <a:t>(</a:t>
            </a:r>
            <a:r>
              <a:rPr lang="en-US" altLang="ja-JP" b="0">
                <a:solidFill>
                  <a:srgbClr val="CE9178"/>
                </a:solidFill>
                <a:effectLst/>
                <a:latin typeface="Consolas" panose="020B0609020204030204" pitchFamily="49" charset="0"/>
              </a:rPr>
              <a:t>"output[</a:t>
            </a:r>
            <a:r>
              <a:rPr lang="en-US" altLang="ja-JP" b="0">
                <a:solidFill>
                  <a:srgbClr val="9CDCFE"/>
                </a:solidFill>
                <a:effectLst/>
                <a:latin typeface="Consolas" panose="020B0609020204030204" pitchFamily="49" charset="0"/>
              </a:rPr>
              <a:t>%d</a:t>
            </a:r>
            <a:r>
              <a:rPr lang="en-US" altLang="ja-JP" b="0">
                <a:solidFill>
                  <a:srgbClr val="CE9178"/>
                </a:solidFill>
                <a:effectLst/>
                <a:latin typeface="Consolas" panose="020B0609020204030204" pitchFamily="49" charset="0"/>
              </a:rPr>
              <a:t>]: </a:t>
            </a:r>
            <a:r>
              <a:rPr lang="en-US" altLang="ja-JP" b="0">
                <a:solidFill>
                  <a:srgbClr val="9CDCFE"/>
                </a:solidFill>
                <a:effectLst/>
                <a:latin typeface="Consolas" panose="020B0609020204030204" pitchFamily="49" charset="0"/>
              </a:rPr>
              <a:t>%d</a:t>
            </a:r>
            <a:r>
              <a:rPr lang="en-US" altLang="ja-JP" b="0">
                <a:solidFill>
                  <a:srgbClr val="D7BA7D"/>
                </a:solidFill>
                <a:effectLst/>
                <a:latin typeface="Consolas" panose="020B0609020204030204" pitchFamily="49" charset="0"/>
              </a:rPr>
              <a:t>\n</a:t>
            </a:r>
            <a:r>
              <a:rPr lang="en-US" altLang="ja-JP" b="0">
                <a:solidFill>
                  <a:srgbClr val="CE9178"/>
                </a:solidFill>
                <a:effectLst/>
                <a:latin typeface="Consolas" panose="020B0609020204030204" pitchFamily="49" charset="0"/>
              </a:rPr>
              <a:t>"</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n</a:t>
            </a:r>
            <a:r>
              <a:rPr lang="en-US" altLang="ja-JP" b="0">
                <a:solidFill>
                  <a:srgbClr val="CCCCCC"/>
                </a:solidFill>
                <a:effectLst/>
                <a:latin typeface="Consolas" panose="020B0609020204030204" pitchFamily="49" charset="0"/>
              </a:rPr>
              <a:t>, </a:t>
            </a:r>
            <a:r>
              <a:rPr lang="en-US" altLang="ja-JP" b="0">
                <a:solidFill>
                  <a:srgbClr val="9CDCFE"/>
                </a:solidFill>
                <a:effectLst/>
                <a:latin typeface="Consolas" panose="020B0609020204030204" pitchFamily="49" charset="0"/>
              </a:rPr>
              <a:t>prediction</a:t>
            </a:r>
            <a:r>
              <a:rPr lang="en-US" altLang="ja-JP" b="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612953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2B3A-5CFD-27FA-F600-7FA324E9F8F8}"/>
              </a:ext>
            </a:extLst>
          </p:cNvPr>
          <p:cNvSpPr>
            <a:spLocks noGrp="1"/>
          </p:cNvSpPr>
          <p:nvPr>
            <p:ph type="title"/>
          </p:nvPr>
        </p:nvSpPr>
        <p:spPr/>
        <p:txBody>
          <a:bodyPr/>
          <a:lstStyle/>
          <a:p>
            <a:r>
              <a:rPr kumimoji="1" lang="en-US" altLang="ja-JP"/>
              <a:t>Approach to create </a:t>
            </a:r>
            <a:r>
              <a:rPr kumimoji="1" lang="en-US" altLang="ja-JP" err="1"/>
              <a:t>SystemC</a:t>
            </a:r>
            <a:endParaRPr kumimoji="1" lang="ja-JP" altLang="en-US"/>
          </a:p>
        </p:txBody>
      </p:sp>
      <p:sp>
        <p:nvSpPr>
          <p:cNvPr id="3" name="コンテンツ プレースホルダー 2">
            <a:extLst>
              <a:ext uri="{FF2B5EF4-FFF2-40B4-BE49-F238E27FC236}">
                <a16:creationId xmlns:a16="http://schemas.microsoft.com/office/drawing/2014/main" id="{9952D2B7-B899-E6FE-A9DB-631EF05EC9D1}"/>
              </a:ext>
            </a:extLst>
          </p:cNvPr>
          <p:cNvSpPr>
            <a:spLocks noGrp="1"/>
          </p:cNvSpPr>
          <p:nvPr>
            <p:ph idx="1"/>
          </p:nvPr>
        </p:nvSpPr>
        <p:spPr/>
        <p:txBody>
          <a:bodyPr/>
          <a:lstStyle/>
          <a:p>
            <a:r>
              <a:rPr kumimoji="1" lang="en-US" altLang="ja-JP"/>
              <a:t>Convert original C code to </a:t>
            </a:r>
            <a:r>
              <a:rPr kumimoji="1" lang="en-US" altLang="ja-JP" err="1"/>
              <a:t>SystemC</a:t>
            </a:r>
            <a:r>
              <a:rPr kumimoji="1" lang="en-US" altLang="ja-JP"/>
              <a:t> code</a:t>
            </a:r>
          </a:p>
          <a:p>
            <a:r>
              <a:rPr kumimoji="1" lang="en-US" altLang="ja-JP"/>
              <a:t>Synthesized in Stratus HLS</a:t>
            </a:r>
            <a:endParaRPr kumimoji="1" lang="ja-JP" altLang="en-US"/>
          </a:p>
        </p:txBody>
      </p:sp>
    </p:spTree>
    <p:extLst>
      <p:ext uri="{BB962C8B-B14F-4D97-AF65-F5344CB8AC3E}">
        <p14:creationId xmlns:p14="http://schemas.microsoft.com/office/powerpoint/2010/main" val="214276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D0635-EFEC-E2A8-0AD5-3B0A5DD319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CA3BBE7-0750-13A7-D672-829061C1B811}"/>
              </a:ext>
            </a:extLst>
          </p:cNvPr>
          <p:cNvSpPr>
            <a:spLocks noGrp="1"/>
          </p:cNvSpPr>
          <p:nvPr>
            <p:ph type="title"/>
          </p:nvPr>
        </p:nvSpPr>
        <p:spPr/>
        <p:txBody>
          <a:bodyPr/>
          <a:lstStyle/>
          <a:p>
            <a:r>
              <a:rPr kumimoji="1" lang="en-US" altLang="ja-JP"/>
              <a:t>Approach for code level optimization</a:t>
            </a:r>
            <a:endParaRPr kumimoji="1" lang="ja-JP" altLang="en-US"/>
          </a:p>
        </p:txBody>
      </p:sp>
      <p:sp>
        <p:nvSpPr>
          <p:cNvPr id="3" name="コンテンツ プレースホルダー 2">
            <a:extLst>
              <a:ext uri="{FF2B5EF4-FFF2-40B4-BE49-F238E27FC236}">
                <a16:creationId xmlns:a16="http://schemas.microsoft.com/office/drawing/2014/main" id="{DD1B00F9-D271-0AF9-E883-AB50AB341CF2}"/>
              </a:ext>
            </a:extLst>
          </p:cNvPr>
          <p:cNvSpPr>
            <a:spLocks noGrp="1"/>
          </p:cNvSpPr>
          <p:nvPr>
            <p:ph idx="1"/>
          </p:nvPr>
        </p:nvSpPr>
        <p:spPr/>
        <p:txBody>
          <a:bodyPr/>
          <a:lstStyle/>
          <a:p>
            <a:r>
              <a:rPr kumimoji="1" lang="en-US" altLang="ja-JP" dirty="0"/>
              <a:t>Architectural design considering optimization</a:t>
            </a:r>
          </a:p>
          <a:p>
            <a:pPr lvl="1"/>
            <a:r>
              <a:rPr kumimoji="1" lang="en-US" altLang="ja-JP" dirty="0"/>
              <a:t>Conv2D, ReLU, and </a:t>
            </a:r>
            <a:r>
              <a:rPr kumimoji="1" lang="en-US" altLang="ja-JP" dirty="0" err="1"/>
              <a:t>MaxPooling</a:t>
            </a:r>
            <a:r>
              <a:rPr kumimoji="1" lang="en-US" altLang="ja-JP" dirty="0"/>
              <a:t> optimization</a:t>
            </a:r>
          </a:p>
          <a:p>
            <a:pPr lvl="1"/>
            <a:r>
              <a:rPr kumimoji="1" lang="en-US" altLang="ja-JP" dirty="0"/>
              <a:t>Skip Flatten layer and specify FC layer index</a:t>
            </a:r>
            <a:endParaRPr kumimoji="1" lang="ja-JP" altLang="en-US" dirty="0"/>
          </a:p>
        </p:txBody>
      </p:sp>
    </p:spTree>
    <p:extLst>
      <p:ext uri="{BB962C8B-B14F-4D97-AF65-F5344CB8AC3E}">
        <p14:creationId xmlns:p14="http://schemas.microsoft.com/office/powerpoint/2010/main" val="3802698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EF910-BFD2-0EDA-F1D1-F69F463BF8FD}"/>
              </a:ext>
            </a:extLst>
          </p:cNvPr>
          <p:cNvSpPr>
            <a:spLocks noGrp="1"/>
          </p:cNvSpPr>
          <p:nvPr>
            <p:ph type="title"/>
          </p:nvPr>
        </p:nvSpPr>
        <p:spPr/>
        <p:txBody>
          <a:bodyPr/>
          <a:lstStyle/>
          <a:p>
            <a:r>
              <a:rPr kumimoji="1" lang="en-US" altLang="ja-JP"/>
              <a:t>Approach for micro-architecture</a:t>
            </a:r>
            <a:endParaRPr kumimoji="1" lang="ja-JP" altLang="en-US"/>
          </a:p>
        </p:txBody>
      </p:sp>
      <p:sp>
        <p:nvSpPr>
          <p:cNvPr id="3" name="コンテンツ プレースホルダー 2">
            <a:extLst>
              <a:ext uri="{FF2B5EF4-FFF2-40B4-BE49-F238E27FC236}">
                <a16:creationId xmlns:a16="http://schemas.microsoft.com/office/drawing/2014/main" id="{B0EC0ECA-806C-8783-060F-A20D2EA265F0}"/>
              </a:ext>
            </a:extLst>
          </p:cNvPr>
          <p:cNvSpPr>
            <a:spLocks noGrp="1"/>
          </p:cNvSpPr>
          <p:nvPr>
            <p:ph idx="1"/>
          </p:nvPr>
        </p:nvSpPr>
        <p:spPr/>
        <p:txBody>
          <a:bodyPr>
            <a:normAutofit fontScale="55000" lnSpcReduction="20000"/>
          </a:bodyPr>
          <a:lstStyle/>
          <a:p>
            <a:r>
              <a:rPr kumimoji="1" lang="en-US" altLang="ja-JP" dirty="0"/>
              <a:t>Latency(0, -1)</a:t>
            </a:r>
          </a:p>
          <a:p>
            <a:pPr lvl="1"/>
            <a:r>
              <a:rPr kumimoji="1" lang="en-US" altLang="ja-JP" dirty="0"/>
              <a:t> The goal is to minimize processing time by achieving the lowest possible delay in the circuit.</a:t>
            </a:r>
          </a:p>
          <a:p>
            <a:r>
              <a:rPr lang="en-US" altLang="ja-JP" dirty="0"/>
              <a:t>Latency(0, 5)</a:t>
            </a:r>
          </a:p>
          <a:p>
            <a:pPr lvl="1"/>
            <a:r>
              <a:rPr lang="en-US" altLang="ja-JP" dirty="0"/>
              <a:t> Parallelization is performed to the extent that the delay is within 5 cycles, aiming to reduce the overall processing time.</a:t>
            </a:r>
          </a:p>
          <a:p>
            <a:r>
              <a:rPr kumimoji="1" lang="en-US" altLang="ja-JP" dirty="0"/>
              <a:t>Pipeline(1) + Latency(0, 5)</a:t>
            </a:r>
          </a:p>
          <a:p>
            <a:pPr lvl="1"/>
            <a:r>
              <a:rPr kumimoji="1" lang="en-US" altLang="ja-JP" dirty="0"/>
              <a:t>The goal is to maintain minimum delay while pipelining and maximize throughput within certain delay constraints.</a:t>
            </a:r>
          </a:p>
          <a:p>
            <a:r>
              <a:rPr kumimoji="1" lang="en-US" altLang="ja-JP" dirty="0"/>
              <a:t>Unroll(factor=3)</a:t>
            </a:r>
          </a:p>
          <a:p>
            <a:pPr lvl="1"/>
            <a:r>
              <a:rPr kumimoji="1" lang="en-US" altLang="ja-JP" dirty="0"/>
              <a:t> The goal is to parallelize loops to improve processing speed.</a:t>
            </a:r>
          </a:p>
          <a:p>
            <a:r>
              <a:rPr lang="en-US" altLang="ja-JP" dirty="0"/>
              <a:t>Unroll(factor=9)</a:t>
            </a:r>
          </a:p>
          <a:p>
            <a:pPr lvl="1"/>
            <a:r>
              <a:rPr lang="en-US" altLang="ja-JP" dirty="0"/>
              <a:t> The goal is to parallelize loops to improve processing speed.</a:t>
            </a:r>
          </a:p>
          <a:p>
            <a:r>
              <a:rPr kumimoji="1" lang="en-US" altLang="ja-JP" dirty="0"/>
              <a:t>Pipeline(1) + Unroll(fa</a:t>
            </a:r>
            <a:r>
              <a:rPr lang="en-US" altLang="ja-JP" dirty="0"/>
              <a:t>ctor=3)</a:t>
            </a:r>
          </a:p>
          <a:p>
            <a:pPr lvl="1"/>
            <a:r>
              <a:rPr lang="en-US" altLang="ja-JP" dirty="0"/>
              <a:t>Greatly increases overall throughput</a:t>
            </a:r>
          </a:p>
          <a:p>
            <a:r>
              <a:rPr kumimoji="1" lang="en-US" altLang="ja-JP" dirty="0"/>
              <a:t>Pipeline(1)+Unroll(factor=9)</a:t>
            </a:r>
          </a:p>
          <a:p>
            <a:pPr lvl="1"/>
            <a:r>
              <a:rPr kumimoji="1" lang="en-US" altLang="ja-JP" dirty="0"/>
              <a:t>Greatly increases overall throughput</a:t>
            </a:r>
          </a:p>
          <a:p>
            <a:r>
              <a:rPr kumimoji="1" lang="en-US" altLang="ja-JP" dirty="0"/>
              <a:t>Pipeline(1)+Unroll(factor=9)+Latency(0,5)</a:t>
            </a:r>
          </a:p>
          <a:p>
            <a:pPr lvl="1"/>
            <a:r>
              <a:rPr kumimoji="1" lang="en-US" altLang="ja-JP" dirty="0"/>
              <a:t>Avoid excessive delays and adjust timing appropriately while increasing processing speed.</a:t>
            </a:r>
            <a:endParaRPr kumimoji="1" lang="ja-JP" altLang="en-US" dirty="0"/>
          </a:p>
        </p:txBody>
      </p:sp>
    </p:spTree>
    <p:extLst>
      <p:ext uri="{BB962C8B-B14F-4D97-AF65-F5344CB8AC3E}">
        <p14:creationId xmlns:p14="http://schemas.microsoft.com/office/powerpoint/2010/main" val="1030100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B00DC-03B8-559C-83C9-A4FB0B5832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B009A3-7C34-1EFB-2450-3E0884A27A03}"/>
              </a:ext>
            </a:extLst>
          </p:cNvPr>
          <p:cNvSpPr>
            <a:spLocks noGrp="1"/>
          </p:cNvSpPr>
          <p:nvPr>
            <p:ph type="title"/>
          </p:nvPr>
        </p:nvSpPr>
        <p:spPr/>
        <p:txBody>
          <a:bodyPr/>
          <a:lstStyle/>
          <a:p>
            <a:r>
              <a:rPr kumimoji="1" lang="en-US" altLang="ja-JP"/>
              <a:t>Approach for micro-architecture</a:t>
            </a:r>
            <a:endParaRPr kumimoji="1" lang="ja-JP" altLang="en-US"/>
          </a:p>
        </p:txBody>
      </p:sp>
      <p:sp>
        <p:nvSpPr>
          <p:cNvPr id="3" name="コンテンツ プレースホルダー 2">
            <a:extLst>
              <a:ext uri="{FF2B5EF4-FFF2-40B4-BE49-F238E27FC236}">
                <a16:creationId xmlns:a16="http://schemas.microsoft.com/office/drawing/2014/main" id="{96CCFF68-3D3C-F093-8591-D40A2705308F}"/>
              </a:ext>
            </a:extLst>
          </p:cNvPr>
          <p:cNvSpPr>
            <a:spLocks noGrp="1"/>
          </p:cNvSpPr>
          <p:nvPr>
            <p:ph idx="1"/>
          </p:nvPr>
        </p:nvSpPr>
        <p:spPr/>
        <p:txBody>
          <a:bodyPr>
            <a:normAutofit lnSpcReduction="10000"/>
          </a:bodyPr>
          <a:lstStyle/>
          <a:p>
            <a:pPr indent="-457200"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Baseline</a:t>
            </a:r>
            <a:endParaRPr lang="ja-JP" altLang="ja-JP" sz="3600" b="0" i="0" u="none" strike="noStrike" dirty="0">
              <a:effectLst/>
              <a:latin typeface="Arial" panose="020B0604020202020204" pitchFamily="34" charset="0"/>
            </a:endParaRPr>
          </a:p>
          <a:p>
            <a:pPr indent="-457200"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Latency(0,-1)</a:t>
            </a:r>
            <a:endParaRPr lang="ja-JP" altLang="ja-JP" sz="3600" b="0" i="0" u="none" strike="noStrike" dirty="0">
              <a:effectLst/>
              <a:latin typeface="Arial" panose="020B0604020202020204" pitchFamily="34" charset="0"/>
            </a:endParaRPr>
          </a:p>
          <a:p>
            <a:pPr indent="-457200"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Latency(0,12)</a:t>
            </a:r>
            <a:endParaRPr lang="ja-JP" altLang="ja-JP" sz="3600" b="0" i="0" u="none" strike="noStrike" dirty="0">
              <a:effectLst/>
              <a:latin typeface="Arial" panose="020B0604020202020204" pitchFamily="34" charset="0"/>
            </a:endParaRPr>
          </a:p>
          <a:p>
            <a:pPr indent="-457200"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Unroll(factor=2)</a:t>
            </a:r>
            <a:endParaRPr lang="ja-JP" altLang="ja-JP" sz="3600" b="0" i="0" u="none" strike="noStrike" dirty="0">
              <a:effectLst/>
              <a:latin typeface="Arial" panose="020B0604020202020204" pitchFamily="34" charset="0"/>
            </a:endParaRPr>
          </a:p>
          <a:p>
            <a:pPr indent="-457200"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Unroll(factor=4)</a:t>
            </a:r>
            <a:endParaRPr lang="ja-JP" altLang="ja-JP" sz="3600" b="0" i="0" u="none" strike="noStrike" dirty="0">
              <a:effectLst/>
              <a:latin typeface="Arial" panose="020B0604020202020204" pitchFamily="34" charset="0"/>
            </a:endParaRPr>
          </a:p>
          <a:p>
            <a:pPr indent="-457200"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Pipeline</a:t>
            </a:r>
            <a:endParaRPr lang="ja-JP" altLang="ja-JP" sz="3600" b="0" i="0" u="none" strike="noStrike" dirty="0">
              <a:effectLst/>
              <a:latin typeface="Arial" panose="020B0604020202020204" pitchFamily="34" charset="0"/>
            </a:endParaRPr>
          </a:p>
          <a:p>
            <a:pPr indent="-457200"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Pipeline + Unroll(factor=2)</a:t>
            </a:r>
            <a:endParaRPr lang="ja-JP" altLang="ja-JP" sz="3600" b="0" i="0" u="none" strike="noStrike" dirty="0">
              <a:effectLst/>
              <a:latin typeface="Arial" panose="020B0604020202020204" pitchFamily="34" charset="0"/>
            </a:endParaRPr>
          </a:p>
          <a:p>
            <a:pPr indent="-457200"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Pipeline + Unroll(factor=4)</a:t>
            </a:r>
            <a:endParaRPr lang="ja-JP" altLang="ja-JP" sz="3600" b="0" i="0" u="none" strike="noStrike" dirty="0">
              <a:effectLst/>
              <a:latin typeface="Arial" panose="020B0604020202020204" pitchFamily="34" charset="0"/>
            </a:endParaRPr>
          </a:p>
          <a:p>
            <a:pPr fontAlgn="b"/>
            <a:r>
              <a:rPr kumimoji="1" lang="en-US" altLang="ja-JP" sz="2800" b="0" i="0" u="none" strike="noStrike" kern="1200" dirty="0">
                <a:solidFill>
                  <a:srgbClr val="000000"/>
                </a:solidFill>
                <a:effectLst/>
                <a:latin typeface="メイリオ" panose="020B0604030504040204" pitchFamily="50" charset="-128"/>
                <a:ea typeface="メイリオ" panose="020B0604030504040204" pitchFamily="50" charset="-128"/>
              </a:rPr>
              <a:t>Pipeline + Unroll + Latency</a:t>
            </a:r>
            <a:endParaRPr lang="ja-JP" altLang="ja-JP" sz="3600" b="0" i="0" u="none" strike="noStrike" dirty="0">
              <a:effectLst/>
              <a:latin typeface="Arial" panose="020B0604020202020204" pitchFamily="34" charset="0"/>
            </a:endParaRPr>
          </a:p>
        </p:txBody>
      </p:sp>
    </p:spTree>
    <p:extLst>
      <p:ext uri="{BB962C8B-B14F-4D97-AF65-F5344CB8AC3E}">
        <p14:creationId xmlns:p14="http://schemas.microsoft.com/office/powerpoint/2010/main" val="2227166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a:extLst>
              <a:ext uri="{FF2B5EF4-FFF2-40B4-BE49-F238E27FC236}">
                <a16:creationId xmlns:a16="http://schemas.microsoft.com/office/drawing/2014/main" id="{82718332-3A00-511F-B073-2DA49141E0F6}"/>
              </a:ext>
            </a:extLst>
          </p:cNvPr>
          <p:cNvGraphicFramePr>
            <a:graphicFrameLocks noGrp="1"/>
          </p:cNvGraphicFramePr>
          <p:nvPr>
            <p:ph idx="1"/>
            <p:extLst>
              <p:ext uri="{D42A27DB-BD31-4B8C-83A1-F6EECF244321}">
                <p14:modId xmlns:p14="http://schemas.microsoft.com/office/powerpoint/2010/main" val="1319801689"/>
              </p:ext>
            </p:extLst>
          </p:nvPr>
        </p:nvGraphicFramePr>
        <p:xfrm>
          <a:off x="0" y="0"/>
          <a:ext cx="12192000" cy="6858002"/>
        </p:xfrm>
        <a:graphic>
          <a:graphicData uri="http://schemas.openxmlformats.org/drawingml/2006/table">
            <a:tbl>
              <a:tblPr/>
              <a:tblGrid>
                <a:gridCol w="2007517">
                  <a:extLst>
                    <a:ext uri="{9D8B030D-6E8A-4147-A177-3AD203B41FA5}">
                      <a16:colId xmlns:a16="http://schemas.microsoft.com/office/drawing/2014/main" val="1817714853"/>
                    </a:ext>
                  </a:extLst>
                </a:gridCol>
                <a:gridCol w="1109387">
                  <a:extLst>
                    <a:ext uri="{9D8B030D-6E8A-4147-A177-3AD203B41FA5}">
                      <a16:colId xmlns:a16="http://schemas.microsoft.com/office/drawing/2014/main" val="3180243865"/>
                    </a:ext>
                  </a:extLst>
                </a:gridCol>
                <a:gridCol w="997520">
                  <a:extLst>
                    <a:ext uri="{9D8B030D-6E8A-4147-A177-3AD203B41FA5}">
                      <a16:colId xmlns:a16="http://schemas.microsoft.com/office/drawing/2014/main" val="1317583509"/>
                    </a:ext>
                  </a:extLst>
                </a:gridCol>
                <a:gridCol w="997520">
                  <a:extLst>
                    <a:ext uri="{9D8B030D-6E8A-4147-A177-3AD203B41FA5}">
                      <a16:colId xmlns:a16="http://schemas.microsoft.com/office/drawing/2014/main" val="2225703020"/>
                    </a:ext>
                  </a:extLst>
                </a:gridCol>
                <a:gridCol w="997520">
                  <a:extLst>
                    <a:ext uri="{9D8B030D-6E8A-4147-A177-3AD203B41FA5}">
                      <a16:colId xmlns:a16="http://schemas.microsoft.com/office/drawing/2014/main" val="3217529858"/>
                    </a:ext>
                  </a:extLst>
                </a:gridCol>
                <a:gridCol w="1109387">
                  <a:extLst>
                    <a:ext uri="{9D8B030D-6E8A-4147-A177-3AD203B41FA5}">
                      <a16:colId xmlns:a16="http://schemas.microsoft.com/office/drawing/2014/main" val="371784225"/>
                    </a:ext>
                  </a:extLst>
                </a:gridCol>
                <a:gridCol w="1352490">
                  <a:extLst>
                    <a:ext uri="{9D8B030D-6E8A-4147-A177-3AD203B41FA5}">
                      <a16:colId xmlns:a16="http://schemas.microsoft.com/office/drawing/2014/main" val="1485295248"/>
                    </a:ext>
                  </a:extLst>
                </a:gridCol>
                <a:gridCol w="2384668">
                  <a:extLst>
                    <a:ext uri="{9D8B030D-6E8A-4147-A177-3AD203B41FA5}">
                      <a16:colId xmlns:a16="http://schemas.microsoft.com/office/drawing/2014/main" val="1665913935"/>
                    </a:ext>
                  </a:extLst>
                </a:gridCol>
                <a:gridCol w="1235991">
                  <a:extLst>
                    <a:ext uri="{9D8B030D-6E8A-4147-A177-3AD203B41FA5}">
                      <a16:colId xmlns:a16="http://schemas.microsoft.com/office/drawing/2014/main" val="1771839406"/>
                    </a:ext>
                  </a:extLst>
                </a:gridCol>
              </a:tblGrid>
              <a:tr h="685800">
                <a:tc>
                  <a:txBody>
                    <a:bodyPr/>
                    <a:lstStyle/>
                    <a:p>
                      <a:pPr algn="ctr" rtl="0" fontAlgn="b"/>
                      <a:endParaRPr lang="ja-JP" altLang="en-US" sz="1400" dirty="0">
                        <a:effectLst/>
                      </a:endParaRP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b"/>
                      <a:r>
                        <a:rPr lang="en-US" sz="1400" dirty="0">
                          <a:effectLst/>
                        </a:rPr>
                        <a:t>Resource</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b"/>
                      <a:r>
                        <a:rPr lang="en-US" sz="1400" dirty="0">
                          <a:effectLst/>
                        </a:rPr>
                        <a:t>Mux</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b"/>
                      <a:r>
                        <a:rPr lang="en-US" sz="1400" dirty="0">
                          <a:effectLst/>
                        </a:rPr>
                        <a:t>Seq</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b"/>
                      <a:r>
                        <a:rPr lang="en-US" sz="1400" dirty="0">
                          <a:effectLst/>
                        </a:rPr>
                        <a:t>Other</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b"/>
                      <a:r>
                        <a:rPr lang="en-US" sz="1400" dirty="0">
                          <a:effectLst/>
                        </a:rPr>
                        <a:t>Circuit area</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b"/>
                      <a:r>
                        <a:rPr lang="en-US" sz="1400" dirty="0">
                          <a:effectLst/>
                        </a:rPr>
                        <a:t>Cycle time[ns]</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b"/>
                      <a:r>
                        <a:rPr lang="en-US" sz="1400" dirty="0">
                          <a:effectLst/>
                        </a:rPr>
                        <a:t># of cycles</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rtl="0" fontAlgn="b"/>
                      <a:r>
                        <a:rPr lang="en-US" sz="1400" dirty="0">
                          <a:effectLst/>
                        </a:rPr>
                        <a:t>Exec time[ns]</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03298102"/>
                  </a:ext>
                </a:extLst>
              </a:tr>
              <a:tr h="467316">
                <a:tc>
                  <a:txBody>
                    <a:bodyPr/>
                    <a:lstStyle/>
                    <a:p>
                      <a:pPr algn="l" rtl="0" fontAlgn="b"/>
                      <a:r>
                        <a:rPr lang="en-US" sz="1400" dirty="0">
                          <a:effectLst/>
                        </a:rPr>
                        <a:t>Baseline</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44,763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14,500</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14,793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3,616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77,671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2632088.45(2632086)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28,952,973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8071837"/>
                  </a:ext>
                </a:extLst>
              </a:tr>
              <a:tr h="467316">
                <a:tc>
                  <a:txBody>
                    <a:bodyPr/>
                    <a:lstStyle/>
                    <a:p>
                      <a:pPr algn="l" rtl="0" fontAlgn="b"/>
                      <a:r>
                        <a:rPr lang="en-US" sz="1400" dirty="0">
                          <a:effectLst/>
                        </a:rPr>
                        <a:t>Latency(0,-1)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44,763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14,500</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14,793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3,616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77,671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2632088.45(2632086)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28,952,973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538230"/>
                  </a:ext>
                </a:extLst>
              </a:tr>
              <a:tr h="467316">
                <a:tc>
                  <a:txBody>
                    <a:bodyPr/>
                    <a:lstStyle/>
                    <a:p>
                      <a:pPr algn="l" rtl="0" fontAlgn="b"/>
                      <a:r>
                        <a:rPr lang="en-US" sz="1400" dirty="0">
                          <a:effectLst/>
                        </a:rPr>
                        <a:t>Latency(0,12)</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51,024</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21,216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16,526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6,043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94,808</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293391.45(293389)</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3,227,306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4704084"/>
                  </a:ext>
                </a:extLst>
              </a:tr>
              <a:tr h="685800">
                <a:tc>
                  <a:txBody>
                    <a:bodyPr/>
                    <a:lstStyle/>
                    <a:p>
                      <a:pPr algn="l" rtl="0" fontAlgn="b"/>
                      <a:r>
                        <a:rPr lang="en-US" sz="1400" dirty="0">
                          <a:effectLst/>
                        </a:rPr>
                        <a:t>Unroll(f=2)</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65,434</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27,066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19,529</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7,374</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119,403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2848512.45(2848510)</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31,333,637</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8223482"/>
                  </a:ext>
                </a:extLst>
              </a:tr>
              <a:tr h="685800">
                <a:tc>
                  <a:txBody>
                    <a:bodyPr/>
                    <a:lstStyle/>
                    <a:p>
                      <a:pPr algn="l" rtl="0" fontAlgn="b"/>
                      <a:r>
                        <a:rPr lang="en-US" sz="1400" dirty="0">
                          <a:effectLst/>
                        </a:rPr>
                        <a:t>Unroll(f=4)</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93,289</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40,490</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25,617</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10,821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179,216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2848708.45(2848706)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31,335,793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6810753"/>
                  </a:ext>
                </a:extLst>
              </a:tr>
              <a:tr h="467316">
                <a:tc>
                  <a:txBody>
                    <a:bodyPr/>
                    <a:lstStyle/>
                    <a:p>
                      <a:pPr algn="l" rtl="0" fontAlgn="b"/>
                      <a:r>
                        <a:rPr lang="en-US" sz="1400" dirty="0">
                          <a:effectLst/>
                        </a:rPr>
                        <a:t>Pipeline</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47,961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16,072</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15,652</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3,811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87,496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1472138(1472135.55)</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16,193,518</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3862268"/>
                  </a:ext>
                </a:extLst>
              </a:tr>
              <a:tr h="904284">
                <a:tc>
                  <a:txBody>
                    <a:bodyPr/>
                    <a:lstStyle/>
                    <a:p>
                      <a:pPr algn="l" rtl="0" fontAlgn="b"/>
                      <a:r>
                        <a:rPr lang="en-US" sz="1400" dirty="0">
                          <a:effectLst/>
                        </a:rPr>
                        <a:t>Pipeline + Unroll(f=2)</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68,812</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28,184</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20,371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7,715</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142,612</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678018.45(678016)</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7,458,203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7481634"/>
                  </a:ext>
                </a:extLst>
              </a:tr>
              <a:tr h="904284">
                <a:tc>
                  <a:txBody>
                    <a:bodyPr/>
                    <a:lstStyle/>
                    <a:p>
                      <a:pPr algn="l" rtl="0" fontAlgn="b"/>
                      <a:r>
                        <a:rPr lang="en-US" sz="1400" dirty="0">
                          <a:effectLst/>
                        </a:rPr>
                        <a:t>Pipeline + Unroll(f=4)</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101,738</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43,067</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27,291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11,984</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t>215,337</a:t>
                      </a:r>
                      <a:endParaRPr lang="ja-JP" altLang="en-US" sz="1400" dirty="0">
                        <a:effectLst/>
                      </a:endParaRP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425282.91(425280.45)</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4,678,112</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8581051"/>
                  </a:ext>
                </a:extLst>
              </a:tr>
              <a:tr h="1122770">
                <a:tc>
                  <a:txBody>
                    <a:bodyPr/>
                    <a:lstStyle/>
                    <a:p>
                      <a:pPr algn="l" rtl="0" fontAlgn="b"/>
                      <a:r>
                        <a:rPr lang="en-US" sz="1400" dirty="0">
                          <a:effectLst/>
                        </a:rPr>
                        <a:t>Pipeline + </a:t>
                      </a:r>
                      <a:br>
                        <a:rPr lang="en-US" sz="1400" dirty="0">
                          <a:effectLst/>
                        </a:rPr>
                      </a:br>
                      <a:r>
                        <a:rPr lang="en-US" sz="1400" dirty="0">
                          <a:effectLst/>
                        </a:rPr>
                        <a:t>Unroll + Latency</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121,905</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52,734</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29,847</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13,455</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257,941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11</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a:effectLst/>
                        </a:rPr>
                        <a:t>169961.18(169958.73)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rtl="0" fontAlgn="b"/>
                      <a:r>
                        <a:rPr lang="en-US" altLang="ja-JP" sz="1400" dirty="0">
                          <a:effectLst/>
                        </a:rPr>
                        <a:t>1,869,573</a:t>
                      </a:r>
                    </a:p>
                  </a:txBody>
                  <a:tcPr marL="14440" marR="14440" marT="9627" marB="9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5860367"/>
                  </a:ext>
                </a:extLst>
              </a:tr>
            </a:tbl>
          </a:graphicData>
        </a:graphic>
      </p:graphicFrame>
    </p:spTree>
    <p:extLst>
      <p:ext uri="{BB962C8B-B14F-4D97-AF65-F5344CB8AC3E}">
        <p14:creationId xmlns:p14="http://schemas.microsoft.com/office/powerpoint/2010/main" val="1292351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E4744F-24DB-E532-BA91-A1BF3E26EE63}"/>
              </a:ext>
            </a:extLst>
          </p:cNvPr>
          <p:cNvSpPr>
            <a:spLocks noGrp="1"/>
          </p:cNvSpPr>
          <p:nvPr>
            <p:ph type="title"/>
          </p:nvPr>
        </p:nvSpPr>
        <p:spPr/>
        <p:txBody>
          <a:bodyPr/>
          <a:lstStyle/>
          <a:p>
            <a:r>
              <a:rPr kumimoji="1" lang="en-US" altLang="ja-JP"/>
              <a:t>Simulation Result</a:t>
            </a:r>
            <a:endParaRPr kumimoji="1" lang="ja-JP" altLang="en-US"/>
          </a:p>
        </p:txBody>
      </p:sp>
      <p:pic>
        <p:nvPicPr>
          <p:cNvPr id="21" name="コンテンツ プレースホルダー 20">
            <a:extLst>
              <a:ext uri="{FF2B5EF4-FFF2-40B4-BE49-F238E27FC236}">
                <a16:creationId xmlns:a16="http://schemas.microsoft.com/office/drawing/2014/main" id="{C89FFF54-0720-60F3-48E9-FCE6ED5AEAAD}"/>
              </a:ext>
            </a:extLst>
          </p:cNvPr>
          <p:cNvPicPr>
            <a:picLocks noGrp="1" noChangeAspect="1"/>
          </p:cNvPicPr>
          <p:nvPr>
            <p:ph idx="1"/>
          </p:nvPr>
        </p:nvPicPr>
        <p:blipFill>
          <a:blip r:embed="rId3"/>
          <a:stretch>
            <a:fillRect/>
          </a:stretch>
        </p:blipFill>
        <p:spPr>
          <a:xfrm>
            <a:off x="-61807" y="1410048"/>
            <a:ext cx="12315613" cy="6726343"/>
          </a:xfrm>
        </p:spPr>
      </p:pic>
    </p:spTree>
    <p:extLst>
      <p:ext uri="{BB962C8B-B14F-4D97-AF65-F5344CB8AC3E}">
        <p14:creationId xmlns:p14="http://schemas.microsoft.com/office/powerpoint/2010/main" val="221607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F04CF3-3DDF-D4B9-C33A-E85414BCAD97}"/>
              </a:ext>
            </a:extLst>
          </p:cNvPr>
          <p:cNvSpPr>
            <a:spLocks noGrp="1"/>
          </p:cNvSpPr>
          <p:nvPr>
            <p:ph type="title"/>
          </p:nvPr>
        </p:nvSpPr>
        <p:spPr/>
        <p:txBody>
          <a:bodyPr/>
          <a:lstStyle/>
          <a:p>
            <a:r>
              <a:rPr kumimoji="1" lang="en-US" altLang="ja-JP"/>
              <a:t>Conclusion</a:t>
            </a:r>
            <a:endParaRPr kumimoji="1" lang="ja-JP" altLang="en-US"/>
          </a:p>
        </p:txBody>
      </p:sp>
      <p:sp>
        <p:nvSpPr>
          <p:cNvPr id="3" name="コンテンツ プレースホルダー 2">
            <a:extLst>
              <a:ext uri="{FF2B5EF4-FFF2-40B4-BE49-F238E27FC236}">
                <a16:creationId xmlns:a16="http://schemas.microsoft.com/office/drawing/2014/main" id="{B6B0074D-1A77-D1CE-00F0-C05A445D2A75}"/>
              </a:ext>
            </a:extLst>
          </p:cNvPr>
          <p:cNvSpPr>
            <a:spLocks noGrp="1"/>
          </p:cNvSpPr>
          <p:nvPr>
            <p:ph idx="1"/>
          </p:nvPr>
        </p:nvSpPr>
        <p:spPr>
          <a:xfrm>
            <a:off x="838200" y="1825625"/>
            <a:ext cx="10515600" cy="1489075"/>
          </a:xfrm>
        </p:spPr>
        <p:txBody>
          <a:bodyPr/>
          <a:lstStyle/>
          <a:p>
            <a:r>
              <a:rPr kumimoji="1" lang="en-US" altLang="ja-JP"/>
              <a:t>Efficient quantization: </a:t>
            </a:r>
          </a:p>
          <a:p>
            <a:pPr lvl="1"/>
            <a:r>
              <a:rPr kumimoji="1" lang="en-US" altLang="ja-JP"/>
              <a:t>Reduced memory and computational complexity</a:t>
            </a:r>
          </a:p>
          <a:p>
            <a:pPr lvl="1"/>
            <a:r>
              <a:rPr kumimoji="1" lang="en-US" altLang="ja-JP"/>
              <a:t>Can be implemented on hardware</a:t>
            </a:r>
          </a:p>
          <a:p>
            <a:endParaRPr lang="en-US" altLang="ja-JP"/>
          </a:p>
        </p:txBody>
      </p:sp>
      <p:sp>
        <p:nvSpPr>
          <p:cNvPr id="5" name="タイトル 1">
            <a:extLst>
              <a:ext uri="{FF2B5EF4-FFF2-40B4-BE49-F238E27FC236}">
                <a16:creationId xmlns:a16="http://schemas.microsoft.com/office/drawing/2014/main" id="{A1D7F1DE-B809-3F5F-D27C-FFF465837865}"/>
              </a:ext>
            </a:extLst>
          </p:cNvPr>
          <p:cNvSpPr txBox="1">
            <a:spLocks/>
          </p:cNvSpPr>
          <p:nvPr/>
        </p:nvSpPr>
        <p:spPr>
          <a:xfrm>
            <a:off x="723900" y="31210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a:t>Future works</a:t>
            </a:r>
            <a:endParaRPr lang="ja-JP" altLang="en-US"/>
          </a:p>
        </p:txBody>
      </p:sp>
      <p:sp>
        <p:nvSpPr>
          <p:cNvPr id="6" name="コンテンツ プレースホルダー 2">
            <a:extLst>
              <a:ext uri="{FF2B5EF4-FFF2-40B4-BE49-F238E27FC236}">
                <a16:creationId xmlns:a16="http://schemas.microsoft.com/office/drawing/2014/main" id="{1A85E23F-67F7-B0A4-41DB-0E181C2AFF27}"/>
              </a:ext>
            </a:extLst>
          </p:cNvPr>
          <p:cNvSpPr txBox="1">
            <a:spLocks/>
          </p:cNvSpPr>
          <p:nvPr/>
        </p:nvSpPr>
        <p:spPr>
          <a:xfrm>
            <a:off x="952500" y="4311650"/>
            <a:ext cx="10515600" cy="1489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p"/>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p"/>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n"/>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p"/>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a:t>Edge AI Implementation</a:t>
            </a:r>
          </a:p>
          <a:p>
            <a:r>
              <a:rPr lang="en-US" altLang="ja-JP" err="1"/>
              <a:t>ViT</a:t>
            </a:r>
            <a:r>
              <a:rPr lang="en-US" altLang="ja-JP"/>
              <a:t> Implementation</a:t>
            </a:r>
          </a:p>
        </p:txBody>
      </p:sp>
    </p:spTree>
    <p:extLst>
      <p:ext uri="{BB962C8B-B14F-4D97-AF65-F5344CB8AC3E}">
        <p14:creationId xmlns:p14="http://schemas.microsoft.com/office/powerpoint/2010/main" val="3534153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358143-DB1C-EC44-F6B6-946A6902D082}"/>
              </a:ext>
            </a:extLst>
          </p:cNvPr>
          <p:cNvSpPr>
            <a:spLocks noGrp="1"/>
          </p:cNvSpPr>
          <p:nvPr>
            <p:ph type="title"/>
          </p:nvPr>
        </p:nvSpPr>
        <p:spPr/>
        <p:txBody>
          <a:bodyPr/>
          <a:lstStyle/>
          <a:p>
            <a:r>
              <a:rPr kumimoji="1" lang="en-US" altLang="ja-JP"/>
              <a:t>Time to complete the </a:t>
            </a:r>
            <a:r>
              <a:rPr kumimoji="1" lang="en-US" altLang="ja-JP" err="1"/>
              <a:t>excercise</a:t>
            </a:r>
            <a:endParaRPr kumimoji="1" lang="ja-JP" altLang="en-US"/>
          </a:p>
        </p:txBody>
      </p:sp>
      <p:sp>
        <p:nvSpPr>
          <p:cNvPr id="3" name="コンテンツ プレースホルダー 2">
            <a:extLst>
              <a:ext uri="{FF2B5EF4-FFF2-40B4-BE49-F238E27FC236}">
                <a16:creationId xmlns:a16="http://schemas.microsoft.com/office/drawing/2014/main" id="{C4CFCE8E-A761-601E-23E3-31063DD87C88}"/>
              </a:ext>
            </a:extLst>
          </p:cNvPr>
          <p:cNvSpPr>
            <a:spLocks noGrp="1"/>
          </p:cNvSpPr>
          <p:nvPr>
            <p:ph idx="1"/>
          </p:nvPr>
        </p:nvSpPr>
        <p:spPr/>
        <p:txBody>
          <a:bodyPr/>
          <a:lstStyle/>
          <a:p>
            <a:r>
              <a:rPr kumimoji="1" lang="en-US" altLang="ja-JP"/>
              <a:t>About 35 hours</a:t>
            </a:r>
            <a:endParaRPr kumimoji="1" lang="ja-JP" altLang="en-US" dirty="0"/>
          </a:p>
        </p:txBody>
      </p:sp>
    </p:spTree>
    <p:extLst>
      <p:ext uri="{BB962C8B-B14F-4D97-AF65-F5344CB8AC3E}">
        <p14:creationId xmlns:p14="http://schemas.microsoft.com/office/powerpoint/2010/main" val="7798402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2">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TotalTime>
  <Words>5147</Words>
  <Application>Microsoft Office PowerPoint</Application>
  <PresentationFormat>ワイド画面</PresentationFormat>
  <Paragraphs>416</Paragraphs>
  <Slides>19</Slides>
  <Notes>18</Notes>
  <HiddenSlides>1</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メイリオ</vt:lpstr>
      <vt:lpstr>游ゴシック</vt:lpstr>
      <vt:lpstr>Arial</vt:lpstr>
      <vt:lpstr>Consolas</vt:lpstr>
      <vt:lpstr>Wingdings</vt:lpstr>
      <vt:lpstr>Office テーマ</vt:lpstr>
      <vt:lpstr>Quantized CNN models</vt:lpstr>
      <vt:lpstr>Motivation</vt:lpstr>
      <vt:lpstr>Purpose</vt:lpstr>
      <vt:lpstr>Overview</vt:lpstr>
      <vt:lpstr>Flow</vt:lpstr>
      <vt:lpstr>Tools </vt:lpstr>
      <vt:lpstr>Original C code(1/5)</vt:lpstr>
      <vt:lpstr>Original C code(2/5)</vt:lpstr>
      <vt:lpstr>Original C code(3/5)</vt:lpstr>
      <vt:lpstr>Original C code(4/5)</vt:lpstr>
      <vt:lpstr>Original C code(5/5)</vt:lpstr>
      <vt:lpstr>Approach to create SystemC</vt:lpstr>
      <vt:lpstr>Approach for code level optimization</vt:lpstr>
      <vt:lpstr>Approach for micro-architecture</vt:lpstr>
      <vt:lpstr>Approach for micro-architecture</vt:lpstr>
      <vt:lpstr>PowerPoint プレゼンテーション</vt:lpstr>
      <vt:lpstr>Simulation Result</vt:lpstr>
      <vt:lpstr>Conclusion</vt:lpstr>
      <vt:lpstr>Time to complete the excercise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Kyoji AWAKI</dc:creator>
  <cp:lastModifiedBy>Kyoji AWAKI</cp:lastModifiedBy>
  <cp:revision>1</cp:revision>
  <cp:lastPrinted>2025-05-27T03:30:23Z</cp:lastPrinted>
  <dcterms:created xsi:type="dcterms:W3CDTF">2025-05-25T16:31:56Z</dcterms:created>
  <dcterms:modified xsi:type="dcterms:W3CDTF">2025-05-29T13:26:49Z</dcterms:modified>
</cp:coreProperties>
</file>